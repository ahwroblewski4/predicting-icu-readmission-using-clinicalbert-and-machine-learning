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62" r:id="rId3"/>
    <p:sldId id="257" r:id="rId4"/>
    <p:sldId id="287" r:id="rId5"/>
    <p:sldId id="260" r:id="rId6"/>
    <p:sldId id="271" r:id="rId7"/>
    <p:sldId id="273" r:id="rId8"/>
    <p:sldId id="275" r:id="rId9"/>
    <p:sldId id="277" r:id="rId10"/>
    <p:sldId id="276" r:id="rId11"/>
    <p:sldId id="279" r:id="rId12"/>
    <p:sldId id="265" r:id="rId13"/>
    <p:sldId id="266" r:id="rId14"/>
    <p:sldId id="281" r:id="rId15"/>
    <p:sldId id="282" r:id="rId16"/>
    <p:sldId id="283" r:id="rId17"/>
    <p:sldId id="284" r:id="rId18"/>
    <p:sldId id="269" r:id="rId19"/>
    <p:sldId id="268" r:id="rId20"/>
    <p:sldId id="264" r:id="rId21"/>
    <p:sldId id="288" r:id="rId22"/>
    <p:sldId id="28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14A3D9D-7208-4B70-9F2B-913ED8E6C75C}">
          <p14:sldIdLst>
            <p14:sldId id="256"/>
            <p14:sldId id="262"/>
            <p14:sldId id="257"/>
            <p14:sldId id="287"/>
            <p14:sldId id="260"/>
            <p14:sldId id="271"/>
            <p14:sldId id="273"/>
            <p14:sldId id="275"/>
            <p14:sldId id="277"/>
            <p14:sldId id="276"/>
            <p14:sldId id="279"/>
            <p14:sldId id="265"/>
            <p14:sldId id="266"/>
            <p14:sldId id="281"/>
            <p14:sldId id="282"/>
            <p14:sldId id="283"/>
            <p14:sldId id="284"/>
            <p14:sldId id="269"/>
            <p14:sldId id="268"/>
            <p14:sldId id="264"/>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9" autoAdjust="0"/>
    <p:restoredTop sz="76632" autoAdjust="0"/>
  </p:normalViewPr>
  <p:slideViewPr>
    <p:cSldViewPr snapToGrid="0">
      <p:cViewPr varScale="1">
        <p:scale>
          <a:sx n="81" d="100"/>
          <a:sy n="81" d="100"/>
        </p:scale>
        <p:origin x="1482"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030E88-2454-419A-B49A-A6DE63549CE6}" type="datetimeFigureOut">
              <a:rPr lang="en-US" smtClean="0"/>
              <a:t>4/18/2025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6442E7-8D31-49D5-B58B-CFDBA66FF116}" type="slidenum">
              <a:rPr lang="en-US" smtClean="0"/>
              <a:t>‹#›</a:t>
            </a:fld>
            <a:endParaRPr lang="en-US"/>
          </a:p>
        </p:txBody>
      </p:sp>
    </p:spTree>
    <p:extLst>
      <p:ext uri="{BB962C8B-B14F-4D97-AF65-F5344CB8AC3E}">
        <p14:creationId xmlns:p14="http://schemas.microsoft.com/office/powerpoint/2010/main" val="25350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 my name is Andrea Wroblewski. The title of my project is Improving Patient Outcomes through Predictive Analytics: Predicting ICU Readmission Using NLP and AI Models.</a:t>
            </a:r>
          </a:p>
        </p:txBody>
      </p:sp>
      <p:sp>
        <p:nvSpPr>
          <p:cNvPr id="4" name="Slide Number Placeholder 3"/>
          <p:cNvSpPr>
            <a:spLocks noGrp="1"/>
          </p:cNvSpPr>
          <p:nvPr>
            <p:ph type="sldNum" sz="quarter" idx="5"/>
          </p:nvPr>
        </p:nvSpPr>
        <p:spPr/>
        <p:txBody>
          <a:bodyPr/>
          <a:lstStyle/>
          <a:p>
            <a:fld id="{DE6442E7-8D31-49D5-B58B-CFDBA66FF116}" type="slidenum">
              <a:rPr lang="en-US" smtClean="0"/>
              <a:t>1</a:t>
            </a:fld>
            <a:endParaRPr lang="en-US"/>
          </a:p>
        </p:txBody>
      </p:sp>
    </p:spTree>
    <p:extLst>
      <p:ext uri="{BB962C8B-B14F-4D97-AF65-F5344CB8AC3E}">
        <p14:creationId xmlns:p14="http://schemas.microsoft.com/office/powerpoint/2010/main" val="4280006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2000"/>
            </a:pPr>
            <a:r>
              <a:rPr lang="en-US" dirty="0"/>
              <a:t>This project aims to build a predictive model that can identify patients at high risk of ICU readmission within 30 days. By using both structured clinical data (like vital signs and demographics) and unstructured data from discharge summaries, I aimed to develop a hybrid AI model that supports early intervention, improves decision-making, and ultimately enhances patient outcomes.</a:t>
            </a:r>
          </a:p>
        </p:txBody>
      </p:sp>
      <p:sp>
        <p:nvSpPr>
          <p:cNvPr id="4" name="Slide Number Placeholder 3"/>
          <p:cNvSpPr>
            <a:spLocks noGrp="1"/>
          </p:cNvSpPr>
          <p:nvPr>
            <p:ph type="sldNum" sz="quarter" idx="5"/>
          </p:nvPr>
        </p:nvSpPr>
        <p:spPr/>
        <p:txBody>
          <a:bodyPr/>
          <a:lstStyle/>
          <a:p>
            <a:fld id="{DE6442E7-8D31-49D5-B58B-CFDBA66FF116}" type="slidenum">
              <a:rPr lang="en-US" smtClean="0"/>
              <a:t>2</a:t>
            </a:fld>
            <a:endParaRPr lang="en-US"/>
          </a:p>
        </p:txBody>
      </p:sp>
    </p:spTree>
    <p:extLst>
      <p:ext uri="{BB962C8B-B14F-4D97-AF65-F5344CB8AC3E}">
        <p14:creationId xmlns:p14="http://schemas.microsoft.com/office/powerpoint/2010/main" val="4045027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ICU readmissions are a major issue. Around 16% of patients are readmitted within 30 days of discharge, and their mortality rate is significantly higher: between 21 to 40 percent. In contrast, patients who aren’t readmitted have mortality rates closer to 3 to 8 percent. These readmissions increase hospital costs and strain resources, making accurate prediction incredibly valuable in the clinical setting.</a:t>
            </a:r>
          </a:p>
        </p:txBody>
      </p:sp>
      <p:sp>
        <p:nvSpPr>
          <p:cNvPr id="4" name="Slide Number Placeholder 3"/>
          <p:cNvSpPr>
            <a:spLocks noGrp="1"/>
          </p:cNvSpPr>
          <p:nvPr>
            <p:ph type="sldNum" sz="quarter" idx="5"/>
          </p:nvPr>
        </p:nvSpPr>
        <p:spPr/>
        <p:txBody>
          <a:bodyPr/>
          <a:lstStyle/>
          <a:p>
            <a:fld id="{DE6442E7-8D31-49D5-B58B-CFDBA66FF116}" type="slidenum">
              <a:rPr lang="en-US" smtClean="0"/>
              <a:t>3</a:t>
            </a:fld>
            <a:endParaRPr lang="en-US"/>
          </a:p>
        </p:txBody>
      </p:sp>
    </p:spTree>
    <p:extLst>
      <p:ext uri="{BB962C8B-B14F-4D97-AF65-F5344CB8AC3E}">
        <p14:creationId xmlns:p14="http://schemas.microsoft.com/office/powerpoint/2010/main" val="2968598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9B745-AB61-7098-C41F-8E26A6D0A4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ADAB8-B9E2-B052-84F6-8D6A62404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D762E-0B7B-438E-B577-AE8B183B1E3B}"/>
              </a:ext>
            </a:extLst>
          </p:cNvPr>
          <p:cNvSpPr>
            <a:spLocks noGrp="1"/>
          </p:cNvSpPr>
          <p:nvPr>
            <p:ph type="body" idx="1"/>
          </p:nvPr>
        </p:nvSpPr>
        <p:spPr/>
        <p:txBody>
          <a:bodyPr/>
          <a:lstStyle/>
          <a:p>
            <a:pPr>
              <a:buNone/>
            </a:pPr>
            <a:r>
              <a:rPr lang="en-US" b="0" dirty="0">
                <a:latin typeface="Tenorite" panose="00000500000000000000" pitchFamily="2" charset="0"/>
              </a:rPr>
              <a:t>This table summarizes key studies that applied machine learning and NLP models to predict ICU readmissions.</a:t>
            </a:r>
          </a:p>
          <a:p>
            <a:pPr>
              <a:buNone/>
            </a:pPr>
            <a:r>
              <a:rPr lang="en-US" b="0" dirty="0">
                <a:latin typeface="Tenorite" panose="00000500000000000000" pitchFamily="2" charset="0"/>
              </a:rPr>
              <a:t>Starting with Rojas et al. (2018), they used structured EHR data with Gradient Boosting, achieving an AUROC of 0.76. This set a strong baseline using vitals, labs, and nursing assessments.</a:t>
            </a:r>
          </a:p>
          <a:p>
            <a:pPr>
              <a:buNone/>
            </a:pPr>
            <a:r>
              <a:rPr lang="en-US" b="0" dirty="0" err="1">
                <a:latin typeface="Tenorite" panose="00000500000000000000" pitchFamily="2" charset="0"/>
              </a:rPr>
              <a:t>Sheetrit</a:t>
            </a:r>
            <a:r>
              <a:rPr lang="en-US" b="0" dirty="0">
                <a:latin typeface="Tenorite" panose="00000500000000000000" pitchFamily="2" charset="0"/>
              </a:rPr>
              <a:t> et al. (2023) found that discharge notes outperformed structured data, with </a:t>
            </a:r>
            <a:r>
              <a:rPr lang="en-US" b="0" dirty="0" err="1">
                <a:latin typeface="Tenorite" panose="00000500000000000000" pitchFamily="2" charset="0"/>
              </a:rPr>
              <a:t>ClinicalBERT</a:t>
            </a:r>
            <a:r>
              <a:rPr lang="en-US" b="0" dirty="0">
                <a:latin typeface="Tenorite" panose="00000500000000000000" pitchFamily="2" charset="0"/>
              </a:rPr>
              <a:t> yielding an AUROC of 0.752. This highlighted the untapped predictive value of unstructured text.</a:t>
            </a:r>
          </a:p>
          <a:p>
            <a:pPr>
              <a:buNone/>
            </a:pPr>
            <a:r>
              <a:rPr lang="en-US" b="0" dirty="0">
                <a:latin typeface="Tenorite" panose="00000500000000000000" pitchFamily="2" charset="0"/>
              </a:rPr>
              <a:t>Orangi-Fard et al. (2022) showed that even with simple NLP techniques like Bag-of-Words and SVM, text alone could yield an AUROC of 0.74 after selecting just 825 top words.</a:t>
            </a:r>
          </a:p>
          <a:p>
            <a:pPr>
              <a:buNone/>
            </a:pPr>
            <a:r>
              <a:rPr lang="en-US" b="0" dirty="0">
                <a:latin typeface="Tenorite" panose="00000500000000000000" pitchFamily="2" charset="0"/>
              </a:rPr>
              <a:t>Chiu et al. (2024) took this further using topic modeling and LSTM, capturing semantic themes and their sequences from notes to enhance prediction.</a:t>
            </a:r>
          </a:p>
          <a:p>
            <a:pPr>
              <a:buNone/>
            </a:pPr>
            <a:r>
              <a:rPr lang="en-US" b="0" dirty="0">
                <a:latin typeface="Tenorite" panose="00000500000000000000" pitchFamily="2" charset="0"/>
              </a:rPr>
              <a:t>On the structured side, González-Nóvoa et al. (2023) achieved state-of-the-art performance with an AUROC of 0.92 using optimized </a:t>
            </a:r>
            <a:r>
              <a:rPr lang="en-US" b="0" dirty="0" err="1">
                <a:latin typeface="Tenorite" panose="00000500000000000000" pitchFamily="2" charset="0"/>
              </a:rPr>
              <a:t>XGBoost</a:t>
            </a:r>
            <a:r>
              <a:rPr lang="en-US" b="0" dirty="0">
                <a:latin typeface="Tenorite" panose="00000500000000000000" pitchFamily="2" charset="0"/>
              </a:rPr>
              <a:t> and SHAP for interpretability.</a:t>
            </a:r>
          </a:p>
          <a:p>
            <a:pPr>
              <a:buNone/>
            </a:pPr>
            <a:r>
              <a:rPr lang="en-US" b="0" dirty="0" err="1">
                <a:latin typeface="Tenorite" panose="00000500000000000000" pitchFamily="2" charset="0"/>
              </a:rPr>
              <a:t>Alsentzer</a:t>
            </a:r>
            <a:r>
              <a:rPr lang="en-US" b="0" dirty="0">
                <a:latin typeface="Tenorite" panose="00000500000000000000" pitchFamily="2" charset="0"/>
              </a:rPr>
              <a:t> et al. (2019) introduced </a:t>
            </a:r>
            <a:r>
              <a:rPr lang="en-US" b="0" dirty="0" err="1">
                <a:latin typeface="Tenorite" panose="00000500000000000000" pitchFamily="2" charset="0"/>
              </a:rPr>
              <a:t>ClinicalBERT</a:t>
            </a:r>
            <a:r>
              <a:rPr lang="en-US" b="0" dirty="0">
                <a:latin typeface="Tenorite" panose="00000500000000000000" pitchFamily="2" charset="0"/>
              </a:rPr>
              <a:t>, pretrained on 2 million MIMIC-III notes. It outperformed general BERT models for multiple clinical NLP tasks.</a:t>
            </a:r>
          </a:p>
          <a:p>
            <a:pPr>
              <a:buNone/>
            </a:pPr>
            <a:r>
              <a:rPr lang="en-US" b="0" dirty="0">
                <a:latin typeface="Tenorite" panose="00000500000000000000" pitchFamily="2" charset="0"/>
              </a:rPr>
              <a:t>Finally, Lu et al. (2021) introduced </a:t>
            </a:r>
            <a:r>
              <a:rPr lang="en-US" b="0" dirty="0" err="1">
                <a:latin typeface="Tenorite" panose="00000500000000000000" pitchFamily="2" charset="0"/>
              </a:rPr>
              <a:t>MedText</a:t>
            </a:r>
            <a:r>
              <a:rPr lang="en-US" b="0" dirty="0">
                <a:latin typeface="Tenorite" panose="00000500000000000000" pitchFamily="2" charset="0"/>
              </a:rPr>
              <a:t>, a hybrid model combining discharge summaries with medical knowledge graphs via Multiview graph convolution. It achieved an AUROC of 0.825, showing how structured semantics improve text-based models.</a:t>
            </a:r>
          </a:p>
          <a:p>
            <a:r>
              <a:rPr lang="en-US" b="0" dirty="0">
                <a:latin typeface="Tenorite" panose="00000500000000000000" pitchFamily="2" charset="0"/>
              </a:rPr>
              <a:t>Overall, we see that unstructured data especially when combined with knowledge-enhanced architectures, can significantly improve ICU readmission predictions.</a:t>
            </a:r>
          </a:p>
        </p:txBody>
      </p:sp>
      <p:sp>
        <p:nvSpPr>
          <p:cNvPr id="4" name="Slide Number Placeholder 3">
            <a:extLst>
              <a:ext uri="{FF2B5EF4-FFF2-40B4-BE49-F238E27FC236}">
                <a16:creationId xmlns:a16="http://schemas.microsoft.com/office/drawing/2014/main" id="{8FE083AB-091E-8520-0522-3314BB662EB0}"/>
              </a:ext>
            </a:extLst>
          </p:cNvPr>
          <p:cNvSpPr>
            <a:spLocks noGrp="1"/>
          </p:cNvSpPr>
          <p:nvPr>
            <p:ph type="sldNum" sz="quarter" idx="5"/>
          </p:nvPr>
        </p:nvSpPr>
        <p:spPr/>
        <p:txBody>
          <a:bodyPr/>
          <a:lstStyle/>
          <a:p>
            <a:fld id="{DE6442E7-8D31-49D5-B58B-CFDBA66FF116}" type="slidenum">
              <a:rPr lang="en-US" smtClean="0"/>
              <a:t>4</a:t>
            </a:fld>
            <a:endParaRPr lang="en-US"/>
          </a:p>
        </p:txBody>
      </p:sp>
    </p:spTree>
    <p:extLst>
      <p:ext uri="{BB962C8B-B14F-4D97-AF65-F5344CB8AC3E}">
        <p14:creationId xmlns:p14="http://schemas.microsoft.com/office/powerpoint/2010/main" val="1231827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two main datasets from the PhysioNet repository: MIMIC-IV, which includes ICU patient data, and MIMIC-IV-Note, which contains de-identified discharge summaries. Structured data included age, gender, lab results, diagnosis codes, and ICU stay details. Unstructured data was processed using </a:t>
            </a:r>
            <a:r>
              <a:rPr lang="en-US" dirty="0" err="1"/>
              <a:t>ClinicalBERT</a:t>
            </a:r>
            <a:r>
              <a:rPr lang="en-US" dirty="0"/>
              <a:t> to transform free-text discharge notes into over 700 numerical features.</a:t>
            </a:r>
          </a:p>
        </p:txBody>
      </p:sp>
      <p:sp>
        <p:nvSpPr>
          <p:cNvPr id="4" name="Slide Number Placeholder 3"/>
          <p:cNvSpPr>
            <a:spLocks noGrp="1"/>
          </p:cNvSpPr>
          <p:nvPr>
            <p:ph type="sldNum" sz="quarter" idx="5"/>
          </p:nvPr>
        </p:nvSpPr>
        <p:spPr/>
        <p:txBody>
          <a:bodyPr/>
          <a:lstStyle/>
          <a:p>
            <a:fld id="{DE6442E7-8D31-49D5-B58B-CFDBA66FF116}" type="slidenum">
              <a:rPr lang="en-US" smtClean="0"/>
              <a:t>5</a:t>
            </a:fld>
            <a:endParaRPr lang="en-US"/>
          </a:p>
        </p:txBody>
      </p:sp>
    </p:spTree>
    <p:extLst>
      <p:ext uri="{BB962C8B-B14F-4D97-AF65-F5344CB8AC3E}">
        <p14:creationId xmlns:p14="http://schemas.microsoft.com/office/powerpoint/2010/main" val="2929716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Tenorite" panose="00000500000000000000" pitchFamily="2" charset="0"/>
              </a:rPr>
              <a:t>I used several machine learning models throughout the project.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Tenorite" panose="00000500000000000000" pitchFamily="2" charset="0"/>
              </a:rPr>
              <a:t>First, Random Forest served as my baseline for both the structured data alone and the combined (structured and unstructured section).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Tenorite" panose="00000500000000000000" pitchFamily="2" charset="0"/>
              </a:rPr>
              <a:t>I applied SMOTE to address class imbalance, especially since readmitted patients were the minority.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enorite" panose="00000500000000000000" pitchFamily="2" charset="0"/>
              </a:rPr>
              <a:t>SMOTE, or Synthetic Minority Over-sampling Technique, is used to fix class imbalance by generating new, synthetic examples of the minority class—in this case, patients who were readmitted to the ICU.</a:t>
            </a:r>
            <a:endParaRPr lang="en-US" b="0" i="0" dirty="0">
              <a:latin typeface="Tenorite" panose="00000500000000000000" pitchFamily="2" charset="0"/>
            </a:endParaRPr>
          </a:p>
          <a:p>
            <a:pPr>
              <a:buFont typeface="Arial" panose="020B0604020202020204" pitchFamily="34" charset="0"/>
              <a:buNone/>
            </a:pPr>
            <a:r>
              <a:rPr lang="en-US" b="0" i="0" dirty="0">
                <a:latin typeface="Tenorite" panose="00000500000000000000" pitchFamily="2" charset="0"/>
              </a:rPr>
              <a:t>	</a:t>
            </a:r>
            <a:r>
              <a:rPr lang="en-US" b="0" dirty="0">
                <a:latin typeface="Tenorite" panose="00000500000000000000" pitchFamily="2" charset="0"/>
              </a:rPr>
              <a:t>It selects a real patient from the minority class (e.g., someone who was readmitted).</a:t>
            </a:r>
          </a:p>
          <a:p>
            <a:pPr>
              <a:buFont typeface="Arial" panose="020B0604020202020204" pitchFamily="34" charset="0"/>
              <a:buNone/>
            </a:pPr>
            <a:r>
              <a:rPr lang="en-US" b="0" dirty="0">
                <a:latin typeface="Tenorite" panose="00000500000000000000" pitchFamily="2" charset="0"/>
              </a:rPr>
              <a:t>	Then it finds that patient's nearest neighbors in the dataset.</a:t>
            </a:r>
          </a:p>
          <a:p>
            <a:pPr>
              <a:buFont typeface="Arial" panose="020B0604020202020204" pitchFamily="34" charset="0"/>
              <a:buNone/>
            </a:pPr>
            <a:r>
              <a:rPr lang="en-US" b="0" dirty="0">
                <a:latin typeface="Tenorite" panose="00000500000000000000" pitchFamily="2" charset="0"/>
              </a:rPr>
              <a:t>	It randomly selects one of the neighbors.</a:t>
            </a:r>
          </a:p>
          <a:p>
            <a:pPr>
              <a:buFont typeface="Arial" panose="020B0604020202020204" pitchFamily="34" charset="0"/>
              <a:buNone/>
            </a:pPr>
            <a:r>
              <a:rPr lang="en-US" b="0" dirty="0">
                <a:latin typeface="Tenorite" panose="00000500000000000000" pitchFamily="2" charset="0"/>
              </a:rPr>
              <a:t>	Instead of copying, it creates a new synthetic sample somewhere between the original and the neighbor by interpolating their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Tenorite"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Tenorite" panose="00000500000000000000" pitchFamily="2" charset="0"/>
              </a:rPr>
              <a:t>I then used </a:t>
            </a:r>
            <a:r>
              <a:rPr lang="en-US" b="0" i="0" dirty="0" err="1">
                <a:latin typeface="Tenorite" panose="00000500000000000000" pitchFamily="2" charset="0"/>
              </a:rPr>
              <a:t>XGBoost</a:t>
            </a:r>
            <a:r>
              <a:rPr lang="en-US" b="0" i="0" dirty="0">
                <a:latin typeface="Tenorite" panose="00000500000000000000" pitchFamily="2" charset="0"/>
              </a:rPr>
              <a:t> — a high-performance model that allowed for fine-tuning and boosting performance.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enorite" panose="00000500000000000000" pitchFamily="2" charset="0"/>
              </a:rPr>
              <a:t>It’s a powerful machine learning algorithm that builds an ensemble of decision trees, where each new tree tries to correct the errors of the previous ones.</a:t>
            </a:r>
          </a:p>
          <a:p>
            <a:pPr lvl="1">
              <a:buFont typeface="Arial" panose="020B0604020202020204" pitchFamily="34" charset="0"/>
              <a:buNone/>
            </a:pPr>
            <a:r>
              <a:rPr lang="en-US" b="0" dirty="0">
                <a:latin typeface="Tenorite" panose="00000500000000000000" pitchFamily="2" charset="0"/>
              </a:rPr>
              <a:t>It starts with a simple model, like one small decision tree.</a:t>
            </a:r>
          </a:p>
          <a:p>
            <a:pPr lvl="1">
              <a:buFont typeface="Arial" panose="020B0604020202020204" pitchFamily="34" charset="0"/>
              <a:buNone/>
            </a:pPr>
            <a:r>
              <a:rPr lang="en-US" b="0" dirty="0">
                <a:latin typeface="Tenorite" panose="00000500000000000000" pitchFamily="2" charset="0"/>
              </a:rPr>
              <a:t>Then it builds new trees one by one, each trying to fix the mistakes made by the earlier ones.</a:t>
            </a:r>
          </a:p>
          <a:p>
            <a:pPr lvl="1">
              <a:buFont typeface="Arial" panose="020B0604020202020204" pitchFamily="34" charset="0"/>
              <a:buNone/>
            </a:pPr>
            <a:r>
              <a:rPr lang="en-US" b="0" dirty="0">
                <a:latin typeface="Tenorite" panose="00000500000000000000" pitchFamily="2" charset="0"/>
              </a:rPr>
              <a:t>It combines all the trees to make the final prediction—like voting, but weighted.</a:t>
            </a:r>
          </a:p>
          <a:p>
            <a:pPr lvl="1">
              <a:buFont typeface="Arial" panose="020B0604020202020204" pitchFamily="34" charset="0"/>
              <a:buNone/>
            </a:pPr>
            <a:r>
              <a:rPr lang="en-US" b="0" dirty="0">
                <a:latin typeface="Tenorite" panose="00000500000000000000" pitchFamily="2" charset="0"/>
              </a:rPr>
              <a:t>It learns from errors using a method called gradient boosting (based on loss minimization).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latin typeface="Tenorite"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Tenorite" panose="00000500000000000000" pitchFamily="2" charset="0"/>
              </a:rPr>
              <a:t>Finally, I incorporated </a:t>
            </a:r>
            <a:r>
              <a:rPr lang="en-US" b="0" i="0" dirty="0" err="1">
                <a:latin typeface="Tenorite" panose="00000500000000000000" pitchFamily="2" charset="0"/>
              </a:rPr>
              <a:t>ClinicalBERT</a:t>
            </a:r>
            <a:r>
              <a:rPr lang="en-US" b="0" i="0" dirty="0">
                <a:latin typeface="Tenorite" panose="00000500000000000000" pitchFamily="2" charset="0"/>
              </a:rPr>
              <a:t>, which uses a transformer-based NLP architecture, to embed discharge summaries into meaningful features.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latin typeface="Tenorite" panose="00000500000000000000" pitchFamily="2" charset="0"/>
              </a:rPr>
              <a:t>The strongest results came from </a:t>
            </a:r>
            <a:r>
              <a:rPr lang="en-US" b="0" i="0" dirty="0" err="1">
                <a:latin typeface="Tenorite" panose="00000500000000000000" pitchFamily="2" charset="0"/>
              </a:rPr>
              <a:t>XGBoost</a:t>
            </a:r>
            <a:r>
              <a:rPr lang="en-US" b="0" i="0" dirty="0">
                <a:latin typeface="Tenorite" panose="00000500000000000000" pitchFamily="2" charset="0"/>
              </a:rPr>
              <a:t> combined with SMOTE and </a:t>
            </a:r>
            <a:r>
              <a:rPr lang="en-US" b="0" i="0" dirty="0" err="1">
                <a:latin typeface="Tenorite" panose="00000500000000000000" pitchFamily="2" charset="0"/>
              </a:rPr>
              <a:t>ClinicalBERT</a:t>
            </a:r>
            <a:r>
              <a:rPr lang="en-US" b="0" i="0" dirty="0">
                <a:latin typeface="Tenorite" panose="00000500000000000000" pitchFamily="2" charset="0"/>
              </a:rPr>
              <a:t>.</a:t>
            </a:r>
          </a:p>
          <a:p>
            <a:pPr>
              <a:buNone/>
            </a:pPr>
            <a:r>
              <a:rPr lang="en-US" b="0" i="0" dirty="0">
                <a:latin typeface="Tenorite" panose="00000500000000000000" pitchFamily="2" charset="0"/>
              </a:rPr>
              <a:t>	</a:t>
            </a:r>
            <a:r>
              <a:rPr lang="en-US" b="0" dirty="0">
                <a:latin typeface="Tenorite" panose="00000500000000000000" pitchFamily="2" charset="0"/>
              </a:rPr>
              <a:t>Understands medical language better than regular BERT.</a:t>
            </a:r>
          </a:p>
          <a:p>
            <a:r>
              <a:rPr lang="en-US" b="0" dirty="0">
                <a:latin typeface="Tenorite" panose="00000500000000000000" pitchFamily="2" charset="0"/>
              </a:rPr>
              <a:t>	Trained specifically on discharge summaries, progress notes, and clinical reports.</a:t>
            </a:r>
          </a:p>
          <a:p>
            <a:endParaRPr lang="en-US" b="0" dirty="0">
              <a:latin typeface="Tenorite"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enorite" panose="00000500000000000000" pitchFamily="2" charset="0"/>
              </a:rPr>
              <a:t>I used </a:t>
            </a:r>
            <a:r>
              <a:rPr lang="en-US" b="0" dirty="0" err="1">
                <a:latin typeface="Tenorite" panose="00000500000000000000" pitchFamily="2" charset="0"/>
              </a:rPr>
              <a:t>ClinicalBERT</a:t>
            </a:r>
            <a:r>
              <a:rPr lang="en-US" b="0" dirty="0">
                <a:latin typeface="Tenorite" panose="00000500000000000000" pitchFamily="2" charset="0"/>
              </a:rPr>
              <a:t> to turn discharge summaries into numerical vectors, called embeddings. These embeddings captured the context and meaning of the text and were combined with structured data—like age and length of stay—to create a more complete input for my models.</a:t>
            </a:r>
          </a:p>
        </p:txBody>
      </p:sp>
      <p:sp>
        <p:nvSpPr>
          <p:cNvPr id="4" name="Slide Number Placeholder 3"/>
          <p:cNvSpPr>
            <a:spLocks noGrp="1"/>
          </p:cNvSpPr>
          <p:nvPr>
            <p:ph type="sldNum" sz="quarter" idx="5"/>
          </p:nvPr>
        </p:nvSpPr>
        <p:spPr/>
        <p:txBody>
          <a:bodyPr/>
          <a:lstStyle/>
          <a:p>
            <a:fld id="{DE6442E7-8D31-49D5-B58B-CFDBA66FF116}" type="slidenum">
              <a:rPr lang="en-US" smtClean="0"/>
              <a:t>6</a:t>
            </a:fld>
            <a:endParaRPr lang="en-US"/>
          </a:p>
        </p:txBody>
      </p:sp>
    </p:spTree>
    <p:extLst>
      <p:ext uri="{BB962C8B-B14F-4D97-AF65-F5344CB8AC3E}">
        <p14:creationId xmlns:p14="http://schemas.microsoft.com/office/powerpoint/2010/main" val="2172445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633D0-4052-DC6A-8A6D-135B21028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529854-0102-1257-1997-562007292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B1FAD-6DFF-D7BA-917A-2FA1F4438D1F}"/>
              </a:ext>
            </a:extLst>
          </p:cNvPr>
          <p:cNvSpPr>
            <a:spLocks noGrp="1"/>
          </p:cNvSpPr>
          <p:nvPr>
            <p:ph type="body" idx="1"/>
          </p:nvPr>
        </p:nvSpPr>
        <p:spPr/>
        <p:txBody>
          <a:bodyPr/>
          <a:lstStyle/>
          <a:p>
            <a:pPr>
              <a:buNone/>
            </a:pPr>
            <a:r>
              <a:rPr lang="en-US" b="0" dirty="0"/>
              <a:t>First we need to import the necessary libraries.</a:t>
            </a:r>
          </a:p>
          <a:p>
            <a:pPr>
              <a:buNone/>
            </a:pPr>
            <a:r>
              <a:rPr lang="en-US" b="0" dirty="0"/>
              <a:t>I’ll walk through a few key ones:</a:t>
            </a:r>
          </a:p>
          <a:p>
            <a:pPr>
              <a:buFont typeface="Arial" panose="020B0604020202020204" pitchFamily="34" charset="0"/>
              <a:buNone/>
            </a:pPr>
            <a:r>
              <a:rPr lang="en-US" b="0" dirty="0"/>
              <a:t>SMOTE from </a:t>
            </a:r>
            <a:r>
              <a:rPr lang="en-US" b="0" dirty="0" err="1"/>
              <a:t>imblearn</a:t>
            </a:r>
            <a:r>
              <a:rPr lang="en-US" b="0" dirty="0"/>
              <a:t> is used to handle class imbalance by generating synthetic examples of the minority class.</a:t>
            </a:r>
          </a:p>
          <a:p>
            <a:pPr>
              <a:buFont typeface="Arial" panose="020B0604020202020204" pitchFamily="34" charset="0"/>
              <a:buNone/>
            </a:pPr>
            <a:r>
              <a:rPr lang="en-US" b="0" dirty="0"/>
              <a:t>Matplotlib and NumPy are used for plotting and numerical operations</a:t>
            </a:r>
          </a:p>
          <a:p>
            <a:pPr>
              <a:buFont typeface="Arial" panose="020B0604020202020204" pitchFamily="34" charset="0"/>
              <a:buNone/>
            </a:pPr>
            <a:r>
              <a:rPr lang="en-US" b="0" dirty="0"/>
              <a:t>Pandas is essential for data manipulation and analysis.</a:t>
            </a:r>
          </a:p>
          <a:p>
            <a:pPr>
              <a:buFont typeface="Arial" panose="020B0604020202020204" pitchFamily="34" charset="0"/>
              <a:buNone/>
            </a:pPr>
            <a:r>
              <a:rPr lang="en-US" b="0" dirty="0"/>
              <a:t>From </a:t>
            </a:r>
            <a:r>
              <a:rPr lang="en-US" b="0" dirty="0" err="1"/>
              <a:t>sklearn.metrics</a:t>
            </a:r>
            <a:r>
              <a:rPr lang="en-US" b="0" dirty="0"/>
              <a:t>, we import tools to evaluate model performance, such as the classification report, ROC AUC, and the confusion matrix.</a:t>
            </a:r>
          </a:p>
          <a:p>
            <a:pPr>
              <a:buFont typeface="Arial" panose="020B0604020202020204" pitchFamily="34" charset="0"/>
              <a:buNone/>
            </a:pPr>
            <a:r>
              <a:rPr lang="en-US" b="0" dirty="0"/>
              <a:t>For models, we use </a:t>
            </a:r>
            <a:r>
              <a:rPr lang="en-US" b="0" dirty="0" err="1"/>
              <a:t>RandomForestClassifier</a:t>
            </a:r>
            <a:r>
              <a:rPr lang="en-US" b="0" dirty="0"/>
              <a:t> from </a:t>
            </a:r>
            <a:r>
              <a:rPr lang="en-US" b="0" dirty="0" err="1"/>
              <a:t>sklearn</a:t>
            </a:r>
            <a:r>
              <a:rPr lang="en-US" b="0" dirty="0"/>
              <a:t>, and we split the dataset with </a:t>
            </a:r>
            <a:r>
              <a:rPr lang="en-US" b="0" dirty="0" err="1"/>
              <a:t>train_test_split</a:t>
            </a:r>
            <a:r>
              <a:rPr lang="en-US" b="0" dirty="0"/>
              <a:t>.</a:t>
            </a:r>
          </a:p>
          <a:p>
            <a:pPr>
              <a:buFont typeface="Arial" panose="020B0604020202020204" pitchFamily="34" charset="0"/>
              <a:buNone/>
            </a:pPr>
            <a:r>
              <a:rPr lang="en-US" b="0" dirty="0"/>
              <a:t>Torch is used to support our deep learning operations, particularly for </a:t>
            </a:r>
            <a:r>
              <a:rPr lang="en-US" b="0" dirty="0" err="1"/>
              <a:t>ClinicalBERT</a:t>
            </a:r>
            <a:r>
              <a:rPr lang="en-US" b="0" dirty="0"/>
              <a:t>, which we bring in using Hugging Face’s </a:t>
            </a:r>
            <a:r>
              <a:rPr lang="en-US" b="0" dirty="0" err="1"/>
              <a:t>AutoTokenizer</a:t>
            </a:r>
            <a:r>
              <a:rPr lang="en-US" b="0" dirty="0"/>
              <a:t> and </a:t>
            </a:r>
            <a:r>
              <a:rPr lang="en-US" b="0" dirty="0" err="1"/>
              <a:t>AutoModel</a:t>
            </a:r>
            <a:r>
              <a:rPr lang="en-US" b="0" dirty="0"/>
              <a:t>.</a:t>
            </a:r>
          </a:p>
          <a:p>
            <a:pPr>
              <a:buFont typeface="Arial" panose="020B0604020202020204" pitchFamily="34" charset="0"/>
              <a:buNone/>
            </a:pPr>
            <a:r>
              <a:rPr lang="en-US" b="0" dirty="0"/>
              <a:t>To improve model performance, we include </a:t>
            </a:r>
            <a:r>
              <a:rPr lang="en-US" b="0" dirty="0" err="1"/>
              <a:t>RandomizedSearchCV</a:t>
            </a:r>
            <a:r>
              <a:rPr lang="en-US" b="0" dirty="0"/>
              <a:t> for hyperparameter tuning.</a:t>
            </a:r>
          </a:p>
          <a:p>
            <a:pPr>
              <a:buFont typeface="Arial" panose="020B0604020202020204" pitchFamily="34" charset="0"/>
              <a:buNone/>
            </a:pPr>
            <a:r>
              <a:rPr lang="en-US" b="0" dirty="0"/>
              <a:t>Finally, we import </a:t>
            </a:r>
            <a:r>
              <a:rPr lang="en-US" b="0" dirty="0" err="1"/>
              <a:t>XGBClassifier</a:t>
            </a:r>
            <a:r>
              <a:rPr lang="en-US" b="0" dirty="0"/>
              <a:t> from the </a:t>
            </a:r>
            <a:r>
              <a:rPr lang="en-US" b="0" dirty="0" err="1"/>
              <a:t>xgboost</a:t>
            </a:r>
            <a:r>
              <a:rPr lang="en-US" b="0" dirty="0"/>
              <a:t> library, which builds an ensemble of decision trees and often provides strong performance on structured data.</a:t>
            </a:r>
          </a:p>
          <a:p>
            <a:endParaRPr lang="en-US" b="0" dirty="0"/>
          </a:p>
          <a:p>
            <a:r>
              <a:rPr lang="en-US" b="0" dirty="0"/>
              <a:t>Together, These imports enable us to build, tune, and evaluate a robust model for predicting ICU readmissions using structured and unstructured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FDDD3C9-0D1D-09CE-3673-6B7D61E09A93}"/>
              </a:ext>
            </a:extLst>
          </p:cNvPr>
          <p:cNvSpPr>
            <a:spLocks noGrp="1"/>
          </p:cNvSpPr>
          <p:nvPr>
            <p:ph type="sldNum" sz="quarter" idx="5"/>
          </p:nvPr>
        </p:nvSpPr>
        <p:spPr/>
        <p:txBody>
          <a:bodyPr/>
          <a:lstStyle/>
          <a:p>
            <a:fld id="{DE6442E7-8D31-49D5-B58B-CFDBA66FF116}" type="slidenum">
              <a:rPr lang="en-US" smtClean="0"/>
              <a:t>7</a:t>
            </a:fld>
            <a:endParaRPr lang="en-US"/>
          </a:p>
        </p:txBody>
      </p:sp>
    </p:spTree>
    <p:extLst>
      <p:ext uri="{BB962C8B-B14F-4D97-AF65-F5344CB8AC3E}">
        <p14:creationId xmlns:p14="http://schemas.microsoft.com/office/powerpoint/2010/main" val="18209153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9A496-2124-DB82-D63A-92118F90A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34565-69C9-51A0-DD06-69C432B9F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814E9-4690-F336-18AD-C48E3C1330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step, I loaded and prepared the core structured data from the MIMIC-IV dataset.</a:t>
            </a:r>
            <a:br>
              <a:rPr lang="en-US" dirty="0"/>
            </a:br>
            <a:r>
              <a:rPr lang="en-US" dirty="0"/>
              <a:t>I used three key files: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Patient demographics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ICU stays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Diagnoses</a:t>
            </a:r>
            <a:br>
              <a:rPr lang="en-US" dirty="0"/>
            </a:br>
            <a:r>
              <a:rPr lang="en-US" dirty="0"/>
              <a:t>Because the diagnosis file is very large, I loaded it in smaller chunks of 50,000 rows to avoid memory issues.</a:t>
            </a:r>
            <a:br>
              <a:rPr lang="en-US" dirty="0"/>
            </a:br>
            <a:r>
              <a:rPr lang="en-US" dirty="0"/>
              <a:t>I then filtered each chunk to include only patients found in the patients.csv file, using </a:t>
            </a:r>
            <a:r>
              <a:rPr lang="en-US" dirty="0" err="1"/>
              <a:t>subject_id</a:t>
            </a:r>
            <a:r>
              <a:rPr lang="en-US" dirty="0"/>
              <a:t> as the key.</a:t>
            </a:r>
            <a:br>
              <a:rPr lang="en-US" dirty="0"/>
            </a:br>
            <a:r>
              <a:rPr lang="en-US" dirty="0"/>
              <a:t>After filtering, I combined the chunks into a final </a:t>
            </a:r>
            <a:r>
              <a:rPr lang="en-US" dirty="0" err="1"/>
              <a:t>DataFrame</a:t>
            </a:r>
            <a:r>
              <a:rPr lang="en-US" dirty="0"/>
              <a:t>.</a:t>
            </a:r>
          </a:p>
        </p:txBody>
      </p:sp>
      <p:sp>
        <p:nvSpPr>
          <p:cNvPr id="4" name="Slide Number Placeholder 3">
            <a:extLst>
              <a:ext uri="{FF2B5EF4-FFF2-40B4-BE49-F238E27FC236}">
                <a16:creationId xmlns:a16="http://schemas.microsoft.com/office/drawing/2014/main" id="{90A24615-A05D-C20A-B105-5D1535B0CE4A}"/>
              </a:ext>
            </a:extLst>
          </p:cNvPr>
          <p:cNvSpPr>
            <a:spLocks noGrp="1"/>
          </p:cNvSpPr>
          <p:nvPr>
            <p:ph type="sldNum" sz="quarter" idx="5"/>
          </p:nvPr>
        </p:nvSpPr>
        <p:spPr/>
        <p:txBody>
          <a:bodyPr/>
          <a:lstStyle/>
          <a:p>
            <a:fld id="{DE6442E7-8D31-49D5-B58B-CFDBA66FF116}" type="slidenum">
              <a:rPr lang="en-US" smtClean="0"/>
              <a:t>8</a:t>
            </a:fld>
            <a:endParaRPr lang="en-US"/>
          </a:p>
        </p:txBody>
      </p:sp>
    </p:spTree>
    <p:extLst>
      <p:ext uri="{BB962C8B-B14F-4D97-AF65-F5344CB8AC3E}">
        <p14:creationId xmlns:p14="http://schemas.microsoft.com/office/powerpoint/2010/main" val="2775338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ECB1D-CC56-C16A-5CEB-0CCBCA395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968F9F-4C61-D9DD-EC78-A64CDEBFA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72273-E4F8-EF1D-563B-0602454D2E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part of the project, I converted the ICU admission and discharge times from strings to actual datetime objects using Pandas.</a:t>
            </a:r>
            <a:br>
              <a:rPr lang="en-US" dirty="0"/>
            </a:br>
            <a:r>
              <a:rPr lang="en-US" dirty="0"/>
              <a:t>This allows me to calculate important clinical metrics like how long a patient stayed and whether they were readmitted within 30 days.</a:t>
            </a:r>
            <a:br>
              <a:rPr lang="en-US" dirty="0"/>
            </a:br>
            <a:r>
              <a:rPr lang="en-US" dirty="0"/>
              <a:t>I then sorted all ICU stays first by patient and then by their admission time to ensure everything was in the correct sequence.</a:t>
            </a:r>
            <a:br>
              <a:rPr lang="en-US" dirty="0"/>
            </a:br>
            <a:r>
              <a:rPr lang="en-US" dirty="0"/>
              <a:t>This is critical for identifying patterns in readmission and for generating accurate labels later 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a:buNone/>
            </a:pPr>
            <a:r>
              <a:rPr lang="en-US" b="0" dirty="0"/>
              <a:t>This timeline represents a single patient’s ICU stays.</a:t>
            </a:r>
          </a:p>
          <a:p>
            <a:pPr>
              <a:buFont typeface="Arial" panose="020B0604020202020204" pitchFamily="34" charset="0"/>
              <a:buNone/>
            </a:pPr>
            <a:r>
              <a:rPr lang="en-US" b="0" dirty="0"/>
              <a:t>The first ICU stay ends at day 3. The second stay begins on day 20, which is within 30 days, so it’s labeled as a readmission.</a:t>
            </a:r>
          </a:p>
          <a:p>
            <a:pPr>
              <a:buFont typeface="Arial" panose="020B0604020202020204" pitchFamily="34" charset="0"/>
              <a:buNone/>
            </a:pPr>
            <a:r>
              <a:rPr lang="en-US" b="0" dirty="0"/>
              <a:t>The third stay happens at day 70, which is too far from the previous stay to count as a readmission.</a:t>
            </a:r>
            <a:br>
              <a:rPr lang="en-US" b="0" dirty="0"/>
            </a:br>
            <a:r>
              <a:rPr lang="en-US" b="0" dirty="0"/>
              <a:t>This logic is applied to each patient to create the target labels that my model predicts.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code defines which ICU stays count as readmissions.</a:t>
            </a:r>
            <a:br>
              <a:rPr lang="en-US" dirty="0"/>
            </a:br>
            <a:r>
              <a:rPr lang="en-US" dirty="0"/>
              <a:t>First, I looped through each patient’s ICU stays, sorted by admission time.</a:t>
            </a:r>
            <a:br>
              <a:rPr lang="en-US" dirty="0"/>
            </a:br>
            <a:r>
              <a:rPr lang="en-US" dirty="0"/>
              <a:t>Then, I compared each stay’s discharge time to the next stay’s admission time.</a:t>
            </a:r>
            <a:br>
              <a:rPr lang="en-US" dirty="0"/>
            </a:br>
            <a:r>
              <a:rPr lang="en-US" dirty="0"/>
              <a:t>If the gap was less than or equal to 30 days, I marked that stay as a readmission.</a:t>
            </a:r>
            <a:br>
              <a:rPr lang="en-US" dirty="0"/>
            </a:br>
            <a:r>
              <a:rPr lang="en-US" dirty="0"/>
              <a:t>I stored this information in a new column called readmitted, with 0 meaning no readmission and 1 meaning the patient was readmitted within 30 days.</a:t>
            </a:r>
            <a:br>
              <a:rPr lang="en-US" dirty="0"/>
            </a:br>
            <a:r>
              <a:rPr lang="en-US" dirty="0"/>
              <a:t>This label became the </a:t>
            </a:r>
            <a:r>
              <a:rPr lang="en-US" b="0" dirty="0"/>
              <a:t>target variable</a:t>
            </a:r>
            <a:r>
              <a:rPr lang="en-US" dirty="0"/>
              <a:t> for my machine learning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9D1D854A-A7AA-699F-AEC9-E4695D565F65}"/>
              </a:ext>
            </a:extLst>
          </p:cNvPr>
          <p:cNvSpPr>
            <a:spLocks noGrp="1"/>
          </p:cNvSpPr>
          <p:nvPr>
            <p:ph type="sldNum" sz="quarter" idx="5"/>
          </p:nvPr>
        </p:nvSpPr>
        <p:spPr/>
        <p:txBody>
          <a:bodyPr/>
          <a:lstStyle/>
          <a:p>
            <a:fld id="{DE6442E7-8D31-49D5-B58B-CFDBA66FF116}" type="slidenum">
              <a:rPr lang="en-US" smtClean="0"/>
              <a:t>9</a:t>
            </a:fld>
            <a:endParaRPr lang="en-US"/>
          </a:p>
        </p:txBody>
      </p:sp>
    </p:spTree>
    <p:extLst>
      <p:ext uri="{BB962C8B-B14F-4D97-AF65-F5344CB8AC3E}">
        <p14:creationId xmlns:p14="http://schemas.microsoft.com/office/powerpoint/2010/main" val="3125897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457E9-E2B4-67FB-4902-5A344E848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5D883-10AD-60B7-C6BC-95C490127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0C7AB-ED8B-EFDF-DF0A-5564ED882F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enorite" panose="00000500000000000000" pitchFamily="2" charset="0"/>
              </a:rPr>
              <a:t>This slide shows the performance of the Random Forest model trained only on unbalanced structured data, without SMOTE.</a:t>
            </a:r>
            <a:br>
              <a:rPr lang="en-US" b="0" dirty="0">
                <a:latin typeface="Tenorite" panose="00000500000000000000" pitchFamily="2" charset="0"/>
              </a:rPr>
            </a:br>
            <a:r>
              <a:rPr lang="en-US" b="0" dirty="0">
                <a:latin typeface="Tenorite" panose="00000500000000000000" pitchFamily="2" charset="0"/>
              </a:rPr>
              <a:t>As you can see in the confusion matrix, the model correctly identified over 98% of non-readmitted patients.</a:t>
            </a:r>
            <a:br>
              <a:rPr lang="en-US" b="0" dirty="0">
                <a:latin typeface="Tenorite" panose="00000500000000000000" pitchFamily="2" charset="0"/>
              </a:rPr>
            </a:br>
            <a:r>
              <a:rPr lang="en-US" b="0" dirty="0">
                <a:latin typeface="Tenorite" panose="00000500000000000000" pitchFamily="2" charset="0"/>
              </a:rPr>
              <a:t>However, it failed to catch most of the readmitted cases (with only 3.8% correctly predicted).</a:t>
            </a:r>
            <a:br>
              <a:rPr lang="en-US" b="0" dirty="0">
                <a:latin typeface="Tenorite" panose="00000500000000000000" pitchFamily="2" charset="0"/>
              </a:rPr>
            </a:br>
            <a:r>
              <a:rPr lang="en-US" b="0" dirty="0">
                <a:latin typeface="Tenorite" panose="00000500000000000000" pitchFamily="2" charset="0"/>
              </a:rPr>
              <a:t>This imbalance leads to a very low recall (4%) for the positive class, which is dangerous in a clinical setting because we’re missing the patients who are actually at risk.</a:t>
            </a:r>
            <a:br>
              <a:rPr lang="en-US" b="0" dirty="0">
                <a:latin typeface="Tenorite" panose="00000500000000000000" pitchFamily="2" charset="0"/>
              </a:rPr>
            </a:br>
            <a:r>
              <a:rPr lang="en-US" b="0" dirty="0">
                <a:latin typeface="Tenorite" panose="00000500000000000000" pitchFamily="2" charset="0"/>
              </a:rPr>
              <a:t>The AUC is 0.63, which is only slightly better than random guessing.</a:t>
            </a:r>
          </a:p>
        </p:txBody>
      </p:sp>
      <p:sp>
        <p:nvSpPr>
          <p:cNvPr id="4" name="Slide Number Placeholder 3">
            <a:extLst>
              <a:ext uri="{FF2B5EF4-FFF2-40B4-BE49-F238E27FC236}">
                <a16:creationId xmlns:a16="http://schemas.microsoft.com/office/drawing/2014/main" id="{825A191F-5FEA-163E-7524-2DDAF1C32607}"/>
              </a:ext>
            </a:extLst>
          </p:cNvPr>
          <p:cNvSpPr>
            <a:spLocks noGrp="1"/>
          </p:cNvSpPr>
          <p:nvPr>
            <p:ph type="sldNum" sz="quarter" idx="5"/>
          </p:nvPr>
        </p:nvSpPr>
        <p:spPr/>
        <p:txBody>
          <a:bodyPr/>
          <a:lstStyle/>
          <a:p>
            <a:fld id="{DE6442E7-8D31-49D5-B58B-CFDBA66FF116}" type="slidenum">
              <a:rPr lang="en-US" smtClean="0"/>
              <a:t>10</a:t>
            </a:fld>
            <a:endParaRPr lang="en-US"/>
          </a:p>
        </p:txBody>
      </p:sp>
    </p:spTree>
    <p:extLst>
      <p:ext uri="{BB962C8B-B14F-4D97-AF65-F5344CB8AC3E}">
        <p14:creationId xmlns:p14="http://schemas.microsoft.com/office/powerpoint/2010/main" val="184169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7C3E5-B213-E7D8-36CC-4BBF2AB98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7FA7B-DA5B-2F85-038A-F5A1ACB7A8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29E0C-1DB7-8323-2264-05658E6A03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enorite" panose="00000500000000000000" pitchFamily="2" charset="0"/>
              </a:rPr>
              <a:t>The original dataset was highly imbalanced, with far fewer ICU readmissions compared to non-readmissions.</a:t>
            </a:r>
            <a:br>
              <a:rPr lang="en-US" b="0" dirty="0">
                <a:latin typeface="Tenorite" panose="00000500000000000000" pitchFamily="2" charset="0"/>
              </a:rPr>
            </a:br>
            <a:r>
              <a:rPr lang="en-US" b="0" dirty="0">
                <a:latin typeface="Tenorite" panose="00000500000000000000" pitchFamily="2" charset="0"/>
              </a:rPr>
              <a:t>To correct this, I used SMOTE, which generates synthetic samples for the minority class.</a:t>
            </a:r>
            <a:br>
              <a:rPr lang="en-US" b="0" dirty="0">
                <a:latin typeface="Tenorite" panose="00000500000000000000" pitchFamily="2" charset="0"/>
              </a:rPr>
            </a:br>
            <a:r>
              <a:rPr lang="en-US" b="0" dirty="0">
                <a:latin typeface="Tenorite" panose="00000500000000000000" pitchFamily="2" charset="0"/>
              </a:rPr>
              <a:t>I applied SMOTE only to the training data, this ensures that the test set remains untouched for proper evaluation.</a:t>
            </a:r>
            <a:br>
              <a:rPr lang="en-US" b="0" dirty="0">
                <a:latin typeface="Tenorite" panose="00000500000000000000" pitchFamily="2" charset="0"/>
              </a:rPr>
            </a:br>
            <a:r>
              <a:rPr lang="en-US" b="0" dirty="0">
                <a:latin typeface="Tenorite" panose="00000500000000000000" pitchFamily="2" charset="0"/>
              </a:rPr>
              <a:t>This allowed the model to better learn patterns associated with readmissions and significantly improved recall.</a:t>
            </a:r>
          </a:p>
        </p:txBody>
      </p:sp>
      <p:sp>
        <p:nvSpPr>
          <p:cNvPr id="4" name="Slide Number Placeholder 3">
            <a:extLst>
              <a:ext uri="{FF2B5EF4-FFF2-40B4-BE49-F238E27FC236}">
                <a16:creationId xmlns:a16="http://schemas.microsoft.com/office/drawing/2014/main" id="{C206708A-B62C-1AF6-C112-92EAD8A2FCF4}"/>
              </a:ext>
            </a:extLst>
          </p:cNvPr>
          <p:cNvSpPr>
            <a:spLocks noGrp="1"/>
          </p:cNvSpPr>
          <p:nvPr>
            <p:ph type="sldNum" sz="quarter" idx="5"/>
          </p:nvPr>
        </p:nvSpPr>
        <p:spPr/>
        <p:txBody>
          <a:bodyPr/>
          <a:lstStyle/>
          <a:p>
            <a:fld id="{DE6442E7-8D31-49D5-B58B-CFDBA66FF116}" type="slidenum">
              <a:rPr lang="en-US" smtClean="0"/>
              <a:t>11</a:t>
            </a:fld>
            <a:endParaRPr lang="en-US"/>
          </a:p>
        </p:txBody>
      </p:sp>
    </p:spTree>
    <p:extLst>
      <p:ext uri="{BB962C8B-B14F-4D97-AF65-F5344CB8AC3E}">
        <p14:creationId xmlns:p14="http://schemas.microsoft.com/office/powerpoint/2010/main" val="2071799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0" dirty="0">
                <a:latin typeface="Tenorite Display" panose="00000500000000000000" pitchFamily="2" charset="0"/>
              </a:rPr>
              <a:t>This slide compares two models: Random Forest and </a:t>
            </a:r>
            <a:r>
              <a:rPr lang="en-US" b="0" dirty="0" err="1">
                <a:latin typeface="Tenorite Display" panose="00000500000000000000" pitchFamily="2" charset="0"/>
              </a:rPr>
              <a:t>XGBoost</a:t>
            </a:r>
            <a:r>
              <a:rPr lang="en-US" b="0" dirty="0">
                <a:latin typeface="Tenorite Display" panose="00000500000000000000" pitchFamily="2" charset="0"/>
              </a:rPr>
              <a:t>, after SMOTE.</a:t>
            </a:r>
          </a:p>
          <a:p>
            <a:pPr>
              <a:buNone/>
            </a:pPr>
            <a:r>
              <a:rPr lang="en-US" b="1" dirty="0">
                <a:latin typeface="Tenorite Display" panose="00000500000000000000" pitchFamily="2" charset="0"/>
              </a:rPr>
              <a:t>Random Forest model</a:t>
            </a:r>
            <a:r>
              <a:rPr lang="en-US" b="0" dirty="0">
                <a:latin typeface="Tenorite Display" panose="00000500000000000000" pitchFamily="2" charset="0"/>
              </a:rPr>
              <a:t>:</a:t>
            </a:r>
          </a:p>
          <a:p>
            <a:pPr>
              <a:buFont typeface="Arial" panose="020B0604020202020204" pitchFamily="34" charset="0"/>
              <a:buNone/>
            </a:pPr>
            <a:r>
              <a:rPr lang="en-US" b="0" dirty="0">
                <a:latin typeface="Tenorite Display" panose="00000500000000000000" pitchFamily="2" charset="0"/>
              </a:rPr>
              <a:t>	It correctly predicted most non-readmissions but only caught 22.4% of actual readmitted patients.</a:t>
            </a:r>
          </a:p>
          <a:p>
            <a:pPr>
              <a:buFont typeface="Arial" panose="020B0604020202020204" pitchFamily="34" charset="0"/>
              <a:buNone/>
            </a:pPr>
            <a:r>
              <a:rPr lang="en-US" b="0" dirty="0">
                <a:latin typeface="Tenorite Display" panose="00000500000000000000" pitchFamily="2" charset="0"/>
              </a:rPr>
              <a:t>	The ROC curve shows an AUC of 0.61, which is better than chance but still limited in sensitivity.</a:t>
            </a:r>
          </a:p>
          <a:p>
            <a:pPr>
              <a:buNone/>
            </a:pPr>
            <a:r>
              <a:rPr lang="en-US" b="1" dirty="0" err="1">
                <a:latin typeface="Tenorite Display" panose="00000500000000000000" pitchFamily="2" charset="0"/>
              </a:rPr>
              <a:t>XGBoost</a:t>
            </a:r>
            <a:r>
              <a:rPr lang="en-US" b="0" dirty="0">
                <a:latin typeface="Tenorite Display" panose="00000500000000000000" pitchFamily="2" charset="0"/>
              </a:rPr>
              <a:t>:</a:t>
            </a:r>
          </a:p>
          <a:p>
            <a:pPr>
              <a:buFont typeface="Arial" panose="020B0604020202020204" pitchFamily="34" charset="0"/>
              <a:buNone/>
            </a:pPr>
            <a:r>
              <a:rPr lang="en-US" b="0" dirty="0">
                <a:latin typeface="Tenorite Display" panose="00000500000000000000" pitchFamily="2" charset="0"/>
              </a:rPr>
              <a:t>	It improved recall for readmitted patients to 44.9%, almost double what Random Forest achieved.</a:t>
            </a:r>
          </a:p>
          <a:p>
            <a:pPr>
              <a:buFont typeface="Arial" panose="020B0604020202020204" pitchFamily="34" charset="0"/>
              <a:buNone/>
            </a:pPr>
            <a:r>
              <a:rPr lang="en-US" b="0" dirty="0">
                <a:latin typeface="Tenorite Display" panose="00000500000000000000" pitchFamily="2" charset="0"/>
              </a:rPr>
              <a:t>	The ROC curve shows a slightly better AUC of 0.65.</a:t>
            </a:r>
          </a:p>
          <a:p>
            <a:r>
              <a:rPr lang="en-US" b="0" dirty="0">
                <a:latin typeface="Tenorite Display" panose="00000500000000000000" pitchFamily="2" charset="0"/>
              </a:rPr>
              <a:t>So even though both models still miss some readmissions, </a:t>
            </a:r>
            <a:r>
              <a:rPr lang="en-US" b="0" dirty="0" err="1">
                <a:latin typeface="Tenorite Display" panose="00000500000000000000" pitchFamily="2" charset="0"/>
              </a:rPr>
              <a:t>XGBoost</a:t>
            </a:r>
            <a:r>
              <a:rPr lang="en-US" b="0" dirty="0">
                <a:latin typeface="Tenorite Display" panose="00000500000000000000" pitchFamily="2" charset="0"/>
              </a:rPr>
              <a:t> is more sensitive and provides better predictive value after SMOTE.</a:t>
            </a:r>
          </a:p>
          <a:p>
            <a:endParaRPr lang="en-US" dirty="0">
              <a:latin typeface="Tenorite Display" panose="00000500000000000000" pitchFamily="2" charset="0"/>
            </a:endParaRPr>
          </a:p>
          <a:p>
            <a:pPr>
              <a:buNone/>
            </a:pPr>
            <a:endParaRPr lang="en-US" dirty="0"/>
          </a:p>
        </p:txBody>
      </p:sp>
      <p:sp>
        <p:nvSpPr>
          <p:cNvPr id="4" name="Slide Number Placeholder 3"/>
          <p:cNvSpPr>
            <a:spLocks noGrp="1"/>
          </p:cNvSpPr>
          <p:nvPr>
            <p:ph type="sldNum" sz="quarter" idx="5"/>
          </p:nvPr>
        </p:nvSpPr>
        <p:spPr/>
        <p:txBody>
          <a:bodyPr/>
          <a:lstStyle/>
          <a:p>
            <a:fld id="{DE6442E7-8D31-49D5-B58B-CFDBA66FF116}" type="slidenum">
              <a:rPr lang="en-US" smtClean="0"/>
              <a:t>12</a:t>
            </a:fld>
            <a:endParaRPr lang="en-US"/>
          </a:p>
        </p:txBody>
      </p:sp>
    </p:spTree>
    <p:extLst>
      <p:ext uri="{BB962C8B-B14F-4D97-AF65-F5344CB8AC3E}">
        <p14:creationId xmlns:p14="http://schemas.microsoft.com/office/powerpoint/2010/main" val="131838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enorite" panose="00000500000000000000" pitchFamily="2" charset="0"/>
              </a:rPr>
              <a:t>This slide compares two variations of the </a:t>
            </a:r>
            <a:r>
              <a:rPr lang="en-US" dirty="0" err="1">
                <a:latin typeface="Tenorite" panose="00000500000000000000" pitchFamily="2" charset="0"/>
              </a:rPr>
              <a:t>XGBoost</a:t>
            </a:r>
            <a:r>
              <a:rPr lang="en-US" dirty="0">
                <a:latin typeface="Tenorite" panose="00000500000000000000" pitchFamily="2" charset="0"/>
              </a:rPr>
              <a:t> model: a general tuned version and a narrowed version optimized for recall</a:t>
            </a:r>
          </a:p>
          <a:p>
            <a:pPr>
              <a:buNone/>
            </a:pPr>
            <a:r>
              <a:rPr lang="en-US" b="1" dirty="0">
                <a:latin typeface="Tenorite" panose="00000500000000000000" pitchFamily="2" charset="0"/>
              </a:rPr>
              <a:t>Tuned </a:t>
            </a:r>
            <a:r>
              <a:rPr lang="en-US" b="1" dirty="0" err="1">
                <a:latin typeface="Tenorite" panose="00000500000000000000" pitchFamily="2" charset="0"/>
              </a:rPr>
              <a:t>XGBoost</a:t>
            </a:r>
            <a:r>
              <a:rPr lang="en-US" dirty="0">
                <a:latin typeface="Tenorite" panose="00000500000000000000" pitchFamily="2" charset="0"/>
              </a:rPr>
              <a:t>:</a:t>
            </a:r>
          </a:p>
          <a:p>
            <a:pPr>
              <a:buFont typeface="Arial" panose="020B0604020202020204" pitchFamily="34" charset="0"/>
              <a:buNone/>
            </a:pPr>
            <a:r>
              <a:rPr lang="en-US" dirty="0">
                <a:latin typeface="Tenorite" panose="00000500000000000000" pitchFamily="2" charset="0"/>
              </a:rPr>
              <a:t>	</a:t>
            </a:r>
            <a:r>
              <a:rPr lang="en-US" b="0" dirty="0">
                <a:latin typeface="Tenorite" panose="00000500000000000000" pitchFamily="2" charset="0"/>
              </a:rPr>
              <a:t>Correctly identifies about 31.6% of readmitted patients.</a:t>
            </a:r>
          </a:p>
          <a:p>
            <a:pPr>
              <a:buFont typeface="Arial" panose="020B0604020202020204" pitchFamily="34" charset="0"/>
              <a:buNone/>
            </a:pPr>
            <a:r>
              <a:rPr lang="en-US" b="0" dirty="0">
                <a:latin typeface="Tenorite" panose="00000500000000000000" pitchFamily="2" charset="0"/>
              </a:rPr>
              <a:t>	AUC-ROC is 0.62, which is a moderate improvement over the baseline models.</a:t>
            </a:r>
          </a:p>
          <a:p>
            <a:pPr>
              <a:buFont typeface="Arial" panose="020B0604020202020204" pitchFamily="34" charset="0"/>
              <a:buNone/>
            </a:pPr>
            <a:r>
              <a:rPr lang="en-US" b="0" dirty="0">
                <a:latin typeface="Tenorite" panose="00000500000000000000" pitchFamily="2" charset="0"/>
              </a:rPr>
              <a:t>	Still struggles with many false negatives, which means real readmissions are being missed.</a:t>
            </a:r>
          </a:p>
          <a:p>
            <a:pPr>
              <a:buNone/>
            </a:pPr>
            <a:r>
              <a:rPr lang="en-US" b="1" dirty="0">
                <a:latin typeface="Tenorite" panose="00000500000000000000" pitchFamily="2" charset="0"/>
              </a:rPr>
              <a:t>Narrowed </a:t>
            </a:r>
            <a:r>
              <a:rPr lang="en-US" b="1" dirty="0" err="1">
                <a:latin typeface="Tenorite" panose="00000500000000000000" pitchFamily="2" charset="0"/>
              </a:rPr>
              <a:t>XGBoost</a:t>
            </a:r>
            <a:r>
              <a:rPr lang="en-US" b="1" dirty="0">
                <a:latin typeface="Tenorite" panose="00000500000000000000" pitchFamily="2" charset="0"/>
              </a:rPr>
              <a:t>:</a:t>
            </a:r>
            <a:r>
              <a:rPr lang="en-US" dirty="0">
                <a:latin typeface="Tenorite" panose="00000500000000000000" pitchFamily="2" charset="0"/>
              </a:rPr>
              <a:t> </a:t>
            </a:r>
            <a:r>
              <a:rPr lang="en-US" b="0" dirty="0">
                <a:latin typeface="Tenorite" panose="00000500000000000000" pitchFamily="2" charset="0"/>
              </a:rPr>
              <a:t>where the hyperparameter tuning was focused specifically on improving recall.</a:t>
            </a:r>
          </a:p>
          <a:p>
            <a:pPr>
              <a:buNone/>
            </a:pPr>
            <a:r>
              <a:rPr lang="en-US" b="0" dirty="0">
                <a:latin typeface="Tenorite" panose="00000500000000000000" pitchFamily="2" charset="0"/>
              </a:rPr>
              <a:t>	It achieves the same recall of 31.6%, but the ROC curve shows a slight gain with an AUC of 0.66.</a:t>
            </a:r>
          </a:p>
          <a:p>
            <a:pPr>
              <a:buFont typeface="Arial" panose="020B0604020202020204" pitchFamily="34" charset="0"/>
              <a:buNone/>
            </a:pPr>
            <a:r>
              <a:rPr lang="en-US" b="0" dirty="0">
                <a:latin typeface="Tenorite" panose="00000500000000000000" pitchFamily="2" charset="0"/>
              </a:rPr>
              <a:t>	This makes it slightly better at distinguishing readmitted vs. non-readmitted patients.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enorite" panose="00000500000000000000" pitchFamily="2" charset="0"/>
              </a:rPr>
              <a:t>Both models made the exact same predictions in this run, but the narrowed search seems more consistent and generalizable based on how we tuned it specifically for the readmission class</a:t>
            </a:r>
            <a:br>
              <a:rPr lang="en-US" dirty="0">
                <a:latin typeface="Tenorite" panose="00000500000000000000" pitchFamily="2" charset="0"/>
              </a:rPr>
            </a:br>
            <a:br>
              <a:rPr lang="en-US" dirty="0"/>
            </a:br>
            <a:endParaRPr lang="en-US" dirty="0"/>
          </a:p>
        </p:txBody>
      </p:sp>
      <p:sp>
        <p:nvSpPr>
          <p:cNvPr id="4" name="Slide Number Placeholder 3"/>
          <p:cNvSpPr>
            <a:spLocks noGrp="1"/>
          </p:cNvSpPr>
          <p:nvPr>
            <p:ph type="sldNum" sz="quarter" idx="5"/>
          </p:nvPr>
        </p:nvSpPr>
        <p:spPr/>
        <p:txBody>
          <a:bodyPr/>
          <a:lstStyle/>
          <a:p>
            <a:fld id="{DE6442E7-8D31-49D5-B58B-CFDBA66FF116}" type="slidenum">
              <a:rPr lang="en-US" smtClean="0"/>
              <a:t>13</a:t>
            </a:fld>
            <a:endParaRPr lang="en-US"/>
          </a:p>
        </p:txBody>
      </p:sp>
    </p:spTree>
    <p:extLst>
      <p:ext uri="{BB962C8B-B14F-4D97-AF65-F5344CB8AC3E}">
        <p14:creationId xmlns:p14="http://schemas.microsoft.com/office/powerpoint/2010/main" val="244516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77CE5-4E96-804B-774F-C8D98090F0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47D60-D8C4-A660-8292-3F2BA21B3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30EA2-7177-9B3E-53CA-7773A2247B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This step focuses on extracting unstructured clinical notes from the MIMIC-IV dataset</a:t>
            </a:r>
            <a:r>
              <a:rPr lang="en-US" dirty="0"/>
              <a:t>.</a:t>
            </a:r>
            <a:br>
              <a:rPr lang="en-US" dirty="0"/>
            </a:br>
            <a:r>
              <a:rPr lang="en-US" dirty="0"/>
              <a:t>I loaded the full set of notes, then filtered it to include only </a:t>
            </a:r>
            <a:r>
              <a:rPr lang="en-US" b="0" dirty="0">
                <a:latin typeface="Tenorite" panose="00000500000000000000" pitchFamily="2" charset="0"/>
              </a:rPr>
              <a:t>Discharge Summaries.</a:t>
            </a:r>
            <a:br>
              <a:rPr lang="en-US" dirty="0"/>
            </a:br>
            <a:r>
              <a:rPr lang="en-US" dirty="0"/>
              <a:t>To ensure clean input for </a:t>
            </a:r>
            <a:r>
              <a:rPr lang="en-US" dirty="0" err="1"/>
              <a:t>ClinicalBERT</a:t>
            </a:r>
            <a:r>
              <a:rPr lang="en-US" dirty="0"/>
              <a:t>, I removed any rows that had missing or empty text, and kept only one note per hospital admission using the </a:t>
            </a:r>
            <a:r>
              <a:rPr lang="en-US" dirty="0" err="1"/>
              <a:t>hadm_id</a:t>
            </a:r>
            <a:r>
              <a:rPr lang="en-US" dirty="0"/>
              <a:t>.</a:t>
            </a:r>
            <a:br>
              <a:rPr lang="en-US" dirty="0"/>
            </a:br>
            <a:endParaRPr lang="en-US" dirty="0"/>
          </a:p>
        </p:txBody>
      </p:sp>
      <p:sp>
        <p:nvSpPr>
          <p:cNvPr id="4" name="Slide Number Placeholder 3">
            <a:extLst>
              <a:ext uri="{FF2B5EF4-FFF2-40B4-BE49-F238E27FC236}">
                <a16:creationId xmlns:a16="http://schemas.microsoft.com/office/drawing/2014/main" id="{CF2544D5-761F-7324-CC30-C33A0DB87C1D}"/>
              </a:ext>
            </a:extLst>
          </p:cNvPr>
          <p:cNvSpPr>
            <a:spLocks noGrp="1"/>
          </p:cNvSpPr>
          <p:nvPr>
            <p:ph type="sldNum" sz="quarter" idx="5"/>
          </p:nvPr>
        </p:nvSpPr>
        <p:spPr/>
        <p:txBody>
          <a:bodyPr/>
          <a:lstStyle/>
          <a:p>
            <a:fld id="{DE6442E7-8D31-49D5-B58B-CFDBA66FF116}" type="slidenum">
              <a:rPr lang="en-US" smtClean="0"/>
              <a:t>14</a:t>
            </a:fld>
            <a:endParaRPr lang="en-US"/>
          </a:p>
        </p:txBody>
      </p:sp>
    </p:spTree>
    <p:extLst>
      <p:ext uri="{BB962C8B-B14F-4D97-AF65-F5344CB8AC3E}">
        <p14:creationId xmlns:p14="http://schemas.microsoft.com/office/powerpoint/2010/main" val="3447985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7AB6F-03CB-23D1-E47E-64ADFF5DC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0DFA46-BC83-1716-6657-A3F4F0ADFF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681563-4F29-C559-6A1D-1934D8D601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enorite" panose="00000500000000000000" pitchFamily="2" charset="0"/>
              </a:rPr>
              <a:t>In this step, I used the </a:t>
            </a:r>
            <a:r>
              <a:rPr lang="en-US" b="0" dirty="0" err="1">
                <a:latin typeface="Tenorite" panose="00000500000000000000" pitchFamily="2" charset="0"/>
              </a:rPr>
              <a:t>Bio_ClinicalBERT</a:t>
            </a:r>
            <a:r>
              <a:rPr lang="en-US" b="0" dirty="0">
                <a:latin typeface="Tenorite" panose="00000500000000000000" pitchFamily="2" charset="0"/>
              </a:rPr>
              <a:t> model from Hugging Face, which is pre-trained specifically on biomedical and discharge notes.</a:t>
            </a:r>
            <a:br>
              <a:rPr lang="en-US" b="0" dirty="0">
                <a:latin typeface="Tenorite" panose="00000500000000000000" pitchFamily="2" charset="0"/>
              </a:rPr>
            </a:br>
            <a:r>
              <a:rPr lang="en-US" b="0" dirty="0">
                <a:latin typeface="Tenorite" panose="00000500000000000000" pitchFamily="2" charset="0"/>
              </a:rPr>
              <a:t>I built a custom function that tokenizes each discharge summary, processes it through the model, and extracts the CLS tokens.</a:t>
            </a:r>
            <a:br>
              <a:rPr lang="en-US" b="0" dirty="0">
                <a:latin typeface="Tenorite" panose="00000500000000000000" pitchFamily="2" charset="0"/>
              </a:rPr>
            </a:br>
            <a:r>
              <a:rPr lang="en-US" b="0" dirty="0">
                <a:latin typeface="Tenorite" panose="00000500000000000000" pitchFamily="2" charset="0"/>
              </a:rPr>
              <a:t>I applied this to the first 2,500 notes to generate embeddings. These embeddings were stored in a </a:t>
            </a:r>
            <a:r>
              <a:rPr lang="en-US" b="0" dirty="0" err="1">
                <a:latin typeface="Tenorite" panose="00000500000000000000" pitchFamily="2" charset="0"/>
              </a:rPr>
              <a:t>DataFrame</a:t>
            </a:r>
            <a:r>
              <a:rPr lang="en-US" b="0" dirty="0">
                <a:latin typeface="Tenorite" panose="00000500000000000000" pitchFamily="2" charset="0"/>
              </a:rPr>
              <a:t> and indexed by </a:t>
            </a:r>
            <a:r>
              <a:rPr lang="en-US" b="0" dirty="0" err="1">
                <a:latin typeface="Tenorite" panose="00000500000000000000" pitchFamily="2" charset="0"/>
              </a:rPr>
              <a:t>hadm_id</a:t>
            </a:r>
            <a:r>
              <a:rPr lang="en-US" b="0" dirty="0">
                <a:latin typeface="Tenorite" panose="00000500000000000000" pitchFamily="2" charset="0"/>
              </a:rPr>
              <a:t>, which lets me combine them with the patient’s structured features later.</a:t>
            </a:r>
            <a:br>
              <a:rPr lang="en-US" b="0" dirty="0">
                <a:latin typeface="Tenorite" panose="00000500000000000000" pitchFamily="2" charset="0"/>
              </a:rPr>
            </a:br>
            <a:endParaRPr lang="en-US" b="0" dirty="0">
              <a:latin typeface="Tenorite" panose="00000500000000000000" pitchFamily="2" charset="0"/>
            </a:endParaRPr>
          </a:p>
        </p:txBody>
      </p:sp>
      <p:sp>
        <p:nvSpPr>
          <p:cNvPr id="4" name="Slide Number Placeholder 3">
            <a:extLst>
              <a:ext uri="{FF2B5EF4-FFF2-40B4-BE49-F238E27FC236}">
                <a16:creationId xmlns:a16="http://schemas.microsoft.com/office/drawing/2014/main" id="{0701404C-197C-393B-CC94-8A0F76044EF0}"/>
              </a:ext>
            </a:extLst>
          </p:cNvPr>
          <p:cNvSpPr>
            <a:spLocks noGrp="1"/>
          </p:cNvSpPr>
          <p:nvPr>
            <p:ph type="sldNum" sz="quarter" idx="5"/>
          </p:nvPr>
        </p:nvSpPr>
        <p:spPr/>
        <p:txBody>
          <a:bodyPr/>
          <a:lstStyle/>
          <a:p>
            <a:fld id="{DE6442E7-8D31-49D5-B58B-CFDBA66FF116}" type="slidenum">
              <a:rPr lang="en-US" smtClean="0"/>
              <a:t>15</a:t>
            </a:fld>
            <a:endParaRPr lang="en-US"/>
          </a:p>
        </p:txBody>
      </p:sp>
    </p:spTree>
    <p:extLst>
      <p:ext uri="{BB962C8B-B14F-4D97-AF65-F5344CB8AC3E}">
        <p14:creationId xmlns:p14="http://schemas.microsoft.com/office/powerpoint/2010/main" val="904224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83DC1-891E-F710-460B-02E16D185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C5288-7D96-2688-B2F5-313A5B60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226AD6-5D2A-C007-56CC-ADCE4565B78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enorite" panose="00000500000000000000" pitchFamily="2" charset="0"/>
              </a:rPr>
              <a:t>I had two separate datasets: one with structured patient information, and another with </a:t>
            </a:r>
            <a:r>
              <a:rPr lang="en-US" b="0" dirty="0" err="1">
                <a:latin typeface="Tenorite" panose="00000500000000000000" pitchFamily="2" charset="0"/>
              </a:rPr>
              <a:t>ClinicalBERT</a:t>
            </a:r>
            <a:r>
              <a:rPr lang="en-US" b="0" dirty="0">
                <a:latin typeface="Tenorite" panose="00000500000000000000" pitchFamily="2" charset="0"/>
              </a:rPr>
              <a:t> embeddings.</a:t>
            </a:r>
            <a:br>
              <a:rPr lang="en-US" dirty="0">
                <a:latin typeface="Tenorite" panose="00000500000000000000" pitchFamily="2" charset="0"/>
              </a:rPr>
            </a:br>
            <a:r>
              <a:rPr lang="en-US" dirty="0">
                <a:latin typeface="Tenorite" panose="00000500000000000000" pitchFamily="2" charset="0"/>
              </a:rPr>
              <a:t>I merged them using the </a:t>
            </a:r>
            <a:r>
              <a:rPr lang="en-US" dirty="0" err="1">
                <a:latin typeface="Tenorite" panose="00000500000000000000" pitchFamily="2" charset="0"/>
              </a:rPr>
              <a:t>hadm_id</a:t>
            </a:r>
            <a:r>
              <a:rPr lang="en-US" dirty="0">
                <a:latin typeface="Tenorite" panose="00000500000000000000" pitchFamily="2" charset="0"/>
              </a:rPr>
              <a:t>, which represents each hospital admission.</a:t>
            </a:r>
            <a:br>
              <a:rPr lang="en-US" dirty="0">
                <a:latin typeface="Tenorite" panose="00000500000000000000" pitchFamily="2" charset="0"/>
              </a:rPr>
            </a:br>
            <a:r>
              <a:rPr lang="en-US" dirty="0">
                <a:latin typeface="Tenorite" panose="00000500000000000000" pitchFamily="2" charset="0"/>
              </a:rPr>
              <a:t>The result was a combined dataset that includes both traditional clinical features and rich, contextual text features from the notes.</a:t>
            </a:r>
            <a:br>
              <a:rPr lang="en-US" dirty="0">
                <a:latin typeface="Tenorite" panose="00000500000000000000" pitchFamily="2" charset="0"/>
              </a:rPr>
            </a:br>
            <a:endParaRPr lang="en-US" dirty="0">
              <a:latin typeface="Tenorite" panose="00000500000000000000" pitchFamily="2" charset="0"/>
            </a:endParaRPr>
          </a:p>
        </p:txBody>
      </p:sp>
      <p:sp>
        <p:nvSpPr>
          <p:cNvPr id="4" name="Slide Number Placeholder 3">
            <a:extLst>
              <a:ext uri="{FF2B5EF4-FFF2-40B4-BE49-F238E27FC236}">
                <a16:creationId xmlns:a16="http://schemas.microsoft.com/office/drawing/2014/main" id="{00ED652A-7DE2-CA0C-49FD-D9101D317F5B}"/>
              </a:ext>
            </a:extLst>
          </p:cNvPr>
          <p:cNvSpPr>
            <a:spLocks noGrp="1"/>
          </p:cNvSpPr>
          <p:nvPr>
            <p:ph type="sldNum" sz="quarter" idx="5"/>
          </p:nvPr>
        </p:nvSpPr>
        <p:spPr/>
        <p:txBody>
          <a:bodyPr/>
          <a:lstStyle/>
          <a:p>
            <a:fld id="{DE6442E7-8D31-49D5-B58B-CFDBA66FF116}" type="slidenum">
              <a:rPr lang="en-US" smtClean="0"/>
              <a:t>16</a:t>
            </a:fld>
            <a:endParaRPr lang="en-US"/>
          </a:p>
        </p:txBody>
      </p:sp>
    </p:spTree>
    <p:extLst>
      <p:ext uri="{BB962C8B-B14F-4D97-AF65-F5344CB8AC3E}">
        <p14:creationId xmlns:p14="http://schemas.microsoft.com/office/powerpoint/2010/main" val="1892583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A6590-A256-F009-1AAE-A84E26E1C2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617DC-0036-4EC6-1926-D4353FA9A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B47A6-43A8-CC4A-4FB4-70AA1ABE0221}"/>
              </a:ext>
            </a:extLst>
          </p:cNvPr>
          <p:cNvSpPr>
            <a:spLocks noGrp="1"/>
          </p:cNvSpPr>
          <p:nvPr>
            <p:ph type="body" idx="1"/>
          </p:nvPr>
        </p:nvSpPr>
        <p:spPr/>
        <p:txBody>
          <a:bodyPr/>
          <a:lstStyle/>
          <a:p>
            <a:pPr>
              <a:buNone/>
            </a:pPr>
            <a:r>
              <a:rPr lang="en-US" b="0" dirty="0">
                <a:latin typeface="Tenorite" panose="00000500000000000000" pitchFamily="2" charset="0"/>
              </a:rPr>
              <a:t>This model combines both structured clinical data and unstructured discharge summary embeddings generated using </a:t>
            </a:r>
            <a:r>
              <a:rPr lang="en-US" b="0" dirty="0" err="1">
                <a:latin typeface="Tenorite" panose="00000500000000000000" pitchFamily="2" charset="0"/>
              </a:rPr>
              <a:t>ClinicalBERT</a:t>
            </a:r>
            <a:r>
              <a:rPr lang="en-US" b="0" dirty="0">
                <a:latin typeface="Tenorite" panose="00000500000000000000" pitchFamily="2" charset="0"/>
              </a:rPr>
              <a:t>.</a:t>
            </a:r>
          </a:p>
          <a:p>
            <a:pPr>
              <a:buNone/>
            </a:pPr>
            <a:r>
              <a:rPr lang="en-US" b="0" dirty="0">
                <a:latin typeface="Tenorite" panose="00000500000000000000" pitchFamily="2" charset="0"/>
              </a:rPr>
              <a:t>From the confusion matrix, we can see:</a:t>
            </a:r>
          </a:p>
          <a:p>
            <a:pPr>
              <a:buNone/>
            </a:pPr>
            <a:r>
              <a:rPr lang="en-US" b="0" dirty="0">
                <a:latin typeface="Tenorite" panose="00000500000000000000" pitchFamily="2" charset="0"/>
              </a:rPr>
              <a:t>	The model predicted almost all non-readmitted cases correctly (98.9%).</a:t>
            </a:r>
          </a:p>
          <a:p>
            <a:pPr>
              <a:buFont typeface="Arial" panose="020B0604020202020204" pitchFamily="34" charset="0"/>
              <a:buNone/>
            </a:pPr>
            <a:r>
              <a:rPr lang="en-US" b="0" dirty="0">
                <a:latin typeface="Tenorite" panose="00000500000000000000" pitchFamily="2" charset="0"/>
              </a:rPr>
              <a:t>	However, it struggled with detecting readmissions—only 2 out of 14 were correctly identified (14.3% recall).</a:t>
            </a:r>
          </a:p>
          <a:p>
            <a:pPr>
              <a:buFont typeface="Arial" panose="020B0604020202020204" pitchFamily="34" charset="0"/>
              <a:buNone/>
            </a:pPr>
            <a:r>
              <a:rPr lang="en-US" b="0" dirty="0">
                <a:latin typeface="Tenorite" panose="00000500000000000000" pitchFamily="2" charset="0"/>
              </a:rPr>
              <a:t>	This highlights that even with richer input data, class imbalance still impacts model sensitivity.</a:t>
            </a:r>
          </a:p>
          <a:p>
            <a:r>
              <a:rPr lang="en-US" b="0" dirty="0">
                <a:latin typeface="Tenorite" panose="00000500000000000000" pitchFamily="2" charset="0"/>
              </a:rPr>
              <a:t>	ROC curve shows an AUC of 0.57, which is only slightly better than random guessing (0.50).</a:t>
            </a:r>
            <a:br>
              <a:rPr lang="en-US" b="0" dirty="0">
                <a:latin typeface="Tenorite" panose="00000500000000000000" pitchFamily="2" charset="0"/>
              </a:rPr>
            </a:br>
            <a:r>
              <a:rPr lang="en-US" b="0" dirty="0">
                <a:latin typeface="Tenorite" panose="00000500000000000000" pitchFamily="2" charset="0"/>
              </a:rPr>
              <a:t>So while this model benefits from additional features, more tuning or resampling (like SMOTE) would be needed to truly leverage the unstructured data.</a:t>
            </a:r>
          </a:p>
        </p:txBody>
      </p:sp>
      <p:sp>
        <p:nvSpPr>
          <p:cNvPr id="4" name="Slide Number Placeholder 3">
            <a:extLst>
              <a:ext uri="{FF2B5EF4-FFF2-40B4-BE49-F238E27FC236}">
                <a16:creationId xmlns:a16="http://schemas.microsoft.com/office/drawing/2014/main" id="{7F3DBE33-C841-5014-D174-729E2830E4FC}"/>
              </a:ext>
            </a:extLst>
          </p:cNvPr>
          <p:cNvSpPr>
            <a:spLocks noGrp="1"/>
          </p:cNvSpPr>
          <p:nvPr>
            <p:ph type="sldNum" sz="quarter" idx="5"/>
          </p:nvPr>
        </p:nvSpPr>
        <p:spPr/>
        <p:txBody>
          <a:bodyPr/>
          <a:lstStyle/>
          <a:p>
            <a:fld id="{DE6442E7-8D31-49D5-B58B-CFDBA66FF116}" type="slidenum">
              <a:rPr lang="en-US" smtClean="0"/>
              <a:t>17</a:t>
            </a:fld>
            <a:endParaRPr lang="en-US"/>
          </a:p>
        </p:txBody>
      </p:sp>
    </p:spTree>
    <p:extLst>
      <p:ext uri="{BB962C8B-B14F-4D97-AF65-F5344CB8AC3E}">
        <p14:creationId xmlns:p14="http://schemas.microsoft.com/office/powerpoint/2010/main" val="32527222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latin typeface="Tenorite" panose="00000500000000000000" pitchFamily="2" charset="0"/>
              </a:rPr>
              <a:t>Random Forest :</a:t>
            </a:r>
          </a:p>
          <a:p>
            <a:pPr>
              <a:buNone/>
            </a:pPr>
            <a:r>
              <a:rPr lang="en-US" b="1" dirty="0">
                <a:latin typeface="Tenorite" panose="00000500000000000000" pitchFamily="2" charset="0"/>
              </a:rPr>
              <a:t>	</a:t>
            </a:r>
            <a:r>
              <a:rPr lang="en-US" b="0" dirty="0">
                <a:latin typeface="Tenorite" panose="00000500000000000000" pitchFamily="2" charset="0"/>
              </a:rPr>
              <a:t>Confusion matrix:</a:t>
            </a:r>
          </a:p>
          <a:p>
            <a:pPr>
              <a:buNone/>
            </a:pPr>
            <a:r>
              <a:rPr lang="en-US" b="0" dirty="0">
                <a:latin typeface="Tenorite" panose="00000500000000000000" pitchFamily="2" charset="0"/>
              </a:rPr>
              <a:t>	91 out of 93 readmissions correctly identified (97.8% recall).	</a:t>
            </a:r>
          </a:p>
          <a:p>
            <a:pPr>
              <a:buNone/>
            </a:pPr>
            <a:r>
              <a:rPr lang="en-US" b="0" dirty="0">
                <a:latin typeface="Tenorite" panose="00000500000000000000" pitchFamily="2" charset="0"/>
              </a:rPr>
              <a:t>	Only 2 false negatives.</a:t>
            </a:r>
            <a:br>
              <a:rPr lang="en-US" b="0" dirty="0">
                <a:latin typeface="Tenorite" panose="00000500000000000000" pitchFamily="2" charset="0"/>
              </a:rPr>
            </a:br>
            <a:r>
              <a:rPr lang="en-US" b="0" dirty="0">
                <a:latin typeface="Tenorite" panose="00000500000000000000" pitchFamily="2" charset="0"/>
              </a:rPr>
              <a:t>	</a:t>
            </a:r>
            <a:r>
              <a:rPr lang="en-US" dirty="0">
                <a:latin typeface="Tenorite" panose="00000500000000000000" pitchFamily="2" charset="0"/>
              </a:rPr>
              <a:t>AUC-ROC = </a:t>
            </a:r>
            <a:r>
              <a:rPr lang="en-US" b="0" dirty="0">
                <a:latin typeface="Tenorite" panose="00000500000000000000" pitchFamily="2" charset="0"/>
              </a:rPr>
              <a:t>0.97</a:t>
            </a:r>
          </a:p>
          <a:p>
            <a:pPr>
              <a:buFont typeface="Arial" panose="020B0604020202020204" pitchFamily="34" charset="0"/>
              <a:buNone/>
            </a:pPr>
            <a:r>
              <a:rPr lang="en-US" b="1" dirty="0" err="1">
                <a:latin typeface="Tenorite" panose="00000500000000000000" pitchFamily="2" charset="0"/>
              </a:rPr>
              <a:t>XGBoost</a:t>
            </a:r>
            <a:r>
              <a:rPr lang="en-US" b="1" dirty="0">
                <a:latin typeface="Tenorite" panose="00000500000000000000" pitchFamily="2" charset="0"/>
              </a:rPr>
              <a:t>:</a:t>
            </a:r>
          </a:p>
          <a:p>
            <a:pPr>
              <a:buFont typeface="Arial" panose="020B0604020202020204" pitchFamily="34" charset="0"/>
              <a:buNone/>
            </a:pPr>
            <a:r>
              <a:rPr lang="en-US" dirty="0">
                <a:latin typeface="Tenorite" panose="00000500000000000000" pitchFamily="2" charset="0"/>
              </a:rPr>
              <a:t>	</a:t>
            </a:r>
            <a:r>
              <a:rPr lang="en-US" b="0" dirty="0">
                <a:latin typeface="Tenorite" panose="00000500000000000000" pitchFamily="2" charset="0"/>
              </a:rPr>
              <a:t>Confusion matrix:</a:t>
            </a:r>
          </a:p>
          <a:p>
            <a:pPr>
              <a:buFont typeface="Arial" panose="020B0604020202020204" pitchFamily="34" charset="0"/>
              <a:buNone/>
            </a:pPr>
            <a:r>
              <a:rPr lang="en-US" b="0" dirty="0">
                <a:latin typeface="Tenorite" panose="00000500000000000000" pitchFamily="2" charset="0"/>
              </a:rPr>
              <a:t>	92 of 93 readmissions correctly identified (98.9% recall).	</a:t>
            </a:r>
          </a:p>
          <a:p>
            <a:pPr>
              <a:buFont typeface="Arial" panose="020B0604020202020204" pitchFamily="34" charset="0"/>
              <a:buNone/>
            </a:pPr>
            <a:r>
              <a:rPr lang="en-US" b="0" dirty="0">
                <a:latin typeface="Tenorite" panose="00000500000000000000" pitchFamily="2" charset="0"/>
              </a:rPr>
              <a:t>	Slightly fewer false positives as well.	</a:t>
            </a:r>
          </a:p>
          <a:p>
            <a:pPr>
              <a:buFont typeface="Arial" panose="020B0604020202020204" pitchFamily="34" charset="0"/>
              <a:buNone/>
            </a:pPr>
            <a:r>
              <a:rPr lang="en-US" b="0" dirty="0">
                <a:latin typeface="Tenorite" panose="00000500000000000000" pitchFamily="2" charset="0"/>
              </a:rPr>
              <a:t>	AUC-ROC = 0.98 </a:t>
            </a:r>
          </a:p>
          <a:p>
            <a:pPr>
              <a:buFont typeface="Arial" panose="020B0604020202020204" pitchFamily="34" charset="0"/>
              <a:buNone/>
            </a:pPr>
            <a:r>
              <a:rPr lang="en-US" b="0" dirty="0" err="1">
                <a:latin typeface="Tenorite" panose="00000500000000000000" pitchFamily="2" charset="0"/>
              </a:rPr>
              <a:t>XGBoost</a:t>
            </a:r>
            <a:r>
              <a:rPr lang="en-US" b="0" dirty="0">
                <a:latin typeface="Tenorite" panose="00000500000000000000" pitchFamily="2" charset="0"/>
              </a:rPr>
              <a:t> handled the combined data most effectively, making it the top-performing model.</a:t>
            </a:r>
          </a:p>
          <a:p>
            <a:endParaRPr lang="en-US" dirty="0"/>
          </a:p>
        </p:txBody>
      </p:sp>
      <p:sp>
        <p:nvSpPr>
          <p:cNvPr id="4" name="Slide Number Placeholder 3"/>
          <p:cNvSpPr>
            <a:spLocks noGrp="1"/>
          </p:cNvSpPr>
          <p:nvPr>
            <p:ph type="sldNum" sz="quarter" idx="5"/>
          </p:nvPr>
        </p:nvSpPr>
        <p:spPr/>
        <p:txBody>
          <a:bodyPr/>
          <a:lstStyle/>
          <a:p>
            <a:fld id="{DE6442E7-8D31-49D5-B58B-CFDBA66FF116}" type="slidenum">
              <a:rPr lang="en-US" smtClean="0"/>
              <a:t>18</a:t>
            </a:fld>
            <a:endParaRPr lang="en-US"/>
          </a:p>
        </p:txBody>
      </p:sp>
    </p:spTree>
    <p:extLst>
      <p:ext uri="{BB962C8B-B14F-4D97-AF65-F5344CB8AC3E}">
        <p14:creationId xmlns:p14="http://schemas.microsoft.com/office/powerpoint/2010/main" val="11893442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0" dirty="0">
                <a:latin typeface="Tenorite" panose="00000500000000000000" pitchFamily="2" charset="0"/>
              </a:rPr>
              <a:t>This slide compares the two most optimized models in my project: Tuned </a:t>
            </a:r>
            <a:r>
              <a:rPr lang="en-US" b="0" dirty="0" err="1">
                <a:latin typeface="Tenorite" panose="00000500000000000000" pitchFamily="2" charset="0"/>
              </a:rPr>
              <a:t>XGBoost</a:t>
            </a:r>
            <a:r>
              <a:rPr lang="en-US" b="0" dirty="0">
                <a:latin typeface="Tenorite" panose="00000500000000000000" pitchFamily="2" charset="0"/>
              </a:rPr>
              <a:t> and Narrowed </a:t>
            </a:r>
            <a:r>
              <a:rPr lang="en-US" b="0" dirty="0" err="1">
                <a:latin typeface="Tenorite" panose="00000500000000000000" pitchFamily="2" charset="0"/>
              </a:rPr>
              <a:t>XGBoost</a:t>
            </a:r>
            <a:r>
              <a:rPr lang="en-US" b="0" dirty="0">
                <a:latin typeface="Tenorite" panose="00000500000000000000" pitchFamily="2" charset="0"/>
              </a:rPr>
              <a:t>, both trained on the combined dataset and balanced with SMOTE.</a:t>
            </a:r>
          </a:p>
          <a:p>
            <a:pPr>
              <a:buNone/>
            </a:pPr>
            <a:r>
              <a:rPr lang="en-US" b="1" dirty="0">
                <a:latin typeface="Tenorite" panose="00000500000000000000" pitchFamily="2" charset="0"/>
              </a:rPr>
              <a:t>Narrowed </a:t>
            </a:r>
            <a:r>
              <a:rPr lang="en-US" b="1" dirty="0" err="1">
                <a:latin typeface="Tenorite" panose="00000500000000000000" pitchFamily="2" charset="0"/>
              </a:rPr>
              <a:t>XGBoost</a:t>
            </a:r>
            <a:r>
              <a:rPr lang="en-US" b="1" dirty="0">
                <a:latin typeface="Tenorite" panose="00000500000000000000" pitchFamily="2" charset="0"/>
              </a:rPr>
              <a:t>:</a:t>
            </a:r>
          </a:p>
          <a:p>
            <a:pPr>
              <a:buFont typeface="Arial" panose="020B0604020202020204" pitchFamily="34" charset="0"/>
              <a:buNone/>
            </a:pPr>
            <a:r>
              <a:rPr lang="en-US" b="0" dirty="0">
                <a:latin typeface="Tenorite" panose="00000500000000000000" pitchFamily="2" charset="0"/>
              </a:rPr>
              <a:t>	Recall for readmitted class: 98.9%</a:t>
            </a:r>
          </a:p>
          <a:p>
            <a:pPr>
              <a:buFont typeface="Arial" panose="020B0604020202020204" pitchFamily="34" charset="0"/>
              <a:buNone/>
            </a:pPr>
            <a:r>
              <a:rPr lang="en-US" b="0" dirty="0">
                <a:latin typeface="Tenorite" panose="00000500000000000000" pitchFamily="2" charset="0"/>
              </a:rPr>
              <a:t>	Only 1 false negative out of 93 cases.</a:t>
            </a:r>
          </a:p>
          <a:p>
            <a:pPr>
              <a:buFont typeface="Arial" panose="020B0604020202020204" pitchFamily="34" charset="0"/>
              <a:buNone/>
            </a:pPr>
            <a:r>
              <a:rPr lang="en-US" b="0" dirty="0">
                <a:latin typeface="Tenorite" panose="00000500000000000000" pitchFamily="2" charset="0"/>
              </a:rPr>
              <a:t>	ROC AUC = 0.98</a:t>
            </a:r>
          </a:p>
          <a:p>
            <a:pPr>
              <a:buFont typeface="Arial" panose="020B0604020202020204" pitchFamily="34" charset="0"/>
              <a:buNone/>
            </a:pPr>
            <a:r>
              <a:rPr lang="en-US" b="0" dirty="0">
                <a:latin typeface="Tenorite" panose="00000500000000000000" pitchFamily="2" charset="0"/>
              </a:rPr>
              <a:t>	Strong performance with a focused hyperparameter grid.</a:t>
            </a:r>
          </a:p>
          <a:p>
            <a:pPr>
              <a:buNone/>
            </a:pPr>
            <a:r>
              <a:rPr lang="en-US" b="1" dirty="0">
                <a:latin typeface="Tenorite" panose="00000500000000000000" pitchFamily="2" charset="0"/>
              </a:rPr>
              <a:t>Tuned </a:t>
            </a:r>
            <a:r>
              <a:rPr lang="en-US" b="1" dirty="0" err="1">
                <a:latin typeface="Tenorite" panose="00000500000000000000" pitchFamily="2" charset="0"/>
              </a:rPr>
              <a:t>XGBoost</a:t>
            </a:r>
            <a:endParaRPr lang="en-US" b="1" dirty="0">
              <a:latin typeface="Tenorite" panose="00000500000000000000" pitchFamily="2" charset="0"/>
            </a:endParaRPr>
          </a:p>
          <a:p>
            <a:pPr>
              <a:buFont typeface="Arial" panose="020B0604020202020204" pitchFamily="34" charset="0"/>
              <a:buNone/>
            </a:pPr>
            <a:r>
              <a:rPr lang="en-US" b="0" dirty="0">
                <a:latin typeface="Tenorite" panose="00000500000000000000" pitchFamily="2" charset="0"/>
              </a:rPr>
              <a:t>	Also achieved 98.9% recall for readmissions.</a:t>
            </a:r>
          </a:p>
          <a:p>
            <a:pPr>
              <a:buFont typeface="Arial" panose="020B0604020202020204" pitchFamily="34" charset="0"/>
              <a:buNone/>
            </a:pPr>
            <a:r>
              <a:rPr lang="en-US" b="0" dirty="0">
                <a:latin typeface="Tenorite" panose="00000500000000000000" pitchFamily="2" charset="0"/>
              </a:rPr>
              <a:t>	Confusion matrix is identical to Narrowed.</a:t>
            </a:r>
          </a:p>
          <a:p>
            <a:pPr>
              <a:buFont typeface="Arial" panose="020B0604020202020204" pitchFamily="34" charset="0"/>
              <a:buNone/>
            </a:pPr>
            <a:r>
              <a:rPr lang="en-US" b="0" dirty="0">
                <a:latin typeface="Tenorite" panose="00000500000000000000" pitchFamily="2" charset="0"/>
              </a:rPr>
              <a:t>	ROC AUC = 0.98 — identical to the narrowed model.</a:t>
            </a:r>
          </a:p>
          <a:p>
            <a:pPr>
              <a:buNone/>
            </a:pPr>
            <a:r>
              <a:rPr lang="en-US" b="0" dirty="0">
                <a:latin typeface="Tenorite" panose="00000500000000000000" pitchFamily="2" charset="0"/>
              </a:rPr>
              <a:t>Although these models were tuned using different strategies, they ended up making identical predictions, achieving the highest recall and AUC in the entire project.</a:t>
            </a:r>
          </a:p>
          <a:p>
            <a:pPr>
              <a:buNone/>
            </a:pPr>
            <a:endParaRPr lang="en-US" b="0" dirty="0">
              <a:latin typeface="Tenorite" panose="00000500000000000000" pitchFamily="2" charset="0"/>
            </a:endParaRPr>
          </a:p>
          <a:p>
            <a:pPr>
              <a:buNone/>
            </a:pPr>
            <a:r>
              <a:rPr lang="en-US" b="0" dirty="0">
                <a:latin typeface="Tenorite" panose="00000500000000000000" pitchFamily="2" charset="0"/>
              </a:rPr>
              <a:t>This confirms that the combination of:</a:t>
            </a:r>
          </a:p>
          <a:p>
            <a:pPr>
              <a:buFont typeface="Arial" panose="020B0604020202020204" pitchFamily="34" charset="0"/>
              <a:buNone/>
            </a:pPr>
            <a:r>
              <a:rPr lang="en-US" b="0" dirty="0">
                <a:latin typeface="Tenorite" panose="00000500000000000000" pitchFamily="2" charset="0"/>
              </a:rPr>
              <a:t>Balanced training data (via SMOTE),</a:t>
            </a:r>
          </a:p>
          <a:p>
            <a:pPr>
              <a:buFont typeface="Arial" panose="020B0604020202020204" pitchFamily="34" charset="0"/>
              <a:buNone/>
            </a:pPr>
            <a:r>
              <a:rPr lang="en-US" b="0" dirty="0">
                <a:latin typeface="Tenorite" panose="00000500000000000000" pitchFamily="2" charset="0"/>
              </a:rPr>
              <a:t>Rich discharge summary embeddings (via </a:t>
            </a:r>
            <a:r>
              <a:rPr lang="en-US" b="0" dirty="0" err="1">
                <a:latin typeface="Tenorite" panose="00000500000000000000" pitchFamily="2" charset="0"/>
              </a:rPr>
              <a:t>ClinicalBERT</a:t>
            </a:r>
            <a:r>
              <a:rPr lang="en-US" b="0" dirty="0">
                <a:latin typeface="Tenorite" panose="00000500000000000000" pitchFamily="2" charset="0"/>
              </a:rPr>
              <a:t>), and</a:t>
            </a:r>
          </a:p>
          <a:p>
            <a:pPr>
              <a:buFont typeface="Arial" panose="020B0604020202020204" pitchFamily="34" charset="0"/>
              <a:buNone/>
            </a:pPr>
            <a:r>
              <a:rPr lang="en-US" b="0" dirty="0">
                <a:latin typeface="Tenorite" panose="00000500000000000000" pitchFamily="2" charset="0"/>
              </a:rPr>
              <a:t>Ensemble learning (via </a:t>
            </a:r>
            <a:r>
              <a:rPr lang="en-US" b="0" dirty="0" err="1">
                <a:latin typeface="Tenorite" panose="00000500000000000000" pitchFamily="2" charset="0"/>
              </a:rPr>
              <a:t>XGBoost</a:t>
            </a:r>
            <a:r>
              <a:rPr lang="en-US" b="0" dirty="0">
                <a:latin typeface="Tenorite" panose="00000500000000000000" pitchFamily="2" charset="0"/>
              </a:rPr>
              <a:t>)</a:t>
            </a:r>
          </a:p>
          <a:p>
            <a:r>
              <a:rPr lang="en-US" b="0" dirty="0">
                <a:latin typeface="Tenorite" panose="00000500000000000000" pitchFamily="2" charset="0"/>
              </a:rPr>
              <a:t>delivers the most accurate and clinically meaningful results for predicting ICU readmissions.</a:t>
            </a:r>
          </a:p>
          <a:p>
            <a:endParaRPr lang="en-US" dirty="0"/>
          </a:p>
        </p:txBody>
      </p:sp>
      <p:sp>
        <p:nvSpPr>
          <p:cNvPr id="4" name="Slide Number Placeholder 3"/>
          <p:cNvSpPr>
            <a:spLocks noGrp="1"/>
          </p:cNvSpPr>
          <p:nvPr>
            <p:ph type="sldNum" sz="quarter" idx="5"/>
          </p:nvPr>
        </p:nvSpPr>
        <p:spPr/>
        <p:txBody>
          <a:bodyPr/>
          <a:lstStyle/>
          <a:p>
            <a:fld id="{DE6442E7-8D31-49D5-B58B-CFDBA66FF116}" type="slidenum">
              <a:rPr lang="en-US" smtClean="0"/>
              <a:t>19</a:t>
            </a:fld>
            <a:endParaRPr lang="en-US"/>
          </a:p>
        </p:txBody>
      </p:sp>
    </p:spTree>
    <p:extLst>
      <p:ext uri="{BB962C8B-B14F-4D97-AF65-F5344CB8AC3E}">
        <p14:creationId xmlns:p14="http://schemas.microsoft.com/office/powerpoint/2010/main" val="4237667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enorite" panose="00000500000000000000" pitchFamily="2" charset="0"/>
              </a:rPr>
              <a:t>In conclusion, our best results came from combining structured EHR data with </a:t>
            </a:r>
            <a:r>
              <a:rPr lang="en-US" dirty="0" err="1">
                <a:latin typeface="Tenorite" panose="00000500000000000000" pitchFamily="2" charset="0"/>
              </a:rPr>
              <a:t>ClinicalBERT</a:t>
            </a:r>
            <a:r>
              <a:rPr lang="en-US" dirty="0">
                <a:latin typeface="Tenorite" panose="00000500000000000000" pitchFamily="2" charset="0"/>
              </a:rPr>
              <a:t> embeddings of discharge summaries. This hybrid approach, combined with class balancing through SMOTE and hyperparameter-tuned </a:t>
            </a:r>
            <a:r>
              <a:rPr lang="en-US" dirty="0" err="1">
                <a:latin typeface="Tenorite" panose="00000500000000000000" pitchFamily="2" charset="0"/>
              </a:rPr>
              <a:t>XGBoost</a:t>
            </a:r>
            <a:r>
              <a:rPr lang="en-US" dirty="0">
                <a:latin typeface="Tenorite" panose="00000500000000000000" pitchFamily="2" charset="0"/>
              </a:rPr>
              <a:t>, achieved an AUROC of 0.98. These results show the value of fusing rich clinical text with structured data and applying targeted ML techniques for early ICU readmission risk prediction</a:t>
            </a:r>
          </a:p>
        </p:txBody>
      </p:sp>
      <p:sp>
        <p:nvSpPr>
          <p:cNvPr id="4" name="Slide Number Placeholder 3"/>
          <p:cNvSpPr>
            <a:spLocks noGrp="1"/>
          </p:cNvSpPr>
          <p:nvPr>
            <p:ph type="sldNum" sz="quarter" idx="5"/>
          </p:nvPr>
        </p:nvSpPr>
        <p:spPr/>
        <p:txBody>
          <a:bodyPr/>
          <a:lstStyle/>
          <a:p>
            <a:fld id="{DE6442E7-8D31-49D5-B58B-CFDBA66FF116}" type="slidenum">
              <a:rPr lang="en-US" smtClean="0"/>
              <a:t>20</a:t>
            </a:fld>
            <a:endParaRPr lang="en-US"/>
          </a:p>
        </p:txBody>
      </p:sp>
    </p:spTree>
    <p:extLst>
      <p:ext uri="{BB962C8B-B14F-4D97-AF65-F5344CB8AC3E}">
        <p14:creationId xmlns:p14="http://schemas.microsoft.com/office/powerpoint/2010/main" val="795249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E037E-953B-03F1-1260-4A3F1CDE4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AF725-A4F0-6B01-3BB2-FC2260EF0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068424-71A8-6B3D-67A8-98AB779E79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the results were strong, the model was trained and tested on a relatively small slice of the data.</a:t>
            </a:r>
            <a:br>
              <a:rPr lang="en-US" dirty="0"/>
            </a:br>
            <a:r>
              <a:rPr lang="en-US" dirty="0"/>
              <a:t>Also, </a:t>
            </a:r>
            <a:r>
              <a:rPr lang="en-US" dirty="0" err="1"/>
              <a:t>ClinicalBERT</a:t>
            </a:r>
            <a:r>
              <a:rPr lang="en-US" dirty="0"/>
              <a:t> was only applied to the first 2500 notes for efficiency, so future work should focus on embedding the full set of notes.</a:t>
            </a:r>
            <a:br>
              <a:rPr lang="en-US" dirty="0"/>
            </a:br>
            <a:r>
              <a:rPr lang="en-US" dirty="0"/>
              <a:t>There’s also a lot of potential in using more advanced NLP models and incorporating time-based features like lab values and medications.</a:t>
            </a:r>
            <a:br>
              <a:rPr lang="en-US" dirty="0"/>
            </a:br>
            <a:r>
              <a:rPr lang="en-US" dirty="0"/>
              <a:t>Most importantly, testing these models in real-time environments or across multiple health systems will be key to proving clinical value.</a:t>
            </a:r>
          </a:p>
        </p:txBody>
      </p:sp>
      <p:sp>
        <p:nvSpPr>
          <p:cNvPr id="4" name="Slide Number Placeholder 3">
            <a:extLst>
              <a:ext uri="{FF2B5EF4-FFF2-40B4-BE49-F238E27FC236}">
                <a16:creationId xmlns:a16="http://schemas.microsoft.com/office/drawing/2014/main" id="{BB8BFB67-49D6-010C-1583-3AF9EFD0D36D}"/>
              </a:ext>
            </a:extLst>
          </p:cNvPr>
          <p:cNvSpPr>
            <a:spLocks noGrp="1"/>
          </p:cNvSpPr>
          <p:nvPr>
            <p:ph type="sldNum" sz="quarter" idx="5"/>
          </p:nvPr>
        </p:nvSpPr>
        <p:spPr/>
        <p:txBody>
          <a:bodyPr/>
          <a:lstStyle/>
          <a:p>
            <a:fld id="{DE6442E7-8D31-49D5-B58B-CFDBA66FF116}" type="slidenum">
              <a:rPr lang="en-US" smtClean="0"/>
              <a:t>21</a:t>
            </a:fld>
            <a:endParaRPr lang="en-US"/>
          </a:p>
        </p:txBody>
      </p:sp>
    </p:spTree>
    <p:extLst>
      <p:ext uri="{BB962C8B-B14F-4D97-AF65-F5344CB8AC3E}">
        <p14:creationId xmlns:p14="http://schemas.microsoft.com/office/powerpoint/2010/main" val="985333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C30BD-06DA-76C3-7279-32F912598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7C02E-669F-0059-EE55-4AE9EA32B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264650-CB72-F203-7C69-340951275F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900DC2B-06DF-05E8-227C-8FF854165EFA}"/>
              </a:ext>
            </a:extLst>
          </p:cNvPr>
          <p:cNvSpPr>
            <a:spLocks noGrp="1"/>
          </p:cNvSpPr>
          <p:nvPr>
            <p:ph type="sldNum" sz="quarter" idx="5"/>
          </p:nvPr>
        </p:nvSpPr>
        <p:spPr/>
        <p:txBody>
          <a:bodyPr/>
          <a:lstStyle/>
          <a:p>
            <a:fld id="{DE6442E7-8D31-49D5-B58B-CFDBA66FF116}" type="slidenum">
              <a:rPr lang="en-US" smtClean="0"/>
              <a:t>22</a:t>
            </a:fld>
            <a:endParaRPr lang="en-US"/>
          </a:p>
        </p:txBody>
      </p:sp>
    </p:spTree>
    <p:extLst>
      <p:ext uri="{BB962C8B-B14F-4D97-AF65-F5344CB8AC3E}">
        <p14:creationId xmlns:p14="http://schemas.microsoft.com/office/powerpoint/2010/main" val="2406632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7CFB5-66AD-6411-70B9-23A690FE7D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9EAD2E-941C-F706-C6DC-6C4D2A717B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79CD15-998F-5692-AFF9-4BE2B69DE0E5}"/>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5" name="Footer Placeholder 4">
            <a:extLst>
              <a:ext uri="{FF2B5EF4-FFF2-40B4-BE49-F238E27FC236}">
                <a16:creationId xmlns:a16="http://schemas.microsoft.com/office/drawing/2014/main" id="{B6BEE69B-6893-05BC-0D1A-77F432E946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727089-7EC1-9420-D701-45781A0F50E8}"/>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1143646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DAA4A-66BC-4267-61B5-D37AF0AB4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95C620-E158-461F-4F95-2C18EC7FC0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CC2DD-5BEE-CE06-54D6-68115D91727B}"/>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5" name="Footer Placeholder 4">
            <a:extLst>
              <a:ext uri="{FF2B5EF4-FFF2-40B4-BE49-F238E27FC236}">
                <a16:creationId xmlns:a16="http://schemas.microsoft.com/office/drawing/2014/main" id="{75DD3899-6F1F-1F7B-4F79-8BDD0F6E1A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A54863-FB17-4643-8DC1-F4B71D42482D}"/>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2588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8CA7D-B6B6-4A5A-3C7B-63E60B0F25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8997B1-F249-362F-7A9B-18AB625974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ECF216-FBE8-B487-BF06-28AFC3154CA0}"/>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5" name="Footer Placeholder 4">
            <a:extLst>
              <a:ext uri="{FF2B5EF4-FFF2-40B4-BE49-F238E27FC236}">
                <a16:creationId xmlns:a16="http://schemas.microsoft.com/office/drawing/2014/main" id="{E7CF71E8-DDA4-0217-F70D-6BF22208CE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BBC131-9341-EC79-5F25-624F84AA3851}"/>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33916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A23CD-34DF-3296-7431-882E7E2ADE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552071-947B-B280-019C-5FAF0820D8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A4B3BA-BFBA-855C-15B1-720FDB7EFC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E9FF12-A8E6-01C7-2BEF-5A1A78A45F9C}"/>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6" name="Footer Placeholder 5">
            <a:extLst>
              <a:ext uri="{FF2B5EF4-FFF2-40B4-BE49-F238E27FC236}">
                <a16:creationId xmlns:a16="http://schemas.microsoft.com/office/drawing/2014/main" id="{A25EFB4C-6B43-FE98-6D11-F607B4A8BE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AF8385-5153-67DF-C64A-15F3976B4567}"/>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1764143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5DE7C-317D-E4D3-BEC9-3E15075647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8AA230-7C7B-605F-B6AF-0C83BAF7E2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894BEF-FEB6-BF9A-2754-018DD0D8D5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E83239-A9AC-33E4-8A90-4F969CAEC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EAA61B-FE72-A299-F212-556FFA359B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791AEF-F54F-D262-FCFE-D23DCB01D121}"/>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8" name="Footer Placeholder 7">
            <a:extLst>
              <a:ext uri="{FF2B5EF4-FFF2-40B4-BE49-F238E27FC236}">
                <a16:creationId xmlns:a16="http://schemas.microsoft.com/office/drawing/2014/main" id="{0F1760F3-D484-8F77-7DB7-949BBCD243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2FE19B-1813-0776-1F1B-820B173B1F1D}"/>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75736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B4634-96DB-7C83-A8CC-4E2A97F4AB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95B1C6-9E1C-BFC3-C7FC-FA570BF4C74F}"/>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4" name="Footer Placeholder 3">
            <a:extLst>
              <a:ext uri="{FF2B5EF4-FFF2-40B4-BE49-F238E27FC236}">
                <a16:creationId xmlns:a16="http://schemas.microsoft.com/office/drawing/2014/main" id="{A68DC2CF-F7F8-4B72-0777-D8340B9C8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2BD4AA-BB88-8923-C029-BE07871AFA51}"/>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996025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0759AA-75CC-73A6-E959-9DE53E4869F0}"/>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3" name="Footer Placeholder 2">
            <a:extLst>
              <a:ext uri="{FF2B5EF4-FFF2-40B4-BE49-F238E27FC236}">
                <a16:creationId xmlns:a16="http://schemas.microsoft.com/office/drawing/2014/main" id="{4ED23C8B-7ED0-9384-692D-9FAD277529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C07E07-2426-4FE5-BEF8-81B90B76DCDD}"/>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1084756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5E56F-6C1F-0118-8E11-7CCE334F64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3F0C16-B391-DC79-649C-9E40D651EF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D03385-25CD-EB94-E2A0-FF138A986D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88B77-A6D9-F7A4-BCBC-61DEF009F3E6}"/>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6" name="Footer Placeholder 5">
            <a:extLst>
              <a:ext uri="{FF2B5EF4-FFF2-40B4-BE49-F238E27FC236}">
                <a16:creationId xmlns:a16="http://schemas.microsoft.com/office/drawing/2014/main" id="{5F3B6329-3A20-E9A3-20EF-056B0E52B3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8B2F48-769E-39F3-EA15-42DE04F6CC4E}"/>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4136030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2A91A-F7F9-221D-3F8A-D6481E8A2E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BB935B-FA37-793A-22C9-8938ED565B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121749-8BD3-6741-A4AD-148B883CA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56FC98-79A4-9CC6-2FE2-D8B13BF68E0D}"/>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6" name="Footer Placeholder 5">
            <a:extLst>
              <a:ext uri="{FF2B5EF4-FFF2-40B4-BE49-F238E27FC236}">
                <a16:creationId xmlns:a16="http://schemas.microsoft.com/office/drawing/2014/main" id="{E51D6A85-B429-58B8-E43C-5490EA29CD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77940D-7142-B0A7-050B-32782C9622E0}"/>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921455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FC4C0-8FBF-C9DC-CD34-A41CB6F949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2BFD40-5B90-33F0-9088-687110FBC2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86570D-ECF5-601A-8337-5BE9F8E405EC}"/>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5" name="Footer Placeholder 4">
            <a:extLst>
              <a:ext uri="{FF2B5EF4-FFF2-40B4-BE49-F238E27FC236}">
                <a16:creationId xmlns:a16="http://schemas.microsoft.com/office/drawing/2014/main" id="{39739611-73C9-F06D-2871-C78A8C7118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D55F77-3CC6-3C5E-2C0A-412953A7045F}"/>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2266420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71D174-CB44-A68B-9924-37F6FE4C36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06CD4C-CD36-FDAD-8344-9C529C71D5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4C3087-7FA2-111E-123F-480C0CEF4515}"/>
              </a:ext>
            </a:extLst>
          </p:cNvPr>
          <p:cNvSpPr>
            <a:spLocks noGrp="1"/>
          </p:cNvSpPr>
          <p:nvPr>
            <p:ph type="dt" sz="half" idx="10"/>
          </p:nvPr>
        </p:nvSpPr>
        <p:spPr/>
        <p:txBody>
          <a:bodyPr/>
          <a:lstStyle/>
          <a:p>
            <a:fld id="{9998DF1C-7A93-48DD-B71F-3AAFDCA75CF7}" type="datetimeFigureOut">
              <a:rPr lang="en-US" smtClean="0"/>
              <a:t>4/18/2025</a:t>
            </a:fld>
            <a:endParaRPr lang="en-US"/>
          </a:p>
        </p:txBody>
      </p:sp>
      <p:sp>
        <p:nvSpPr>
          <p:cNvPr id="5" name="Footer Placeholder 4">
            <a:extLst>
              <a:ext uri="{FF2B5EF4-FFF2-40B4-BE49-F238E27FC236}">
                <a16:creationId xmlns:a16="http://schemas.microsoft.com/office/drawing/2014/main" id="{575ABA5F-1223-A5DA-5947-F05ACF251C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7E79C4-95C4-01C9-CCDC-74D5189E6B02}"/>
              </a:ext>
            </a:extLst>
          </p:cNvPr>
          <p:cNvSpPr>
            <a:spLocks noGrp="1"/>
          </p:cNvSpPr>
          <p:nvPr>
            <p:ph type="sldNum" sz="quarter" idx="12"/>
          </p:nvPr>
        </p:nvSpPr>
        <p:spPr/>
        <p:txBody>
          <a:bodyPr/>
          <a:lstStyle/>
          <a:p>
            <a:fld id="{E88CC40F-177E-4998-B032-A0840D031850}" type="slidenum">
              <a:rPr lang="en-US" smtClean="0"/>
              <a:t>‹#›</a:t>
            </a:fld>
            <a:endParaRPr lang="en-US"/>
          </a:p>
        </p:txBody>
      </p:sp>
    </p:spTree>
    <p:extLst>
      <p:ext uri="{BB962C8B-B14F-4D97-AF65-F5344CB8AC3E}">
        <p14:creationId xmlns:p14="http://schemas.microsoft.com/office/powerpoint/2010/main" val="242660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034CBB-7E95-1C85-0F55-0D4963C87E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6C9862-39D9-72EF-0D79-2279832B8C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54F0C3-1EDC-7111-4B88-23F5450D07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98DF1C-7A93-48DD-B71F-3AAFDCA75CF7}" type="datetimeFigureOut">
              <a:rPr lang="en-US" smtClean="0"/>
              <a:t>4/18/2025</a:t>
            </a:fld>
            <a:endParaRPr lang="en-US"/>
          </a:p>
        </p:txBody>
      </p:sp>
      <p:sp>
        <p:nvSpPr>
          <p:cNvPr id="5" name="Footer Placeholder 4">
            <a:extLst>
              <a:ext uri="{FF2B5EF4-FFF2-40B4-BE49-F238E27FC236}">
                <a16:creationId xmlns:a16="http://schemas.microsoft.com/office/drawing/2014/main" id="{A0AD2745-3F3B-4C4F-8D71-398F0E80C0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639CDA-869C-5A5E-1463-E7462CD73E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8CC40F-177E-4998-B032-A0840D031850}" type="slidenum">
              <a:rPr lang="en-US" smtClean="0"/>
              <a:t>‹#›</a:t>
            </a:fld>
            <a:endParaRPr lang="en-US"/>
          </a:p>
        </p:txBody>
      </p:sp>
    </p:spTree>
    <p:extLst>
      <p:ext uri="{BB962C8B-B14F-4D97-AF65-F5344CB8AC3E}">
        <p14:creationId xmlns:p14="http://schemas.microsoft.com/office/powerpoint/2010/main" val="3805320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abs/1904.03323" TargetMode="External"/><Relationship Id="rId7" Type="http://schemas.openxmlformats.org/officeDocument/2006/relationships/hyperlink" Target="https://doi.org/10.1145/3404835.3463062"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physionet.org/content/mimic-iv-note/2.2/" TargetMode="External"/><Relationship Id="rId5" Type="http://schemas.openxmlformats.org/officeDocument/2006/relationships/hyperlink" Target="https://physionet.org/content/mimiciv/2.2/" TargetMode="External"/><Relationship Id="rId4" Type="http://schemas.openxmlformats.org/officeDocument/2006/relationships/hyperlink" Target="https://doi.org/10.3390/ijerph2004345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A6125F-B12A-66C5-76D7-8E5BDF240905}"/>
              </a:ext>
            </a:extLst>
          </p:cNvPr>
          <p:cNvSpPr>
            <a:spLocks noGrp="1"/>
          </p:cNvSpPr>
          <p:nvPr>
            <p:ph type="ctrTitle"/>
          </p:nvPr>
        </p:nvSpPr>
        <p:spPr>
          <a:xfrm>
            <a:off x="838199" y="1093788"/>
            <a:ext cx="10506455" cy="2967208"/>
          </a:xfrm>
        </p:spPr>
        <p:txBody>
          <a:bodyPr>
            <a:normAutofit/>
          </a:bodyPr>
          <a:lstStyle/>
          <a:p>
            <a:pPr algn="l"/>
            <a:r>
              <a:rPr lang="en-US" sz="4400" b="1" dirty="0">
                <a:effectLst/>
                <a:latin typeface="Tenorite Display" panose="00000500000000000000" pitchFamily="2" charset="0"/>
                <a:ea typeface="Aptos" panose="020B0004020202020204" pitchFamily="34" charset="0"/>
              </a:rPr>
              <a:t>Improving Patient Outcomes through Predictive Analytics: Predicting ICU Readmission Using NLP and AI Models.</a:t>
            </a:r>
            <a:br>
              <a:rPr lang="en-US" sz="4400" b="1" dirty="0">
                <a:effectLst/>
                <a:latin typeface="Tenorite Display" panose="00000500000000000000" pitchFamily="2" charset="0"/>
                <a:ea typeface="Aptos" panose="020B0004020202020204" pitchFamily="34" charset="0"/>
              </a:rPr>
            </a:br>
            <a:endParaRPr lang="en-US" sz="4400" b="1" dirty="0">
              <a:latin typeface="Tenorite Display" panose="00000500000000000000" pitchFamily="2" charset="0"/>
            </a:endParaRPr>
          </a:p>
        </p:txBody>
      </p:sp>
      <p:sp>
        <p:nvSpPr>
          <p:cNvPr id="3" name="Subtitle 2">
            <a:extLst>
              <a:ext uri="{FF2B5EF4-FFF2-40B4-BE49-F238E27FC236}">
                <a16:creationId xmlns:a16="http://schemas.microsoft.com/office/drawing/2014/main" id="{F5218435-958B-E703-DA69-61FBACFB752C}"/>
              </a:ext>
            </a:extLst>
          </p:cNvPr>
          <p:cNvSpPr>
            <a:spLocks noGrp="1"/>
          </p:cNvSpPr>
          <p:nvPr>
            <p:ph type="subTitle" idx="1"/>
          </p:nvPr>
        </p:nvSpPr>
        <p:spPr>
          <a:xfrm>
            <a:off x="7400924" y="4619624"/>
            <a:ext cx="3946779" cy="1603046"/>
          </a:xfrm>
        </p:spPr>
        <p:txBody>
          <a:bodyPr>
            <a:normAutofit fontScale="85000" lnSpcReduction="10000"/>
          </a:bodyPr>
          <a:lstStyle/>
          <a:p>
            <a:pPr algn="r"/>
            <a:r>
              <a:rPr lang="en-US" dirty="0">
                <a:latin typeface="Tenorite" panose="00000500000000000000" pitchFamily="2" charset="0"/>
              </a:rPr>
              <a:t>Michigan Technological University</a:t>
            </a:r>
          </a:p>
          <a:p>
            <a:pPr algn="r"/>
            <a:r>
              <a:rPr lang="en-US" dirty="0">
                <a:latin typeface="Tenorite" panose="00000500000000000000" pitchFamily="2" charset="0"/>
              </a:rPr>
              <a:t>Andrea Wroblewski</a:t>
            </a:r>
          </a:p>
          <a:p>
            <a:pPr algn="r"/>
            <a:r>
              <a:rPr lang="en-US" dirty="0">
                <a:latin typeface="Tenorite" panose="00000500000000000000" pitchFamily="2" charset="0"/>
              </a:rPr>
              <a:t>Group 1</a:t>
            </a:r>
          </a:p>
          <a:p>
            <a:pPr algn="r"/>
            <a:r>
              <a:rPr lang="en-US" dirty="0">
                <a:latin typeface="Tenorite" panose="00000500000000000000" pitchFamily="2" charset="0"/>
              </a:rPr>
              <a:t>April 2024</a:t>
            </a:r>
          </a:p>
        </p:txBody>
      </p:sp>
      <p:sp>
        <p:nvSpPr>
          <p:cNvPr id="13" name="Rectangle 12">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2791210954"/>
      </p:ext>
    </p:extLst>
  </p:cSld>
  <p:clrMapOvr>
    <a:masterClrMapping/>
  </p:clrMapOvr>
  <mc:AlternateContent xmlns:mc="http://schemas.openxmlformats.org/markup-compatibility/2006" xmlns:p14="http://schemas.microsoft.com/office/powerpoint/2010/main">
    <mc:Choice Requires="p14">
      <p:transition spd="slow" p14:dur="2000" advTm="15080"/>
    </mc:Choice>
    <mc:Fallback xmlns="">
      <p:transition spd="slow" advTm="15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5BA0BF-26E8-932E-30B8-8FA44B78EDAF}"/>
              </a:ext>
            </a:extLst>
          </p:cNvPr>
          <p:cNvSpPr>
            <a:spLocks noGrp="1"/>
          </p:cNvSpPr>
          <p:nvPr>
            <p:ph type="title"/>
          </p:nvPr>
        </p:nvSpPr>
        <p:spPr>
          <a:xfrm>
            <a:off x="686834" y="1153572"/>
            <a:ext cx="3200400" cy="4461163"/>
          </a:xfrm>
        </p:spPr>
        <p:txBody>
          <a:bodyPr>
            <a:normAutofit/>
          </a:bodyPr>
          <a:lstStyle/>
          <a:p>
            <a:r>
              <a:rPr lang="en-US" sz="8800" dirty="0">
                <a:solidFill>
                  <a:srgbClr val="FFFFFF"/>
                </a:solidFill>
                <a:latin typeface="Tenorite Display" panose="00000500000000000000" pitchFamily="2" charset="0"/>
              </a:rPr>
              <a:t>Goal</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D67C087-236B-38A1-41DA-4C9ED25C3F20}"/>
              </a:ext>
            </a:extLst>
          </p:cNvPr>
          <p:cNvSpPr>
            <a:spLocks noGrp="1"/>
          </p:cNvSpPr>
          <p:nvPr>
            <p:ph idx="1"/>
          </p:nvPr>
        </p:nvSpPr>
        <p:spPr>
          <a:xfrm>
            <a:off x="4447308" y="591344"/>
            <a:ext cx="6906491" cy="5585619"/>
          </a:xfrm>
        </p:spPr>
        <p:txBody>
          <a:bodyPr anchor="ctr">
            <a:normAutofit/>
          </a:bodyPr>
          <a:lstStyle/>
          <a:p>
            <a:pPr marL="0" indent="0">
              <a:buNone/>
            </a:pPr>
            <a:r>
              <a:rPr lang="en-US" dirty="0">
                <a:latin typeface="Tenorite" panose="00000500000000000000" pitchFamily="2" charset="0"/>
              </a:rPr>
              <a:t>The goal of this project is to develop and evaluate a predictive analytics model utilizing machine learning and natural language processing (NLP) techniques to accurately identify patients at risk of ICU readmission within 30 days</a:t>
            </a:r>
            <a:r>
              <a:rPr lang="en-US" dirty="0"/>
              <a:t>. </a:t>
            </a:r>
          </a:p>
        </p:txBody>
      </p:sp>
    </p:spTree>
    <p:extLst>
      <p:ext uri="{BB962C8B-B14F-4D97-AF65-F5344CB8AC3E}">
        <p14:creationId xmlns:p14="http://schemas.microsoft.com/office/powerpoint/2010/main" val="490556531"/>
      </p:ext>
    </p:extLst>
  </p:cSld>
  <p:clrMapOvr>
    <a:masterClrMapping/>
  </p:clrMapOvr>
  <mc:AlternateContent xmlns:mc="http://schemas.openxmlformats.org/markup-compatibility/2006" xmlns:p14="http://schemas.microsoft.com/office/powerpoint/2010/main">
    <mc:Choice Requires="p14">
      <p:transition spd="slow" p14:dur="2000" advTm="25285"/>
    </mc:Choice>
    <mc:Fallback xmlns="">
      <p:transition spd="slow" advTm="2528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A4F98A2-E74D-AC19-0DF0-90E39EBEB72D}"/>
              </a:ext>
            </a:extLst>
          </p:cNvPr>
          <p:cNvSpPr>
            <a:spLocks noGrp="1"/>
          </p:cNvSpPr>
          <p:nvPr>
            <p:ph type="title"/>
          </p:nvPr>
        </p:nvSpPr>
        <p:spPr>
          <a:xfrm>
            <a:off x="1115568" y="548640"/>
            <a:ext cx="10168128" cy="1179576"/>
          </a:xfrm>
        </p:spPr>
        <p:txBody>
          <a:bodyPr>
            <a:normAutofit/>
          </a:bodyPr>
          <a:lstStyle/>
          <a:p>
            <a:r>
              <a:rPr lang="en-US" sz="4000" b="1" dirty="0">
                <a:latin typeface="Tenorite Display" panose="00000500000000000000" pitchFamily="2" charset="0"/>
              </a:rPr>
              <a:t>Background</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3B98178-55EF-2137-5982-ABC0EE697653}"/>
              </a:ext>
            </a:extLst>
          </p:cNvPr>
          <p:cNvSpPr>
            <a:spLocks noGrp="1"/>
          </p:cNvSpPr>
          <p:nvPr>
            <p:ph idx="1"/>
          </p:nvPr>
        </p:nvSpPr>
        <p:spPr>
          <a:xfrm>
            <a:off x="498834" y="2018806"/>
            <a:ext cx="10168128" cy="3695020"/>
          </a:xfrm>
        </p:spPr>
        <p:txBody>
          <a:bodyPr>
            <a:normAutofit/>
          </a:bodyPr>
          <a:lstStyle/>
          <a:p>
            <a:r>
              <a:rPr lang="en-US" dirty="0">
                <a:latin typeface="Tenorite" panose="00000500000000000000" pitchFamily="2" charset="0"/>
              </a:rPr>
              <a:t>ICU readmissions occur in approximately 16% of cases within 30 days post-discharge, with significantly higher mortality rates (21–40%) compared to non-readmitted patients (3.6–8.4%). (</a:t>
            </a:r>
            <a:r>
              <a:rPr lang="en-US" dirty="0" err="1"/>
              <a:t>Sheetrit</a:t>
            </a:r>
            <a:r>
              <a:rPr lang="en-US" dirty="0"/>
              <a:t>, E. et al.,2023). </a:t>
            </a:r>
          </a:p>
          <a:p>
            <a:r>
              <a:rPr lang="en-US" dirty="0">
                <a:latin typeface="Tenorite" panose="00000500000000000000" pitchFamily="2" charset="0"/>
              </a:rPr>
              <a:t>These readmissions increase healthcare costs, strain resources, and highlight the need for early detection strategies (Rojas et al., 2018).</a:t>
            </a:r>
          </a:p>
        </p:txBody>
      </p:sp>
    </p:spTree>
    <p:extLst>
      <p:ext uri="{BB962C8B-B14F-4D97-AF65-F5344CB8AC3E}">
        <p14:creationId xmlns:p14="http://schemas.microsoft.com/office/powerpoint/2010/main" val="3706766569"/>
      </p:ext>
    </p:extLst>
  </p:cSld>
  <p:clrMapOvr>
    <a:masterClrMapping/>
  </p:clrMapOvr>
  <mc:AlternateContent xmlns:mc="http://schemas.openxmlformats.org/markup-compatibility/2006" xmlns:p14="http://schemas.microsoft.com/office/powerpoint/2010/main">
    <mc:Choice Requires="p14">
      <p:transition spd="slow" p14:dur="2000" advTm="33502"/>
    </mc:Choice>
    <mc:Fallback xmlns="">
      <p:transition spd="slow" advTm="3350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8184CFF9-D784-D455-CE28-CFE96751BDA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853E7BC-DDA6-824C-622F-AC77F1AE1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E00C0EDC-B9A2-087C-0F38-EABF1A165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512512D-AEAC-425A-80B7-B40C62293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A59D51-56BB-77B5-E6C8-CD110059E381}"/>
              </a:ext>
            </a:extLst>
          </p:cNvPr>
          <p:cNvSpPr>
            <a:spLocks noGrp="1"/>
          </p:cNvSpPr>
          <p:nvPr>
            <p:ph type="title"/>
          </p:nvPr>
        </p:nvSpPr>
        <p:spPr>
          <a:xfrm>
            <a:off x="1115568" y="548640"/>
            <a:ext cx="10168128" cy="1179576"/>
          </a:xfrm>
        </p:spPr>
        <p:txBody>
          <a:bodyPr>
            <a:normAutofit/>
          </a:bodyPr>
          <a:lstStyle/>
          <a:p>
            <a:r>
              <a:rPr lang="en-US" sz="4000" b="1" dirty="0">
                <a:latin typeface="Tenorite Display" panose="00000500000000000000" pitchFamily="2" charset="0"/>
              </a:rPr>
              <a:t>Literature Review</a:t>
            </a:r>
          </a:p>
        </p:txBody>
      </p:sp>
      <p:sp>
        <p:nvSpPr>
          <p:cNvPr id="14" name="Rectangle 13">
            <a:extLst>
              <a:ext uri="{FF2B5EF4-FFF2-40B4-BE49-F238E27FC236}">
                <a16:creationId xmlns:a16="http://schemas.microsoft.com/office/drawing/2014/main" id="{E88365EB-ED70-33A0-FB62-6CEDC44CC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7" name="Table 16">
            <a:extLst>
              <a:ext uri="{FF2B5EF4-FFF2-40B4-BE49-F238E27FC236}">
                <a16:creationId xmlns:a16="http://schemas.microsoft.com/office/drawing/2014/main" id="{91DC06ED-83BE-8B72-1FA4-470A6A24F371}"/>
              </a:ext>
            </a:extLst>
          </p:cNvPr>
          <p:cNvGraphicFramePr>
            <a:graphicFrameLocks noGrp="1"/>
          </p:cNvGraphicFramePr>
          <p:nvPr>
            <p:extLst>
              <p:ext uri="{D42A27DB-BD31-4B8C-83A1-F6EECF244321}">
                <p14:modId xmlns:p14="http://schemas.microsoft.com/office/powerpoint/2010/main" val="1639227780"/>
              </p:ext>
            </p:extLst>
          </p:nvPr>
        </p:nvGraphicFramePr>
        <p:xfrm>
          <a:off x="498835" y="1754406"/>
          <a:ext cx="11232492" cy="4418775"/>
        </p:xfrm>
        <a:graphic>
          <a:graphicData uri="http://schemas.openxmlformats.org/drawingml/2006/table">
            <a:tbl>
              <a:tblPr/>
              <a:tblGrid>
                <a:gridCol w="3744164">
                  <a:extLst>
                    <a:ext uri="{9D8B030D-6E8A-4147-A177-3AD203B41FA5}">
                      <a16:colId xmlns:a16="http://schemas.microsoft.com/office/drawing/2014/main" val="453480647"/>
                    </a:ext>
                  </a:extLst>
                </a:gridCol>
                <a:gridCol w="3744164">
                  <a:extLst>
                    <a:ext uri="{9D8B030D-6E8A-4147-A177-3AD203B41FA5}">
                      <a16:colId xmlns:a16="http://schemas.microsoft.com/office/drawing/2014/main" val="4161313896"/>
                    </a:ext>
                  </a:extLst>
                </a:gridCol>
                <a:gridCol w="3744164">
                  <a:extLst>
                    <a:ext uri="{9D8B030D-6E8A-4147-A177-3AD203B41FA5}">
                      <a16:colId xmlns:a16="http://schemas.microsoft.com/office/drawing/2014/main" val="1865688226"/>
                    </a:ext>
                  </a:extLst>
                </a:gridCol>
              </a:tblGrid>
              <a:tr h="235207">
                <a:tc>
                  <a:txBody>
                    <a:bodyPr/>
                    <a:lstStyle/>
                    <a:p>
                      <a:r>
                        <a:rPr lang="en-US" sz="1600" b="1" dirty="0">
                          <a:latin typeface="Tenorite Display" panose="00000500000000000000" pitchFamily="2" charset="0"/>
                        </a:rPr>
                        <a:t>Study / Model</a:t>
                      </a:r>
                      <a:endParaRPr lang="en-US" sz="1600" dirty="0">
                        <a:latin typeface="Tenorite Display" panose="00000500000000000000" pitchFamily="2" charset="0"/>
                      </a:endParaRPr>
                    </a:p>
                  </a:txBody>
                  <a:tcPr marL="58802" marR="58802" marT="29401" marB="29401" anchor="ctr">
                    <a:lnL>
                      <a:noFill/>
                    </a:lnL>
                    <a:lnR>
                      <a:noFill/>
                    </a:lnR>
                    <a:lnT>
                      <a:noFill/>
                    </a:lnT>
                    <a:lnB>
                      <a:noFill/>
                    </a:lnB>
                    <a:noFill/>
                  </a:tcPr>
                </a:tc>
                <a:tc>
                  <a:txBody>
                    <a:bodyPr/>
                    <a:lstStyle/>
                    <a:p>
                      <a:r>
                        <a:rPr lang="en-US" sz="1600" b="1" dirty="0">
                          <a:latin typeface="Tenorite Display" panose="00000500000000000000" pitchFamily="2" charset="0"/>
                        </a:rPr>
                        <a:t>Type</a:t>
                      </a:r>
                      <a:endParaRPr lang="en-US" sz="1600" dirty="0">
                        <a:latin typeface="Tenorite Display" panose="00000500000000000000" pitchFamily="2" charset="0"/>
                      </a:endParaRPr>
                    </a:p>
                  </a:txBody>
                  <a:tcPr marL="58802" marR="58802" marT="29401" marB="29401" anchor="ctr">
                    <a:lnL>
                      <a:noFill/>
                    </a:lnL>
                    <a:lnR>
                      <a:noFill/>
                    </a:lnR>
                    <a:lnT>
                      <a:noFill/>
                    </a:lnT>
                    <a:lnB>
                      <a:noFill/>
                    </a:lnB>
                    <a:noFill/>
                  </a:tcPr>
                </a:tc>
                <a:tc>
                  <a:txBody>
                    <a:bodyPr/>
                    <a:lstStyle/>
                    <a:p>
                      <a:r>
                        <a:rPr lang="en-US" sz="1600" b="1" dirty="0">
                          <a:latin typeface="Tenorite Display" panose="00000500000000000000" pitchFamily="2" charset="0"/>
                        </a:rPr>
                        <a:t>Key Findings</a:t>
                      </a:r>
                      <a:endParaRPr lang="en-US" sz="1600" dirty="0">
                        <a:latin typeface="Tenorite Display" panose="00000500000000000000" pitchFamily="2" charset="0"/>
                      </a:endParaRPr>
                    </a:p>
                  </a:txBody>
                  <a:tcPr marL="58802" marR="58802" marT="29401" marB="29401" anchor="ctr">
                    <a:lnL>
                      <a:noFill/>
                    </a:lnL>
                    <a:lnR>
                      <a:noFill/>
                    </a:lnR>
                    <a:lnT>
                      <a:noFill/>
                    </a:lnT>
                    <a:lnB>
                      <a:noFill/>
                    </a:lnB>
                    <a:noFill/>
                  </a:tcPr>
                </a:tc>
                <a:extLst>
                  <a:ext uri="{0D108BD9-81ED-4DB2-BD59-A6C34878D82A}">
                    <a16:rowId xmlns:a16="http://schemas.microsoft.com/office/drawing/2014/main" val="1686664936"/>
                  </a:ext>
                </a:extLst>
              </a:tr>
              <a:tr h="588019">
                <a:tc>
                  <a:txBody>
                    <a:bodyPr/>
                    <a:lstStyle/>
                    <a:p>
                      <a:r>
                        <a:rPr lang="en-US" sz="1400" b="0" dirty="0">
                          <a:latin typeface="Tenorite" panose="00000500000000000000" pitchFamily="2" charset="0"/>
                        </a:rPr>
                        <a:t>GBM (Rojas et al., 2018)</a:t>
                      </a:r>
                    </a:p>
                  </a:txBody>
                  <a:tcPr marL="58802" marR="58802" marT="29401" marB="29401" anchor="ctr">
                    <a:lnL>
                      <a:noFill/>
                    </a:lnL>
                    <a:lnR>
                      <a:noFill/>
                    </a:lnR>
                    <a:lnT>
                      <a:noFill/>
                    </a:lnT>
                    <a:lnB>
                      <a:noFill/>
                    </a:lnB>
                    <a:noFill/>
                  </a:tcPr>
                </a:tc>
                <a:tc>
                  <a:txBody>
                    <a:bodyPr/>
                    <a:lstStyle/>
                    <a:p>
                      <a:r>
                        <a:rPr lang="en-US" sz="1400" b="0">
                          <a:latin typeface="Tenorite" panose="00000500000000000000" pitchFamily="2" charset="0"/>
                        </a:rPr>
                        <a:t>Structured Data</a:t>
                      </a:r>
                    </a:p>
                  </a:txBody>
                  <a:tcPr marL="58802" marR="58802" marT="29401" marB="29401" anchor="ctr">
                    <a:lnL>
                      <a:noFill/>
                    </a:lnL>
                    <a:lnR>
                      <a:noFill/>
                    </a:lnR>
                    <a:lnT>
                      <a:noFill/>
                    </a:lnT>
                    <a:lnB>
                      <a:noFill/>
                    </a:lnB>
                    <a:noFill/>
                  </a:tcPr>
                </a:tc>
                <a:tc>
                  <a:txBody>
                    <a:bodyPr/>
                    <a:lstStyle/>
                    <a:p>
                      <a:r>
                        <a:rPr lang="en-US" sz="1400" b="0">
                          <a:latin typeface="Tenorite" panose="00000500000000000000" pitchFamily="2" charset="0"/>
                        </a:rPr>
                        <a:t>AUROC 0.76 using EHR features. Solid performance with traditional ML.</a:t>
                      </a:r>
                    </a:p>
                  </a:txBody>
                  <a:tcPr marL="58802" marR="58802" marT="29401" marB="29401" anchor="ctr">
                    <a:lnL>
                      <a:noFill/>
                    </a:lnL>
                    <a:lnR>
                      <a:noFill/>
                    </a:lnR>
                    <a:lnT>
                      <a:noFill/>
                    </a:lnT>
                    <a:lnB>
                      <a:noFill/>
                    </a:lnB>
                    <a:noFill/>
                  </a:tcPr>
                </a:tc>
                <a:extLst>
                  <a:ext uri="{0D108BD9-81ED-4DB2-BD59-A6C34878D82A}">
                    <a16:rowId xmlns:a16="http://schemas.microsoft.com/office/drawing/2014/main" val="1930454578"/>
                  </a:ext>
                </a:extLst>
              </a:tr>
              <a:tr h="588019">
                <a:tc>
                  <a:txBody>
                    <a:bodyPr/>
                    <a:lstStyle/>
                    <a:p>
                      <a:r>
                        <a:rPr lang="fr-FR" sz="1400" b="0" dirty="0" err="1">
                          <a:latin typeface="Tenorite" panose="00000500000000000000" pitchFamily="2" charset="0"/>
                        </a:rPr>
                        <a:t>Discharge</a:t>
                      </a:r>
                      <a:r>
                        <a:rPr lang="fr-FR" sz="1400" b="0" dirty="0">
                          <a:latin typeface="Tenorite" panose="00000500000000000000" pitchFamily="2" charset="0"/>
                        </a:rPr>
                        <a:t> Notes (</a:t>
                      </a:r>
                      <a:r>
                        <a:rPr lang="fr-FR" sz="1400" b="0" dirty="0" err="1">
                          <a:latin typeface="Tenorite" panose="00000500000000000000" pitchFamily="2" charset="0"/>
                        </a:rPr>
                        <a:t>Sheetrit</a:t>
                      </a:r>
                      <a:r>
                        <a:rPr lang="fr-FR" sz="1400" b="0" dirty="0">
                          <a:latin typeface="Tenorite" panose="00000500000000000000" pitchFamily="2" charset="0"/>
                        </a:rPr>
                        <a:t> et al., 2023)</a:t>
                      </a:r>
                    </a:p>
                  </a:txBody>
                  <a:tcPr marL="58802" marR="58802" marT="29401" marB="29401" anchor="ctr">
                    <a:lnL>
                      <a:noFill/>
                    </a:lnL>
                    <a:lnR>
                      <a:noFill/>
                    </a:lnR>
                    <a:lnT>
                      <a:noFill/>
                    </a:lnT>
                    <a:lnB>
                      <a:noFill/>
                    </a:lnB>
                    <a:noFill/>
                  </a:tcPr>
                </a:tc>
                <a:tc>
                  <a:txBody>
                    <a:bodyPr/>
                    <a:lstStyle/>
                    <a:p>
                      <a:r>
                        <a:rPr lang="en-US" sz="1400" b="0" dirty="0">
                          <a:latin typeface="Tenorite" panose="00000500000000000000" pitchFamily="2" charset="0"/>
                        </a:rPr>
                        <a:t>Unstructured Text</a:t>
                      </a:r>
                    </a:p>
                  </a:txBody>
                  <a:tcPr marL="58802" marR="58802" marT="29401" marB="29401" anchor="ctr">
                    <a:lnL>
                      <a:noFill/>
                    </a:lnL>
                    <a:lnR>
                      <a:noFill/>
                    </a:lnR>
                    <a:lnT>
                      <a:noFill/>
                    </a:lnT>
                    <a:lnB>
                      <a:noFill/>
                    </a:lnB>
                    <a:noFill/>
                  </a:tcPr>
                </a:tc>
                <a:tc>
                  <a:txBody>
                    <a:bodyPr/>
                    <a:lstStyle/>
                    <a:p>
                      <a:r>
                        <a:rPr lang="en-US" sz="1400" b="0" dirty="0">
                          <a:latin typeface="Tenorite" panose="00000500000000000000" pitchFamily="2" charset="0"/>
                        </a:rPr>
                        <a:t>Text-based notes outperformed structured data, showing richer clinical signals.</a:t>
                      </a:r>
                    </a:p>
                  </a:txBody>
                  <a:tcPr marL="58802" marR="58802" marT="29401" marB="29401" anchor="ctr">
                    <a:lnL>
                      <a:noFill/>
                    </a:lnL>
                    <a:lnR>
                      <a:noFill/>
                    </a:lnR>
                    <a:lnT>
                      <a:noFill/>
                    </a:lnT>
                    <a:lnB>
                      <a:noFill/>
                    </a:lnB>
                    <a:noFill/>
                  </a:tcPr>
                </a:tc>
                <a:extLst>
                  <a:ext uri="{0D108BD9-81ED-4DB2-BD59-A6C34878D82A}">
                    <a16:rowId xmlns:a16="http://schemas.microsoft.com/office/drawing/2014/main" val="2974469094"/>
                  </a:ext>
                </a:extLst>
              </a:tr>
              <a:tr h="588019">
                <a:tc>
                  <a:txBody>
                    <a:bodyPr/>
                    <a:lstStyle/>
                    <a:p>
                      <a:r>
                        <a:rPr lang="da-DK" sz="1400" dirty="0">
                          <a:latin typeface="Tenorite" panose="00000500000000000000" pitchFamily="2" charset="0"/>
                        </a:rPr>
                        <a:t>Text-Based NLP Model (Orangi-Fard et al., 2022)</a:t>
                      </a:r>
                      <a:endParaRPr lang="en-US" sz="1400" b="0" dirty="0">
                        <a:latin typeface="Tenorite" panose="00000500000000000000" pitchFamily="2" charset="0"/>
                      </a:endParaRPr>
                    </a:p>
                  </a:txBody>
                  <a:tcPr marL="58802" marR="58802" marT="29401" marB="29401" anchor="ctr">
                    <a:lnL>
                      <a:noFill/>
                    </a:lnL>
                    <a:lnR>
                      <a:noFill/>
                    </a:lnR>
                    <a:lnT>
                      <a:noFill/>
                    </a:lnT>
                    <a:lnB>
                      <a:noFill/>
                    </a:lnB>
                    <a:noFill/>
                  </a:tcPr>
                </a:tc>
                <a:tc>
                  <a:txBody>
                    <a:bodyPr/>
                    <a:lstStyle/>
                    <a:p>
                      <a:r>
                        <a:rPr lang="en-US" sz="1400" dirty="0">
                          <a:latin typeface="Tenorite" panose="00000500000000000000" pitchFamily="2" charset="0"/>
                        </a:rPr>
                        <a:t>Unstructured Text</a:t>
                      </a:r>
                      <a:endParaRPr lang="en-US" sz="1400" b="0" dirty="0">
                        <a:latin typeface="Tenorite" panose="00000500000000000000" pitchFamily="2" charset="0"/>
                      </a:endParaRPr>
                    </a:p>
                  </a:txBody>
                  <a:tcPr marL="58802" marR="58802" marT="29401" marB="29401" anchor="ctr">
                    <a:lnL>
                      <a:noFill/>
                    </a:lnL>
                    <a:lnR>
                      <a:noFill/>
                    </a:lnR>
                    <a:lnT>
                      <a:noFill/>
                    </a:lnT>
                    <a:lnB>
                      <a:noFill/>
                    </a:lnB>
                    <a:noFill/>
                  </a:tcPr>
                </a:tc>
                <a:tc>
                  <a:txBody>
                    <a:bodyPr/>
                    <a:lstStyle/>
                    <a:p>
                      <a:r>
                        <a:rPr lang="en-US" sz="1400" b="0" dirty="0">
                          <a:latin typeface="Tenorite" panose="00000500000000000000" pitchFamily="2" charset="0"/>
                        </a:rPr>
                        <a:t>AUROC improved from 0.71 to 0.74 after feature selection (825 words) using SVM-RBF</a:t>
                      </a:r>
                    </a:p>
                  </a:txBody>
                  <a:tcPr marL="58802" marR="58802" marT="29401" marB="29401" anchor="ctr">
                    <a:lnL>
                      <a:noFill/>
                    </a:lnL>
                    <a:lnR>
                      <a:noFill/>
                    </a:lnR>
                    <a:lnT>
                      <a:noFill/>
                    </a:lnT>
                    <a:lnB>
                      <a:noFill/>
                    </a:lnB>
                    <a:noFill/>
                  </a:tcPr>
                </a:tc>
                <a:extLst>
                  <a:ext uri="{0D108BD9-81ED-4DB2-BD59-A6C34878D82A}">
                    <a16:rowId xmlns:a16="http://schemas.microsoft.com/office/drawing/2014/main" val="3029999762"/>
                  </a:ext>
                </a:extLst>
              </a:tr>
              <a:tr h="588019">
                <a:tc>
                  <a:txBody>
                    <a:bodyPr/>
                    <a:lstStyle/>
                    <a:p>
                      <a:r>
                        <a:rPr lang="en-US" sz="1400" b="0" dirty="0" err="1">
                          <a:latin typeface="Tenorite" panose="00000500000000000000" pitchFamily="2" charset="0"/>
                        </a:rPr>
                        <a:t>BERTopic</a:t>
                      </a:r>
                      <a:r>
                        <a:rPr lang="en-US" sz="1400" b="0" dirty="0">
                          <a:latin typeface="Tenorite" panose="00000500000000000000" pitchFamily="2" charset="0"/>
                        </a:rPr>
                        <a:t> + LSTM (Chiu et al., 2024)</a:t>
                      </a:r>
                    </a:p>
                  </a:txBody>
                  <a:tcPr marL="58802" marR="58802" marT="29401" marB="29401" anchor="ctr">
                    <a:lnL>
                      <a:noFill/>
                    </a:lnL>
                    <a:lnR>
                      <a:noFill/>
                    </a:lnR>
                    <a:lnT>
                      <a:noFill/>
                    </a:lnT>
                    <a:lnB>
                      <a:noFill/>
                    </a:lnB>
                    <a:noFill/>
                  </a:tcPr>
                </a:tc>
                <a:tc>
                  <a:txBody>
                    <a:bodyPr/>
                    <a:lstStyle/>
                    <a:p>
                      <a:r>
                        <a:rPr lang="en-US" sz="1400" b="0" dirty="0">
                          <a:latin typeface="Tenorite" panose="00000500000000000000" pitchFamily="2" charset="0"/>
                        </a:rPr>
                        <a:t>Unstructured Text</a:t>
                      </a:r>
                    </a:p>
                  </a:txBody>
                  <a:tcPr marL="58802" marR="58802" marT="29401" marB="29401" anchor="ctr">
                    <a:lnL>
                      <a:noFill/>
                    </a:lnL>
                    <a:lnR>
                      <a:noFill/>
                    </a:lnR>
                    <a:lnT>
                      <a:noFill/>
                    </a:lnT>
                    <a:lnB>
                      <a:noFill/>
                    </a:lnB>
                    <a:noFill/>
                  </a:tcPr>
                </a:tc>
                <a:tc>
                  <a:txBody>
                    <a:bodyPr/>
                    <a:lstStyle/>
                    <a:p>
                      <a:r>
                        <a:rPr lang="en-US" sz="1400" b="0" dirty="0">
                          <a:latin typeface="Tenorite" panose="00000500000000000000" pitchFamily="2" charset="0"/>
                        </a:rPr>
                        <a:t>Leveraged topic modeling + LSTM to extract semantic patterns from notes.</a:t>
                      </a:r>
                    </a:p>
                  </a:txBody>
                  <a:tcPr marL="58802" marR="58802" marT="29401" marB="29401" anchor="ctr">
                    <a:lnL>
                      <a:noFill/>
                    </a:lnL>
                    <a:lnR>
                      <a:noFill/>
                    </a:lnR>
                    <a:lnT>
                      <a:noFill/>
                    </a:lnT>
                    <a:lnB>
                      <a:noFill/>
                    </a:lnB>
                    <a:noFill/>
                  </a:tcPr>
                </a:tc>
                <a:extLst>
                  <a:ext uri="{0D108BD9-81ED-4DB2-BD59-A6C34878D82A}">
                    <a16:rowId xmlns:a16="http://schemas.microsoft.com/office/drawing/2014/main" val="1820642392"/>
                  </a:ext>
                </a:extLst>
              </a:tr>
              <a:tr h="588019">
                <a:tc>
                  <a:txBody>
                    <a:bodyPr/>
                    <a:lstStyle/>
                    <a:p>
                      <a:r>
                        <a:rPr lang="es-ES" sz="1400" b="0">
                          <a:latin typeface="Tenorite" panose="00000500000000000000" pitchFamily="2" charset="0"/>
                        </a:rPr>
                        <a:t>Optimized XGBoost (González-Nóvoa et al., 2023)</a:t>
                      </a:r>
                    </a:p>
                  </a:txBody>
                  <a:tcPr marL="58802" marR="58802" marT="29401" marB="29401" anchor="ctr">
                    <a:lnL>
                      <a:noFill/>
                    </a:lnL>
                    <a:lnR>
                      <a:noFill/>
                    </a:lnR>
                    <a:lnT>
                      <a:noFill/>
                    </a:lnT>
                    <a:lnB>
                      <a:noFill/>
                    </a:lnB>
                    <a:noFill/>
                  </a:tcPr>
                </a:tc>
                <a:tc>
                  <a:txBody>
                    <a:bodyPr/>
                    <a:lstStyle/>
                    <a:p>
                      <a:r>
                        <a:rPr lang="en-US" sz="1400" b="0">
                          <a:latin typeface="Tenorite" panose="00000500000000000000" pitchFamily="2" charset="0"/>
                        </a:rPr>
                        <a:t>Structured Data</a:t>
                      </a:r>
                    </a:p>
                  </a:txBody>
                  <a:tcPr marL="58802" marR="58802" marT="29401" marB="29401" anchor="ctr">
                    <a:lnL>
                      <a:noFill/>
                    </a:lnL>
                    <a:lnR>
                      <a:noFill/>
                    </a:lnR>
                    <a:lnT>
                      <a:noFill/>
                    </a:lnT>
                    <a:lnB>
                      <a:noFill/>
                    </a:lnB>
                    <a:noFill/>
                  </a:tcPr>
                </a:tc>
                <a:tc>
                  <a:txBody>
                    <a:bodyPr/>
                    <a:lstStyle/>
                    <a:p>
                      <a:r>
                        <a:rPr lang="en-US" sz="1400" b="0" dirty="0">
                          <a:latin typeface="Tenorite" panose="00000500000000000000" pitchFamily="2" charset="0"/>
                        </a:rPr>
                        <a:t>Achieved AUROC 0.92, showing benefits of hyperparameter tuning.</a:t>
                      </a:r>
                    </a:p>
                  </a:txBody>
                  <a:tcPr marL="58802" marR="58802" marT="29401" marB="29401" anchor="ctr">
                    <a:lnL>
                      <a:noFill/>
                    </a:lnL>
                    <a:lnR>
                      <a:noFill/>
                    </a:lnR>
                    <a:lnT>
                      <a:noFill/>
                    </a:lnT>
                    <a:lnB>
                      <a:noFill/>
                    </a:lnB>
                    <a:noFill/>
                  </a:tcPr>
                </a:tc>
                <a:extLst>
                  <a:ext uri="{0D108BD9-81ED-4DB2-BD59-A6C34878D82A}">
                    <a16:rowId xmlns:a16="http://schemas.microsoft.com/office/drawing/2014/main" val="428045110"/>
                  </a:ext>
                </a:extLst>
              </a:tr>
              <a:tr h="588019">
                <a:tc>
                  <a:txBody>
                    <a:bodyPr/>
                    <a:lstStyle/>
                    <a:p>
                      <a:r>
                        <a:rPr lang="en-US" sz="1400" b="0">
                          <a:latin typeface="Tenorite" panose="00000500000000000000" pitchFamily="2" charset="0"/>
                        </a:rPr>
                        <a:t>ClinicalBERT (Alsentzer et al., 2019)</a:t>
                      </a:r>
                    </a:p>
                  </a:txBody>
                  <a:tcPr marL="58802" marR="58802" marT="29401" marB="29401" anchor="ctr">
                    <a:lnL>
                      <a:noFill/>
                    </a:lnL>
                    <a:lnR>
                      <a:noFill/>
                    </a:lnR>
                    <a:lnT>
                      <a:noFill/>
                    </a:lnT>
                    <a:lnB>
                      <a:noFill/>
                    </a:lnB>
                    <a:noFill/>
                  </a:tcPr>
                </a:tc>
                <a:tc>
                  <a:txBody>
                    <a:bodyPr/>
                    <a:lstStyle/>
                    <a:p>
                      <a:r>
                        <a:rPr lang="en-US" sz="1400" b="0">
                          <a:latin typeface="Tenorite" panose="00000500000000000000" pitchFamily="2" charset="0"/>
                        </a:rPr>
                        <a:t>Unstructured Text (MIMIC)</a:t>
                      </a:r>
                    </a:p>
                  </a:txBody>
                  <a:tcPr marL="58802" marR="58802" marT="29401" marB="29401" anchor="ctr">
                    <a:lnL>
                      <a:noFill/>
                    </a:lnL>
                    <a:lnR>
                      <a:noFill/>
                    </a:lnR>
                    <a:lnT>
                      <a:noFill/>
                    </a:lnT>
                    <a:lnB>
                      <a:noFill/>
                    </a:lnB>
                    <a:noFill/>
                  </a:tcPr>
                </a:tc>
                <a:tc>
                  <a:txBody>
                    <a:bodyPr/>
                    <a:lstStyle/>
                    <a:p>
                      <a:r>
                        <a:rPr lang="en-US" sz="1400" b="0" dirty="0">
                          <a:latin typeface="Tenorite" panose="00000500000000000000" pitchFamily="2" charset="0"/>
                        </a:rPr>
                        <a:t>Outperformed </a:t>
                      </a:r>
                      <a:r>
                        <a:rPr lang="en-US" sz="1400" b="0" dirty="0" err="1">
                          <a:latin typeface="Tenorite" panose="00000500000000000000" pitchFamily="2" charset="0"/>
                        </a:rPr>
                        <a:t>BioBERT</a:t>
                      </a:r>
                      <a:r>
                        <a:rPr lang="en-US" sz="1400" b="0" dirty="0">
                          <a:latin typeface="Tenorite" panose="00000500000000000000" pitchFamily="2" charset="0"/>
                        </a:rPr>
                        <a:t> and general BERT by capturing domain-specific context.</a:t>
                      </a:r>
                    </a:p>
                  </a:txBody>
                  <a:tcPr marL="58802" marR="58802" marT="29401" marB="29401" anchor="ctr">
                    <a:lnL>
                      <a:noFill/>
                    </a:lnL>
                    <a:lnR>
                      <a:noFill/>
                    </a:lnR>
                    <a:lnT>
                      <a:noFill/>
                    </a:lnT>
                    <a:lnB>
                      <a:noFill/>
                    </a:lnB>
                    <a:noFill/>
                  </a:tcPr>
                </a:tc>
                <a:extLst>
                  <a:ext uri="{0D108BD9-81ED-4DB2-BD59-A6C34878D82A}">
                    <a16:rowId xmlns:a16="http://schemas.microsoft.com/office/drawing/2014/main" val="4181858307"/>
                  </a:ext>
                </a:extLst>
              </a:tr>
              <a:tr h="588019">
                <a:tc>
                  <a:txBody>
                    <a:bodyPr/>
                    <a:lstStyle/>
                    <a:p>
                      <a:r>
                        <a:rPr lang="da-DK" sz="1400" b="0">
                          <a:latin typeface="Tenorite" panose="00000500000000000000" pitchFamily="2" charset="0"/>
                        </a:rPr>
                        <a:t>MedText (Lu et al., 2021)</a:t>
                      </a:r>
                    </a:p>
                  </a:txBody>
                  <a:tcPr marL="58802" marR="58802" marT="29401" marB="29401" anchor="ctr">
                    <a:lnL>
                      <a:noFill/>
                    </a:lnL>
                    <a:lnR>
                      <a:noFill/>
                    </a:lnR>
                    <a:lnT>
                      <a:noFill/>
                    </a:lnT>
                    <a:lnB>
                      <a:noFill/>
                    </a:lnB>
                    <a:noFill/>
                  </a:tcPr>
                </a:tc>
                <a:tc>
                  <a:txBody>
                    <a:bodyPr/>
                    <a:lstStyle/>
                    <a:p>
                      <a:r>
                        <a:rPr lang="en-US" sz="1400" b="0">
                          <a:latin typeface="Tenorite" panose="00000500000000000000" pitchFamily="2" charset="0"/>
                        </a:rPr>
                        <a:t>Hybrid (Text + Knowledge Graph)</a:t>
                      </a:r>
                    </a:p>
                  </a:txBody>
                  <a:tcPr marL="58802" marR="58802" marT="29401" marB="29401" anchor="ctr">
                    <a:lnL>
                      <a:noFill/>
                    </a:lnL>
                    <a:lnR>
                      <a:noFill/>
                    </a:lnR>
                    <a:lnT>
                      <a:noFill/>
                    </a:lnT>
                    <a:lnB>
                      <a:noFill/>
                    </a:lnB>
                    <a:noFill/>
                  </a:tcPr>
                </a:tc>
                <a:tc>
                  <a:txBody>
                    <a:bodyPr/>
                    <a:lstStyle/>
                    <a:p>
                      <a:r>
                        <a:rPr lang="en-US" sz="1400" b="0" dirty="0">
                          <a:latin typeface="Tenorite" panose="00000500000000000000" pitchFamily="2" charset="0"/>
                        </a:rPr>
                        <a:t>AUROC 0.825 by combining discharge summaries with UMLS knowledge graphs.</a:t>
                      </a:r>
                    </a:p>
                  </a:txBody>
                  <a:tcPr marL="58802" marR="58802" marT="29401" marB="29401" anchor="ctr">
                    <a:lnL>
                      <a:noFill/>
                    </a:lnL>
                    <a:lnR>
                      <a:noFill/>
                    </a:lnR>
                    <a:lnT>
                      <a:noFill/>
                    </a:lnT>
                    <a:lnB>
                      <a:noFill/>
                    </a:lnB>
                    <a:noFill/>
                  </a:tcPr>
                </a:tc>
                <a:extLst>
                  <a:ext uri="{0D108BD9-81ED-4DB2-BD59-A6C34878D82A}">
                    <a16:rowId xmlns:a16="http://schemas.microsoft.com/office/drawing/2014/main" val="1024355687"/>
                  </a:ext>
                </a:extLst>
              </a:tr>
            </a:tbl>
          </a:graphicData>
        </a:graphic>
      </p:graphicFrame>
    </p:spTree>
    <p:extLst>
      <p:ext uri="{BB962C8B-B14F-4D97-AF65-F5344CB8AC3E}">
        <p14:creationId xmlns:p14="http://schemas.microsoft.com/office/powerpoint/2010/main" val="3307836636"/>
      </p:ext>
    </p:extLst>
  </p:cSld>
  <p:clrMapOvr>
    <a:masterClrMapping/>
  </p:clrMapOvr>
  <mc:AlternateContent xmlns:mc="http://schemas.openxmlformats.org/markup-compatibility/2006" xmlns:p14="http://schemas.microsoft.com/office/powerpoint/2010/main">
    <mc:Choice Requires="p14">
      <p:transition spd="slow" p14:dur="2000" advTm="19125"/>
    </mc:Choice>
    <mc:Fallback xmlns="">
      <p:transition spd="slow" advTm="1912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EA1DD3-715C-63F6-8ECF-0D944F573A82}"/>
              </a:ext>
            </a:extLst>
          </p:cNvPr>
          <p:cNvSpPr>
            <a:spLocks noGrp="1"/>
          </p:cNvSpPr>
          <p:nvPr>
            <p:ph type="title"/>
          </p:nvPr>
        </p:nvSpPr>
        <p:spPr>
          <a:xfrm>
            <a:off x="686833" y="591344"/>
            <a:ext cx="3338901" cy="5585619"/>
          </a:xfrm>
        </p:spPr>
        <p:txBody>
          <a:bodyPr>
            <a:normAutofit/>
          </a:bodyPr>
          <a:lstStyle/>
          <a:p>
            <a:r>
              <a:rPr lang="en-US" sz="5400" b="1" dirty="0">
                <a:solidFill>
                  <a:srgbClr val="FFFFFF"/>
                </a:solidFill>
                <a:latin typeface="Tenorite Display" panose="00000500000000000000" pitchFamily="2" charset="0"/>
              </a:rPr>
              <a:t>Data Sets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F8783D2-EBC6-746E-7CCA-E09E962F24D5}"/>
              </a:ext>
            </a:extLst>
          </p:cNvPr>
          <p:cNvSpPr>
            <a:spLocks noGrp="1"/>
          </p:cNvSpPr>
          <p:nvPr>
            <p:ph idx="1"/>
          </p:nvPr>
        </p:nvSpPr>
        <p:spPr>
          <a:xfrm>
            <a:off x="4447308" y="591344"/>
            <a:ext cx="6906491" cy="5585619"/>
          </a:xfrm>
        </p:spPr>
        <p:txBody>
          <a:bodyPr anchor="ctr">
            <a:normAutofit/>
          </a:bodyPr>
          <a:lstStyle/>
          <a:p>
            <a:r>
              <a:rPr lang="en-US" b="1" dirty="0">
                <a:latin typeface="Tenorite" panose="00000500000000000000" pitchFamily="2" charset="0"/>
              </a:rPr>
              <a:t>MIMIC-IV</a:t>
            </a:r>
          </a:p>
          <a:p>
            <a:pPr lvl="1"/>
            <a:r>
              <a:rPr lang="en-US" sz="2800" dirty="0">
                <a:latin typeface="Tenorite" panose="00000500000000000000" pitchFamily="2" charset="0"/>
              </a:rPr>
              <a:t>Version: 2.2 </a:t>
            </a:r>
          </a:p>
          <a:p>
            <a:pPr lvl="1"/>
            <a:r>
              <a:rPr lang="en-US" sz="2800" dirty="0">
                <a:latin typeface="Tenorite" panose="00000500000000000000" pitchFamily="2" charset="0"/>
              </a:rPr>
              <a:t>https://physionet.org/content/mimiciv/2.2/</a:t>
            </a:r>
          </a:p>
          <a:p>
            <a:r>
              <a:rPr lang="en-US" b="1" dirty="0">
                <a:latin typeface="Tenorite" panose="00000500000000000000" pitchFamily="2" charset="0"/>
              </a:rPr>
              <a:t>MIMIC-IV-Note: Deidentified free-text clinical notes</a:t>
            </a:r>
          </a:p>
          <a:p>
            <a:pPr lvl="1"/>
            <a:r>
              <a:rPr lang="en-US" sz="2800" dirty="0">
                <a:latin typeface="Tenorite" panose="00000500000000000000" pitchFamily="2" charset="0"/>
              </a:rPr>
              <a:t>Version: 2.2 </a:t>
            </a:r>
          </a:p>
          <a:p>
            <a:pPr lvl="1"/>
            <a:r>
              <a:rPr lang="en-US" sz="2800" dirty="0">
                <a:latin typeface="Tenorite" panose="00000500000000000000" pitchFamily="2" charset="0"/>
              </a:rPr>
              <a:t>https://physionet.org/content/mimic-iv-note/2.2/</a:t>
            </a:r>
          </a:p>
          <a:p>
            <a:endParaRPr lang="en-US" dirty="0"/>
          </a:p>
        </p:txBody>
      </p:sp>
    </p:spTree>
    <p:extLst>
      <p:ext uri="{BB962C8B-B14F-4D97-AF65-F5344CB8AC3E}">
        <p14:creationId xmlns:p14="http://schemas.microsoft.com/office/powerpoint/2010/main" val="1479890342"/>
      </p:ext>
    </p:extLst>
  </p:cSld>
  <p:clrMapOvr>
    <a:masterClrMapping/>
  </p:clrMapOvr>
  <mc:AlternateContent xmlns:mc="http://schemas.openxmlformats.org/markup-compatibility/2006" xmlns:p14="http://schemas.microsoft.com/office/powerpoint/2010/main">
    <mc:Choice Requires="p14">
      <p:transition spd="slow" p14:dur="2000" advTm="33485"/>
    </mc:Choice>
    <mc:Fallback xmlns="">
      <p:transition spd="slow" advTm="33485"/>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CF4E6791-539E-8D07-88BE-655559E6566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7836B0-4828-FD33-120D-A652A2C0E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9672EB6-2AAC-85B8-0D84-0CF34B2CB1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74C48D82-3E1F-AB43-3184-9EE99AB45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77E43E-34D4-AE5D-3795-526C43AF1282}"/>
              </a:ext>
            </a:extLst>
          </p:cNvPr>
          <p:cNvSpPr>
            <a:spLocks noGrp="1"/>
          </p:cNvSpPr>
          <p:nvPr>
            <p:ph type="title"/>
          </p:nvPr>
        </p:nvSpPr>
        <p:spPr>
          <a:xfrm>
            <a:off x="1115568" y="548640"/>
            <a:ext cx="10168128" cy="1179576"/>
          </a:xfrm>
        </p:spPr>
        <p:txBody>
          <a:bodyPr>
            <a:normAutofit/>
          </a:bodyPr>
          <a:lstStyle/>
          <a:p>
            <a:r>
              <a:rPr lang="en-US" sz="4000" b="1" dirty="0">
                <a:latin typeface="Tenorite Display" panose="020F0502020204030204" pitchFamily="2" charset="0"/>
              </a:rPr>
              <a:t>Models Used</a:t>
            </a:r>
          </a:p>
        </p:txBody>
      </p:sp>
      <p:sp>
        <p:nvSpPr>
          <p:cNvPr id="14" name="Rectangle 13">
            <a:extLst>
              <a:ext uri="{FF2B5EF4-FFF2-40B4-BE49-F238E27FC236}">
                <a16:creationId xmlns:a16="http://schemas.microsoft.com/office/drawing/2014/main" id="{C24DC2D0-49BB-ED84-8460-EDFD402DA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6E7DA4E7-0404-41AC-C8DA-C4F6FE0A5075}"/>
              </a:ext>
            </a:extLst>
          </p:cNvPr>
          <p:cNvSpPr>
            <a:spLocks noGrp="1"/>
          </p:cNvSpPr>
          <p:nvPr>
            <p:ph idx="1"/>
          </p:nvPr>
        </p:nvSpPr>
        <p:spPr>
          <a:xfrm>
            <a:off x="498834" y="2037382"/>
            <a:ext cx="10515600" cy="511488"/>
          </a:xfrm>
        </p:spPr>
        <p:txBody>
          <a:bodyPr/>
          <a:lstStyle/>
          <a:p>
            <a:r>
              <a:rPr lang="en-US" b="1" dirty="0">
                <a:latin typeface="Tenorite" panose="00000500000000000000" pitchFamily="2" charset="0"/>
              </a:rPr>
              <a:t>Random Forest Classifier</a:t>
            </a:r>
          </a:p>
        </p:txBody>
      </p:sp>
      <p:pic>
        <p:nvPicPr>
          <p:cNvPr id="6" name="Picture 5" descr="A diagram of a forest classifier&#10;&#10;AI-generated content may be incorrect.">
            <a:extLst>
              <a:ext uri="{FF2B5EF4-FFF2-40B4-BE49-F238E27FC236}">
                <a16:creationId xmlns:a16="http://schemas.microsoft.com/office/drawing/2014/main" id="{D2CF33E7-E109-3985-2B66-A41E5D4219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9632" y="333974"/>
            <a:ext cx="4776700" cy="2686894"/>
          </a:xfrm>
          <a:prstGeom prst="rect">
            <a:avLst/>
          </a:prstGeom>
        </p:spPr>
      </p:pic>
      <p:sp>
        <p:nvSpPr>
          <p:cNvPr id="9" name="Content Placeholder 4">
            <a:extLst>
              <a:ext uri="{FF2B5EF4-FFF2-40B4-BE49-F238E27FC236}">
                <a16:creationId xmlns:a16="http://schemas.microsoft.com/office/drawing/2014/main" id="{C7B23E25-4ECB-C9CE-69B6-B3826D87FCE3}"/>
              </a:ext>
            </a:extLst>
          </p:cNvPr>
          <p:cNvSpPr txBox="1">
            <a:spLocks/>
          </p:cNvSpPr>
          <p:nvPr/>
        </p:nvSpPr>
        <p:spPr>
          <a:xfrm>
            <a:off x="498834" y="2806900"/>
            <a:ext cx="10515600" cy="10146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latin typeface="Tenorite" panose="00000500000000000000" pitchFamily="2" charset="0"/>
              </a:rPr>
              <a:t>SMOTE</a:t>
            </a:r>
          </a:p>
          <a:p>
            <a:pPr lvl="1"/>
            <a:r>
              <a:rPr lang="en-US" dirty="0"/>
              <a:t>Synthetic Minority Over-sampling Technique</a:t>
            </a:r>
            <a:endParaRPr lang="en-US" dirty="0">
              <a:latin typeface="Tenorite" panose="00000500000000000000" pitchFamily="2" charset="0"/>
            </a:endParaRPr>
          </a:p>
        </p:txBody>
      </p:sp>
      <p:sp>
        <p:nvSpPr>
          <p:cNvPr id="11" name="Content Placeholder 4">
            <a:extLst>
              <a:ext uri="{FF2B5EF4-FFF2-40B4-BE49-F238E27FC236}">
                <a16:creationId xmlns:a16="http://schemas.microsoft.com/office/drawing/2014/main" id="{0430B9F3-895B-FED4-7B3D-E54A1C664C47}"/>
              </a:ext>
            </a:extLst>
          </p:cNvPr>
          <p:cNvSpPr txBox="1">
            <a:spLocks/>
          </p:cNvSpPr>
          <p:nvPr/>
        </p:nvSpPr>
        <p:spPr>
          <a:xfrm>
            <a:off x="498834" y="3934347"/>
            <a:ext cx="10515600" cy="10146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err="1">
                <a:latin typeface="Tenorite" panose="00000500000000000000" pitchFamily="2" charset="0"/>
              </a:rPr>
              <a:t>XGBoost</a:t>
            </a:r>
            <a:r>
              <a:rPr lang="en-US" b="1" dirty="0">
                <a:latin typeface="Tenorite" panose="00000500000000000000" pitchFamily="2" charset="0"/>
              </a:rPr>
              <a:t> Classifier</a:t>
            </a:r>
          </a:p>
          <a:p>
            <a:pPr lvl="1"/>
            <a:r>
              <a:rPr lang="en-US" dirty="0"/>
              <a:t>Extreme Gradient Boosting</a:t>
            </a:r>
            <a:endParaRPr lang="en-US" dirty="0">
              <a:latin typeface="Tenorite" panose="00000500000000000000" pitchFamily="2" charset="0"/>
            </a:endParaRPr>
          </a:p>
        </p:txBody>
      </p:sp>
      <p:sp>
        <p:nvSpPr>
          <p:cNvPr id="13" name="Content Placeholder 4">
            <a:extLst>
              <a:ext uri="{FF2B5EF4-FFF2-40B4-BE49-F238E27FC236}">
                <a16:creationId xmlns:a16="http://schemas.microsoft.com/office/drawing/2014/main" id="{87C2BD27-1EFE-E5A0-22F3-9ADD04DEB1CF}"/>
              </a:ext>
            </a:extLst>
          </p:cNvPr>
          <p:cNvSpPr txBox="1">
            <a:spLocks/>
          </p:cNvSpPr>
          <p:nvPr/>
        </p:nvSpPr>
        <p:spPr>
          <a:xfrm>
            <a:off x="498834" y="4972768"/>
            <a:ext cx="10515600" cy="16694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err="1">
                <a:latin typeface="Tenorite" panose="00000500000000000000" pitchFamily="2" charset="0"/>
              </a:rPr>
              <a:t>ClinicalBERT</a:t>
            </a:r>
            <a:endParaRPr lang="en-US" b="1" dirty="0">
              <a:latin typeface="Tenorite" panose="00000500000000000000" pitchFamily="2" charset="0"/>
            </a:endParaRPr>
          </a:p>
          <a:p>
            <a:pPr lvl="1"/>
            <a:r>
              <a:rPr lang="en-US" dirty="0">
                <a:latin typeface="Tenorite" panose="00000500000000000000" pitchFamily="2" charset="0"/>
              </a:rPr>
              <a:t>Bidirectional Encoder </a:t>
            </a:r>
            <a:br>
              <a:rPr lang="en-US" dirty="0">
                <a:latin typeface="Tenorite" panose="00000500000000000000" pitchFamily="2" charset="0"/>
              </a:rPr>
            </a:br>
            <a:r>
              <a:rPr lang="en-US" dirty="0">
                <a:latin typeface="Tenorite" panose="00000500000000000000" pitchFamily="2" charset="0"/>
              </a:rPr>
              <a:t>Representations from </a:t>
            </a:r>
            <a:br>
              <a:rPr lang="en-US" dirty="0">
                <a:latin typeface="Tenorite" panose="00000500000000000000" pitchFamily="2" charset="0"/>
              </a:rPr>
            </a:br>
            <a:r>
              <a:rPr lang="en-US" dirty="0"/>
              <a:t>Transformers</a:t>
            </a:r>
            <a:endParaRPr lang="en-US" dirty="0">
              <a:latin typeface="Tenorite" panose="00000500000000000000" pitchFamily="2" charset="0"/>
            </a:endParaRPr>
          </a:p>
        </p:txBody>
      </p:sp>
      <p:pic>
        <p:nvPicPr>
          <p:cNvPr id="4" name="Picture 3" descr="A diagram of different colored circles&#10;&#10;AI-generated content may be incorrect.">
            <a:extLst>
              <a:ext uri="{FF2B5EF4-FFF2-40B4-BE49-F238E27FC236}">
                <a16:creationId xmlns:a16="http://schemas.microsoft.com/office/drawing/2014/main" id="{F33A054E-4406-C0AE-2651-0E209BB771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9632" y="3723725"/>
            <a:ext cx="4776700" cy="2622962"/>
          </a:xfrm>
          <a:prstGeom prst="rect">
            <a:avLst/>
          </a:prstGeom>
        </p:spPr>
      </p:pic>
    </p:spTree>
    <p:extLst>
      <p:ext uri="{BB962C8B-B14F-4D97-AF65-F5344CB8AC3E}">
        <p14:creationId xmlns:p14="http://schemas.microsoft.com/office/powerpoint/2010/main" val="3327000958"/>
      </p:ext>
    </p:extLst>
  </p:cSld>
  <p:clrMapOvr>
    <a:masterClrMapping/>
  </p:clrMapOvr>
  <mc:AlternateContent xmlns:mc="http://schemas.openxmlformats.org/markup-compatibility/2006" xmlns:p14="http://schemas.microsoft.com/office/powerpoint/2010/main">
    <mc:Choice Requires="p14">
      <p:transition spd="slow" p14:dur="2000" advTm="22957"/>
    </mc:Choice>
    <mc:Fallback xmlns="">
      <p:transition spd="slow" advTm="2295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2EEC3BE9-70D3-05C0-1591-17F8FB69822A}"/>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E823D9-EF1D-90DC-C314-CE409A68940C}"/>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b="1" kern="1200" dirty="0">
                <a:solidFill>
                  <a:srgbClr val="FFFFFF"/>
                </a:solidFill>
                <a:latin typeface="+mj-lt"/>
                <a:ea typeface="+mj-ea"/>
                <a:cs typeface="+mj-cs"/>
              </a:rPr>
              <a:t>Code: Libraries Used</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TextBox 10">
            <a:extLst>
              <a:ext uri="{FF2B5EF4-FFF2-40B4-BE49-F238E27FC236}">
                <a16:creationId xmlns:a16="http://schemas.microsoft.com/office/drawing/2014/main" id="{D2D15040-03B2-21B8-CFE0-B95F9C18FFB4}"/>
              </a:ext>
            </a:extLst>
          </p:cNvPr>
          <p:cNvSpPr txBox="1"/>
          <p:nvPr/>
        </p:nvSpPr>
        <p:spPr>
          <a:xfrm>
            <a:off x="4167272" y="591343"/>
            <a:ext cx="6906491" cy="5585619"/>
          </a:xfrm>
          <a:prstGeom prst="rect">
            <a:avLst/>
          </a:prstGeom>
        </p:spPr>
        <p:txBody>
          <a:bodyPr vert="horz" lIns="91440" tIns="45720" rIns="91440" bIns="45720" rtlCol="0" anchor="ctr">
            <a:noAutofit/>
          </a:bodyPr>
          <a:lstStyle/>
          <a:p>
            <a:pPr>
              <a:lnSpc>
                <a:spcPct val="90000"/>
              </a:lnSpc>
              <a:spcAft>
                <a:spcPts val="600"/>
              </a:spcAft>
            </a:pPr>
            <a:r>
              <a:rPr lang="en-US" sz="1100" dirty="0"/>
              <a:t># Data manipulation and OS interaction</a:t>
            </a:r>
          </a:p>
          <a:p>
            <a:pPr>
              <a:lnSpc>
                <a:spcPct val="90000"/>
              </a:lnSpc>
              <a:spcAft>
                <a:spcPts val="600"/>
              </a:spcAft>
            </a:pPr>
            <a:r>
              <a:rPr lang="en-US" sz="1100" dirty="0"/>
              <a:t>import </a:t>
            </a:r>
            <a:r>
              <a:rPr lang="en-US" sz="1100" dirty="0" err="1"/>
              <a:t>numpy</a:t>
            </a:r>
            <a:r>
              <a:rPr lang="en-US" sz="1100" dirty="0"/>
              <a:t> as np  # Numerical operations</a:t>
            </a:r>
          </a:p>
          <a:p>
            <a:pPr>
              <a:lnSpc>
                <a:spcPct val="90000"/>
              </a:lnSpc>
              <a:spcAft>
                <a:spcPts val="600"/>
              </a:spcAft>
            </a:pPr>
            <a:r>
              <a:rPr lang="en-US" sz="1100" dirty="0"/>
              <a:t>import pandas as pd  # Data handling</a:t>
            </a:r>
          </a:p>
          <a:p>
            <a:pPr>
              <a:lnSpc>
                <a:spcPct val="90000"/>
              </a:lnSpc>
              <a:spcAft>
                <a:spcPts val="600"/>
              </a:spcAft>
            </a:pPr>
            <a:r>
              <a:rPr lang="en-US" sz="1100" dirty="0"/>
              <a:t>import </a:t>
            </a:r>
            <a:r>
              <a:rPr lang="en-US" sz="1100" dirty="0" err="1"/>
              <a:t>os</a:t>
            </a:r>
            <a:r>
              <a:rPr lang="en-US" sz="1100" dirty="0"/>
              <a:t>  # Operating system interactions</a:t>
            </a:r>
          </a:p>
          <a:p>
            <a:pPr>
              <a:lnSpc>
                <a:spcPct val="90000"/>
              </a:lnSpc>
              <a:spcAft>
                <a:spcPts val="600"/>
              </a:spcAft>
            </a:pPr>
            <a:endParaRPr lang="en-US" sz="1100" dirty="0"/>
          </a:p>
          <a:p>
            <a:pPr>
              <a:lnSpc>
                <a:spcPct val="90000"/>
              </a:lnSpc>
              <a:spcAft>
                <a:spcPts val="600"/>
              </a:spcAft>
            </a:pPr>
            <a:r>
              <a:rPr lang="en-US" sz="1100" dirty="0"/>
              <a:t># Visualization</a:t>
            </a:r>
          </a:p>
          <a:p>
            <a:pPr>
              <a:lnSpc>
                <a:spcPct val="90000"/>
              </a:lnSpc>
              <a:spcAft>
                <a:spcPts val="600"/>
              </a:spcAft>
            </a:pPr>
            <a:r>
              <a:rPr lang="en-US" sz="1100" dirty="0"/>
              <a:t>import </a:t>
            </a:r>
            <a:r>
              <a:rPr lang="en-US" sz="1100" dirty="0" err="1"/>
              <a:t>matplotlib.pyplot</a:t>
            </a:r>
            <a:r>
              <a:rPr lang="en-US" sz="1100" dirty="0"/>
              <a:t> as </a:t>
            </a:r>
            <a:r>
              <a:rPr lang="en-US" sz="1100" dirty="0" err="1"/>
              <a:t>plt</a:t>
            </a:r>
            <a:r>
              <a:rPr lang="en-US" sz="1100" dirty="0"/>
              <a:t>  # Plotting graphs</a:t>
            </a:r>
          </a:p>
          <a:p>
            <a:pPr>
              <a:lnSpc>
                <a:spcPct val="90000"/>
              </a:lnSpc>
              <a:spcAft>
                <a:spcPts val="600"/>
              </a:spcAft>
            </a:pPr>
            <a:r>
              <a:rPr lang="en-US" sz="1100" dirty="0"/>
              <a:t>import seaborn as </a:t>
            </a:r>
            <a:r>
              <a:rPr lang="en-US" sz="1100" dirty="0" err="1"/>
              <a:t>sns</a:t>
            </a:r>
            <a:endParaRPr lang="en-US" sz="1100" dirty="0"/>
          </a:p>
          <a:p>
            <a:pPr>
              <a:lnSpc>
                <a:spcPct val="90000"/>
              </a:lnSpc>
              <a:spcAft>
                <a:spcPts val="600"/>
              </a:spcAft>
            </a:pPr>
            <a:r>
              <a:rPr lang="en-US" sz="1100" dirty="0"/>
              <a:t>from </a:t>
            </a:r>
            <a:r>
              <a:rPr lang="en-US" sz="1100" dirty="0" err="1"/>
              <a:t>sklearn.metrics</a:t>
            </a:r>
            <a:r>
              <a:rPr lang="en-US" sz="1100" dirty="0"/>
              <a:t> import (</a:t>
            </a:r>
          </a:p>
          <a:p>
            <a:pPr>
              <a:lnSpc>
                <a:spcPct val="90000"/>
              </a:lnSpc>
              <a:spcAft>
                <a:spcPts val="600"/>
              </a:spcAft>
            </a:pPr>
            <a:r>
              <a:rPr lang="en-US" sz="1100" dirty="0"/>
              <a:t>    </a:t>
            </a:r>
            <a:r>
              <a:rPr lang="en-US" sz="1100" dirty="0" err="1"/>
              <a:t>classification_report</a:t>
            </a:r>
            <a:r>
              <a:rPr lang="en-US" sz="1100" dirty="0"/>
              <a:t>,  # Precision, recall, f1-score</a:t>
            </a:r>
          </a:p>
          <a:p>
            <a:pPr>
              <a:lnSpc>
                <a:spcPct val="90000"/>
              </a:lnSpc>
              <a:spcAft>
                <a:spcPts val="600"/>
              </a:spcAft>
            </a:pPr>
            <a:r>
              <a:rPr lang="en-US" sz="1100" dirty="0"/>
              <a:t>    </a:t>
            </a:r>
            <a:r>
              <a:rPr lang="en-US" sz="1100" dirty="0" err="1"/>
              <a:t>roc_auc_score</a:t>
            </a:r>
            <a:r>
              <a:rPr lang="en-US" sz="1100" dirty="0"/>
              <a:t>,          # AUC for ROC</a:t>
            </a:r>
          </a:p>
          <a:p>
            <a:pPr>
              <a:lnSpc>
                <a:spcPct val="90000"/>
              </a:lnSpc>
              <a:spcAft>
                <a:spcPts val="600"/>
              </a:spcAft>
            </a:pPr>
            <a:r>
              <a:rPr lang="en-US" sz="1100" dirty="0"/>
              <a:t>    </a:t>
            </a:r>
            <a:r>
              <a:rPr lang="en-US" sz="1100" dirty="0" err="1"/>
              <a:t>roc_curve</a:t>
            </a:r>
            <a:r>
              <a:rPr lang="en-US" sz="1100" dirty="0"/>
              <a:t>,</a:t>
            </a:r>
          </a:p>
          <a:p>
            <a:pPr>
              <a:lnSpc>
                <a:spcPct val="90000"/>
              </a:lnSpc>
              <a:spcAft>
                <a:spcPts val="600"/>
              </a:spcAft>
            </a:pPr>
            <a:r>
              <a:rPr lang="en-US" sz="1100" dirty="0"/>
              <a:t>    </a:t>
            </a:r>
            <a:r>
              <a:rPr lang="en-US" sz="1100" dirty="0" err="1"/>
              <a:t>confusion_matrix</a:t>
            </a:r>
            <a:r>
              <a:rPr lang="en-US" sz="1100" dirty="0"/>
              <a:t>,</a:t>
            </a:r>
          </a:p>
          <a:p>
            <a:pPr>
              <a:lnSpc>
                <a:spcPct val="90000"/>
              </a:lnSpc>
              <a:spcAft>
                <a:spcPts val="600"/>
              </a:spcAft>
            </a:pPr>
            <a:r>
              <a:rPr lang="en-US" sz="1100" dirty="0"/>
              <a:t>    </a:t>
            </a:r>
            <a:r>
              <a:rPr lang="en-US" sz="1100" dirty="0" err="1"/>
              <a:t>ConfusionMatrixDisplay</a:t>
            </a:r>
            <a:r>
              <a:rPr lang="en-US" sz="1100" dirty="0"/>
              <a:t>  # Display confusion matrix</a:t>
            </a:r>
          </a:p>
          <a:p>
            <a:pPr>
              <a:lnSpc>
                <a:spcPct val="90000"/>
              </a:lnSpc>
              <a:spcAft>
                <a:spcPts val="600"/>
              </a:spcAft>
            </a:pPr>
            <a:r>
              <a:rPr lang="en-US" sz="1100" dirty="0"/>
              <a:t>)</a:t>
            </a:r>
          </a:p>
          <a:p>
            <a:pPr>
              <a:lnSpc>
                <a:spcPct val="90000"/>
              </a:lnSpc>
              <a:spcAft>
                <a:spcPts val="600"/>
              </a:spcAft>
            </a:pPr>
            <a:endParaRPr lang="en-US" sz="1100" dirty="0"/>
          </a:p>
          <a:p>
            <a:pPr>
              <a:lnSpc>
                <a:spcPct val="90000"/>
              </a:lnSpc>
              <a:spcAft>
                <a:spcPts val="600"/>
              </a:spcAft>
            </a:pPr>
            <a:r>
              <a:rPr lang="en-US" sz="1100" dirty="0"/>
              <a:t># Machine learning models and tuning</a:t>
            </a:r>
          </a:p>
          <a:p>
            <a:pPr>
              <a:lnSpc>
                <a:spcPct val="90000"/>
              </a:lnSpc>
              <a:spcAft>
                <a:spcPts val="600"/>
              </a:spcAft>
            </a:pPr>
            <a:r>
              <a:rPr lang="en-US" sz="1100" dirty="0"/>
              <a:t>from </a:t>
            </a:r>
            <a:r>
              <a:rPr lang="en-US" sz="1100" dirty="0" err="1"/>
              <a:t>sklearn.ensemble</a:t>
            </a:r>
            <a:r>
              <a:rPr lang="en-US" sz="1100" dirty="0"/>
              <a:t> import </a:t>
            </a:r>
            <a:r>
              <a:rPr lang="en-US" sz="1100" dirty="0" err="1"/>
              <a:t>RandomForestClassifier</a:t>
            </a:r>
            <a:r>
              <a:rPr lang="en-US" sz="1100" dirty="0"/>
              <a:t>  # Random Forest model</a:t>
            </a:r>
          </a:p>
          <a:p>
            <a:pPr>
              <a:lnSpc>
                <a:spcPct val="90000"/>
              </a:lnSpc>
              <a:spcAft>
                <a:spcPts val="600"/>
              </a:spcAft>
            </a:pPr>
            <a:r>
              <a:rPr lang="en-US" sz="1100" dirty="0"/>
              <a:t>from </a:t>
            </a:r>
            <a:r>
              <a:rPr lang="en-US" sz="1100" dirty="0" err="1"/>
              <a:t>xgboost</a:t>
            </a:r>
            <a:r>
              <a:rPr lang="en-US" sz="1100" dirty="0"/>
              <a:t> import </a:t>
            </a:r>
            <a:r>
              <a:rPr lang="en-US" sz="1100" dirty="0" err="1"/>
              <a:t>XGBClassifier</a:t>
            </a:r>
            <a:r>
              <a:rPr lang="en-US" sz="1100" dirty="0"/>
              <a:t>  # </a:t>
            </a:r>
            <a:r>
              <a:rPr lang="en-US" sz="1100" dirty="0" err="1"/>
              <a:t>XGBoost</a:t>
            </a:r>
            <a:r>
              <a:rPr lang="en-US" sz="1100" dirty="0"/>
              <a:t> classifier</a:t>
            </a:r>
          </a:p>
          <a:p>
            <a:pPr>
              <a:lnSpc>
                <a:spcPct val="90000"/>
              </a:lnSpc>
              <a:spcAft>
                <a:spcPts val="600"/>
              </a:spcAft>
            </a:pPr>
            <a:r>
              <a:rPr lang="en-US" sz="1100" dirty="0"/>
              <a:t>from </a:t>
            </a:r>
            <a:r>
              <a:rPr lang="en-US" sz="1100" dirty="0" err="1"/>
              <a:t>sklearn.model_selection</a:t>
            </a:r>
            <a:r>
              <a:rPr lang="en-US" sz="1100" dirty="0"/>
              <a:t> import </a:t>
            </a:r>
            <a:r>
              <a:rPr lang="en-US" sz="1100" dirty="0" err="1"/>
              <a:t>train_test_split</a:t>
            </a:r>
            <a:r>
              <a:rPr lang="en-US" sz="1100" dirty="0"/>
              <a:t>, </a:t>
            </a:r>
            <a:r>
              <a:rPr lang="en-US" sz="1100" dirty="0" err="1"/>
              <a:t>RandomizedSearchCV</a:t>
            </a:r>
            <a:r>
              <a:rPr lang="en-US" sz="1100" dirty="0"/>
              <a:t>  # Splitting &amp; tuning</a:t>
            </a:r>
          </a:p>
          <a:p>
            <a:pPr>
              <a:lnSpc>
                <a:spcPct val="90000"/>
              </a:lnSpc>
              <a:spcAft>
                <a:spcPts val="600"/>
              </a:spcAft>
            </a:pPr>
            <a:endParaRPr lang="en-US" sz="1100" dirty="0"/>
          </a:p>
          <a:p>
            <a:pPr>
              <a:lnSpc>
                <a:spcPct val="90000"/>
              </a:lnSpc>
              <a:spcAft>
                <a:spcPts val="600"/>
              </a:spcAft>
            </a:pPr>
            <a:r>
              <a:rPr lang="en-US" sz="1100" dirty="0"/>
              <a:t># NLP &amp; deep learning (for </a:t>
            </a:r>
            <a:r>
              <a:rPr lang="en-US" sz="1100" dirty="0" err="1"/>
              <a:t>ClinicalBERT</a:t>
            </a:r>
            <a:r>
              <a:rPr lang="en-US" sz="1100" dirty="0"/>
              <a:t> embeddings later)</a:t>
            </a:r>
          </a:p>
          <a:p>
            <a:pPr>
              <a:lnSpc>
                <a:spcPct val="90000"/>
              </a:lnSpc>
              <a:spcAft>
                <a:spcPts val="600"/>
              </a:spcAft>
            </a:pPr>
            <a:r>
              <a:rPr lang="en-US" sz="1100" dirty="0"/>
              <a:t>import torch</a:t>
            </a:r>
          </a:p>
          <a:p>
            <a:pPr>
              <a:lnSpc>
                <a:spcPct val="90000"/>
              </a:lnSpc>
              <a:spcAft>
                <a:spcPts val="600"/>
              </a:spcAft>
            </a:pPr>
            <a:r>
              <a:rPr lang="en-US" sz="1100" dirty="0"/>
              <a:t>from transformers import </a:t>
            </a:r>
            <a:r>
              <a:rPr lang="en-US" sz="1100" dirty="0" err="1"/>
              <a:t>AutoTokenizer</a:t>
            </a:r>
            <a:r>
              <a:rPr lang="en-US" sz="1100" dirty="0"/>
              <a:t>, </a:t>
            </a:r>
            <a:r>
              <a:rPr lang="en-US" sz="1100" dirty="0" err="1"/>
              <a:t>AutoModel</a:t>
            </a:r>
            <a:endParaRPr lang="en-US" sz="1100" dirty="0"/>
          </a:p>
          <a:p>
            <a:pPr>
              <a:lnSpc>
                <a:spcPct val="90000"/>
              </a:lnSpc>
              <a:spcAft>
                <a:spcPts val="600"/>
              </a:spcAft>
            </a:pPr>
            <a:r>
              <a:rPr lang="en-US" sz="1100" dirty="0"/>
              <a:t>from </a:t>
            </a:r>
            <a:r>
              <a:rPr lang="en-US" sz="1100" dirty="0" err="1"/>
              <a:t>tqdm</a:t>
            </a:r>
            <a:r>
              <a:rPr lang="en-US" sz="1100" dirty="0"/>
              <a:t> import </a:t>
            </a:r>
            <a:r>
              <a:rPr lang="en-US" sz="1100" dirty="0" err="1"/>
              <a:t>tqdm</a:t>
            </a:r>
            <a:r>
              <a:rPr lang="en-US" sz="1100" dirty="0"/>
              <a:t>  # Progress bar</a:t>
            </a:r>
          </a:p>
          <a:p>
            <a:pPr>
              <a:lnSpc>
                <a:spcPct val="90000"/>
              </a:lnSpc>
              <a:spcAft>
                <a:spcPts val="600"/>
              </a:spcAft>
            </a:pPr>
            <a:endParaRPr lang="en-US" sz="1100" dirty="0"/>
          </a:p>
          <a:p>
            <a:pPr>
              <a:lnSpc>
                <a:spcPct val="90000"/>
              </a:lnSpc>
              <a:spcAft>
                <a:spcPts val="600"/>
              </a:spcAft>
            </a:pPr>
            <a:r>
              <a:rPr lang="en-US" sz="1100" dirty="0"/>
              <a:t># Handling class imbalance</a:t>
            </a:r>
          </a:p>
          <a:p>
            <a:pPr>
              <a:lnSpc>
                <a:spcPct val="90000"/>
              </a:lnSpc>
              <a:spcAft>
                <a:spcPts val="600"/>
              </a:spcAft>
            </a:pPr>
            <a:r>
              <a:rPr lang="en-US" sz="1100" dirty="0"/>
              <a:t>from </a:t>
            </a:r>
            <a:r>
              <a:rPr lang="en-US" sz="1100" dirty="0" err="1"/>
              <a:t>imblearn.over_sampling</a:t>
            </a:r>
            <a:r>
              <a:rPr lang="en-US" sz="1100" dirty="0"/>
              <a:t> import SMOTE  # Synthetic Minority Over-sampling Technique</a:t>
            </a:r>
          </a:p>
        </p:txBody>
      </p:sp>
    </p:spTree>
    <p:extLst>
      <p:ext uri="{BB962C8B-B14F-4D97-AF65-F5344CB8AC3E}">
        <p14:creationId xmlns:p14="http://schemas.microsoft.com/office/powerpoint/2010/main" val="1820724090"/>
      </p:ext>
    </p:extLst>
  </p:cSld>
  <p:clrMapOvr>
    <a:masterClrMapping/>
  </p:clrMapOvr>
  <mc:AlternateContent xmlns:mc="http://schemas.openxmlformats.org/markup-compatibility/2006" xmlns:p14="http://schemas.microsoft.com/office/powerpoint/2010/main">
    <mc:Choice Requires="p14">
      <p:transition spd="slow" p14:dur="2000" advTm="20724"/>
    </mc:Choice>
    <mc:Fallback xmlns="">
      <p:transition spd="slow" advTm="2072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69959F4-F55E-D3A4-3E08-84623C2AF42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842FA11-061D-6591-4525-863F6ED32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44EA0C0A-7923-17ED-7D08-41BF4FC06D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902CDC02-54BF-0CAA-3FAF-CCAF5655E0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4111B7-5BC3-1930-AE86-330EBEC6C432}"/>
              </a:ext>
            </a:extLst>
          </p:cNvPr>
          <p:cNvSpPr>
            <a:spLocks noGrp="1"/>
          </p:cNvSpPr>
          <p:nvPr>
            <p:ph type="title"/>
          </p:nvPr>
        </p:nvSpPr>
        <p:spPr>
          <a:xfrm>
            <a:off x="1115568" y="548640"/>
            <a:ext cx="10168128" cy="1179576"/>
          </a:xfrm>
        </p:spPr>
        <p:txBody>
          <a:bodyPr>
            <a:normAutofit/>
          </a:bodyPr>
          <a:lstStyle/>
          <a:p>
            <a:r>
              <a:rPr lang="en-US" sz="4000" b="1" dirty="0">
                <a:latin typeface="Tenorite Display" panose="00000500000000000000" pitchFamily="2" charset="0"/>
              </a:rPr>
              <a:t>Code: Structured Data</a:t>
            </a:r>
          </a:p>
        </p:txBody>
      </p:sp>
      <p:sp>
        <p:nvSpPr>
          <p:cNvPr id="14" name="Rectangle 13">
            <a:extLst>
              <a:ext uri="{FF2B5EF4-FFF2-40B4-BE49-F238E27FC236}">
                <a16:creationId xmlns:a16="http://schemas.microsoft.com/office/drawing/2014/main" id="{3F850499-C8B5-F80B-BC81-0C78C5A21A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1131265C-8A68-FAC7-EBAC-CA05F39995F0}"/>
              </a:ext>
            </a:extLst>
          </p:cNvPr>
          <p:cNvSpPr>
            <a:spLocks noGrp="1"/>
          </p:cNvSpPr>
          <p:nvPr>
            <p:ph idx="1"/>
          </p:nvPr>
        </p:nvSpPr>
        <p:spPr>
          <a:xfrm>
            <a:off x="498834" y="1728216"/>
            <a:ext cx="10515600" cy="4351338"/>
          </a:xfrm>
        </p:spPr>
        <p:txBody>
          <a:bodyPr>
            <a:normAutofit fontScale="25000" lnSpcReduction="20000"/>
          </a:bodyPr>
          <a:lstStyle/>
          <a:p>
            <a:pPr marL="0" indent="0">
              <a:buNone/>
            </a:pPr>
            <a:r>
              <a:rPr lang="en-US" sz="5600" dirty="0" err="1">
                <a:latin typeface="Tenorite" panose="00000500000000000000" pitchFamily="2" charset="0"/>
              </a:rPr>
              <a:t>patients_path</a:t>
            </a:r>
            <a:r>
              <a:rPr lang="en-US" sz="5600" dirty="0">
                <a:latin typeface="Tenorite" panose="00000500000000000000" pitchFamily="2" charset="0"/>
              </a:rPr>
              <a:t> = "S:/Downloads/mimic-iv-2.2/mimic-iv-2.2/hosp/patients.csv.gz" #Patient demographic Info</a:t>
            </a:r>
          </a:p>
          <a:p>
            <a:pPr marL="0" indent="0">
              <a:buNone/>
            </a:pPr>
            <a:r>
              <a:rPr lang="en-US" sz="5600" dirty="0" err="1">
                <a:latin typeface="Tenorite" panose="00000500000000000000" pitchFamily="2" charset="0"/>
              </a:rPr>
              <a:t>icustays_path</a:t>
            </a:r>
            <a:r>
              <a:rPr lang="en-US" sz="5600" dirty="0">
                <a:latin typeface="Tenorite" panose="00000500000000000000" pitchFamily="2" charset="0"/>
              </a:rPr>
              <a:t> = "S:/Downloads/mimic-iv-2.2/mimic-iv-2.2/icu/icustays.csv.gz" #ICU admission and discharge record</a:t>
            </a:r>
          </a:p>
          <a:p>
            <a:pPr marL="0" indent="0">
              <a:buNone/>
            </a:pPr>
            <a:r>
              <a:rPr lang="en-US" sz="5600" dirty="0" err="1">
                <a:latin typeface="Tenorite" panose="00000500000000000000" pitchFamily="2" charset="0"/>
              </a:rPr>
              <a:t>diagnoses_path</a:t>
            </a:r>
            <a:r>
              <a:rPr lang="en-US" sz="5600" dirty="0">
                <a:latin typeface="Tenorite" panose="00000500000000000000" pitchFamily="2" charset="0"/>
              </a:rPr>
              <a:t> = "S:/Downloads/mimic-iv-2.2/mimic-iv-2.2/hosp/diagnoses_icd.csv.gz" #ICD diagnosis code</a:t>
            </a:r>
          </a:p>
          <a:p>
            <a:pPr marL="0" indent="0">
              <a:buNone/>
            </a:pPr>
            <a:endParaRPr lang="en-US" sz="5600" dirty="0">
              <a:latin typeface="Tenorite" panose="00000500000000000000" pitchFamily="2" charset="0"/>
            </a:endParaRPr>
          </a:p>
          <a:p>
            <a:pPr marL="0" indent="0">
              <a:buNone/>
            </a:pPr>
            <a:r>
              <a:rPr lang="en-US" sz="5600" dirty="0" err="1">
                <a:latin typeface="Tenorite" panose="00000500000000000000" pitchFamily="2" charset="0"/>
              </a:rPr>
              <a:t>df_patients</a:t>
            </a:r>
            <a:r>
              <a:rPr lang="en-US" sz="5600" dirty="0">
                <a:latin typeface="Tenorite" panose="00000500000000000000" pitchFamily="2" charset="0"/>
              </a:rPr>
              <a:t> = </a:t>
            </a:r>
            <a:r>
              <a:rPr lang="en-US" sz="5600" dirty="0" err="1">
                <a:latin typeface="Tenorite" panose="00000500000000000000" pitchFamily="2" charset="0"/>
              </a:rPr>
              <a:t>pd.read_csv</a:t>
            </a:r>
            <a:r>
              <a:rPr lang="en-US" sz="5600" dirty="0">
                <a:latin typeface="Tenorite" panose="00000500000000000000" pitchFamily="2" charset="0"/>
              </a:rPr>
              <a:t>(</a:t>
            </a:r>
            <a:r>
              <a:rPr lang="en-US" sz="5600" dirty="0" err="1">
                <a:latin typeface="Tenorite" panose="00000500000000000000" pitchFamily="2" charset="0"/>
              </a:rPr>
              <a:t>patients_path</a:t>
            </a:r>
            <a:r>
              <a:rPr lang="en-US" sz="5600" dirty="0">
                <a:latin typeface="Tenorite" panose="00000500000000000000" pitchFamily="2" charset="0"/>
              </a:rPr>
              <a:t>)</a:t>
            </a:r>
          </a:p>
          <a:p>
            <a:pPr marL="0" indent="0">
              <a:buNone/>
            </a:pPr>
            <a:r>
              <a:rPr lang="en-US" sz="5600" dirty="0" err="1">
                <a:latin typeface="Tenorite" panose="00000500000000000000" pitchFamily="2" charset="0"/>
              </a:rPr>
              <a:t>df_icustays</a:t>
            </a:r>
            <a:r>
              <a:rPr lang="en-US" sz="5600" dirty="0">
                <a:latin typeface="Tenorite" panose="00000500000000000000" pitchFamily="2" charset="0"/>
              </a:rPr>
              <a:t> = </a:t>
            </a:r>
            <a:r>
              <a:rPr lang="en-US" sz="5600" dirty="0" err="1">
                <a:latin typeface="Tenorite" panose="00000500000000000000" pitchFamily="2" charset="0"/>
              </a:rPr>
              <a:t>pd.read_csv</a:t>
            </a:r>
            <a:r>
              <a:rPr lang="en-US" sz="5600" dirty="0">
                <a:latin typeface="Tenorite" panose="00000500000000000000" pitchFamily="2" charset="0"/>
              </a:rPr>
              <a:t>(</a:t>
            </a:r>
            <a:r>
              <a:rPr lang="en-US" sz="5600" dirty="0" err="1">
                <a:latin typeface="Tenorite" panose="00000500000000000000" pitchFamily="2" charset="0"/>
              </a:rPr>
              <a:t>icustays_path</a:t>
            </a:r>
            <a:r>
              <a:rPr lang="en-US" sz="5600" dirty="0">
                <a:latin typeface="Tenorite" panose="00000500000000000000" pitchFamily="2" charset="0"/>
              </a:rPr>
              <a:t>)</a:t>
            </a:r>
          </a:p>
          <a:p>
            <a:pPr marL="0" indent="0">
              <a:buNone/>
            </a:pPr>
            <a:endParaRPr lang="en-US" sz="5600" dirty="0">
              <a:latin typeface="Tenorite" panose="00000500000000000000" pitchFamily="2" charset="0"/>
            </a:endParaRPr>
          </a:p>
          <a:p>
            <a:pPr marL="0" indent="0">
              <a:buNone/>
            </a:pPr>
            <a:r>
              <a:rPr lang="en-US" sz="5600" dirty="0" err="1">
                <a:latin typeface="Tenorite" panose="00000500000000000000" pitchFamily="2" charset="0"/>
              </a:rPr>
              <a:t>diagnosis_chunks</a:t>
            </a:r>
            <a:r>
              <a:rPr lang="en-US" sz="5600" dirty="0">
                <a:latin typeface="Tenorite" panose="00000500000000000000" pitchFamily="2" charset="0"/>
              </a:rPr>
              <a:t> = [] #Temporary list to hold filtered chunks</a:t>
            </a:r>
          </a:p>
          <a:p>
            <a:pPr marL="0" indent="0">
              <a:buNone/>
            </a:pPr>
            <a:r>
              <a:rPr lang="en-US" sz="5600" dirty="0" err="1">
                <a:latin typeface="Tenorite" panose="00000500000000000000" pitchFamily="2" charset="0"/>
              </a:rPr>
              <a:t>target_subject_ids</a:t>
            </a:r>
            <a:r>
              <a:rPr lang="en-US" sz="5600" dirty="0">
                <a:latin typeface="Tenorite" panose="00000500000000000000" pitchFamily="2" charset="0"/>
              </a:rPr>
              <a:t> = set(</a:t>
            </a:r>
            <a:r>
              <a:rPr lang="en-US" sz="5600" dirty="0" err="1">
                <a:latin typeface="Tenorite" panose="00000500000000000000" pitchFamily="2" charset="0"/>
              </a:rPr>
              <a:t>df_patients</a:t>
            </a:r>
            <a:r>
              <a:rPr lang="en-US" sz="5600" dirty="0">
                <a:latin typeface="Tenorite" panose="00000500000000000000" pitchFamily="2" charset="0"/>
              </a:rPr>
              <a:t>['</a:t>
            </a:r>
            <a:r>
              <a:rPr lang="en-US" sz="5600" dirty="0" err="1">
                <a:latin typeface="Tenorite" panose="00000500000000000000" pitchFamily="2" charset="0"/>
              </a:rPr>
              <a:t>subject_id</a:t>
            </a:r>
            <a:r>
              <a:rPr lang="en-US" sz="5600" dirty="0">
                <a:latin typeface="Tenorite" panose="00000500000000000000" pitchFamily="2" charset="0"/>
              </a:rPr>
              <a:t>'].unique())  #Keep only relevant patient </a:t>
            </a:r>
          </a:p>
          <a:p>
            <a:pPr marL="0" indent="0">
              <a:buNone/>
            </a:pPr>
            <a:endParaRPr lang="en-US" sz="5600" dirty="0">
              <a:latin typeface="Tenorite" panose="00000500000000000000" pitchFamily="2" charset="0"/>
            </a:endParaRPr>
          </a:p>
          <a:p>
            <a:pPr marL="0" indent="0">
              <a:buNone/>
            </a:pPr>
            <a:r>
              <a:rPr lang="en-US" sz="5600" dirty="0">
                <a:latin typeface="Tenorite" panose="00000500000000000000" pitchFamily="2" charset="0"/>
              </a:rPr>
              <a:t>#Process diagnoses.csv in chunks of 50,000 rows</a:t>
            </a:r>
          </a:p>
          <a:p>
            <a:pPr marL="0" indent="0">
              <a:buNone/>
            </a:pPr>
            <a:r>
              <a:rPr lang="en-US" sz="5600" dirty="0">
                <a:latin typeface="Tenorite" panose="00000500000000000000" pitchFamily="2" charset="0"/>
              </a:rPr>
              <a:t>for chunk in </a:t>
            </a:r>
            <a:r>
              <a:rPr lang="en-US" sz="5600" dirty="0" err="1">
                <a:latin typeface="Tenorite" panose="00000500000000000000" pitchFamily="2" charset="0"/>
              </a:rPr>
              <a:t>pd.read_csv</a:t>
            </a:r>
            <a:r>
              <a:rPr lang="en-US" sz="5600" dirty="0">
                <a:latin typeface="Tenorite" panose="00000500000000000000" pitchFamily="2" charset="0"/>
              </a:rPr>
              <a:t>(</a:t>
            </a:r>
            <a:r>
              <a:rPr lang="en-US" sz="5600" dirty="0" err="1">
                <a:latin typeface="Tenorite" panose="00000500000000000000" pitchFamily="2" charset="0"/>
              </a:rPr>
              <a:t>diagnoses_path</a:t>
            </a:r>
            <a:r>
              <a:rPr lang="en-US" sz="5600" dirty="0">
                <a:latin typeface="Tenorite" panose="00000500000000000000" pitchFamily="2" charset="0"/>
              </a:rPr>
              <a:t>, </a:t>
            </a:r>
            <a:r>
              <a:rPr lang="en-US" sz="5600" dirty="0" err="1">
                <a:latin typeface="Tenorite" panose="00000500000000000000" pitchFamily="2" charset="0"/>
              </a:rPr>
              <a:t>chunksize</a:t>
            </a:r>
            <a:r>
              <a:rPr lang="en-US" sz="5600" dirty="0">
                <a:latin typeface="Tenorite" panose="00000500000000000000" pitchFamily="2" charset="0"/>
              </a:rPr>
              <a:t>=50000): </a:t>
            </a:r>
          </a:p>
          <a:p>
            <a:pPr marL="0" indent="0">
              <a:buNone/>
            </a:pPr>
            <a:r>
              <a:rPr lang="en-US" sz="5600" dirty="0">
                <a:latin typeface="Tenorite" panose="00000500000000000000" pitchFamily="2" charset="0"/>
              </a:rPr>
              <a:t>    </a:t>
            </a:r>
            <a:r>
              <a:rPr lang="en-US" sz="5600" dirty="0" err="1">
                <a:latin typeface="Tenorite" panose="00000500000000000000" pitchFamily="2" charset="0"/>
              </a:rPr>
              <a:t>filtered_chunk</a:t>
            </a:r>
            <a:r>
              <a:rPr lang="en-US" sz="5600" dirty="0">
                <a:latin typeface="Tenorite" panose="00000500000000000000" pitchFamily="2" charset="0"/>
              </a:rPr>
              <a:t> = chunk[chunk['</a:t>
            </a:r>
            <a:r>
              <a:rPr lang="en-US" sz="5600" dirty="0" err="1">
                <a:latin typeface="Tenorite" panose="00000500000000000000" pitchFamily="2" charset="0"/>
              </a:rPr>
              <a:t>subject_id</a:t>
            </a:r>
            <a:r>
              <a:rPr lang="en-US" sz="5600" dirty="0">
                <a:latin typeface="Tenorite" panose="00000500000000000000" pitchFamily="2" charset="0"/>
              </a:rPr>
              <a:t>'].</a:t>
            </a:r>
            <a:r>
              <a:rPr lang="en-US" sz="5600" dirty="0" err="1">
                <a:latin typeface="Tenorite" panose="00000500000000000000" pitchFamily="2" charset="0"/>
              </a:rPr>
              <a:t>isin</a:t>
            </a:r>
            <a:r>
              <a:rPr lang="en-US" sz="5600" dirty="0">
                <a:latin typeface="Tenorite" panose="00000500000000000000" pitchFamily="2" charset="0"/>
              </a:rPr>
              <a:t>(</a:t>
            </a:r>
            <a:r>
              <a:rPr lang="en-US" sz="5600" dirty="0" err="1">
                <a:latin typeface="Tenorite" panose="00000500000000000000" pitchFamily="2" charset="0"/>
              </a:rPr>
              <a:t>target_subject_ids</a:t>
            </a:r>
            <a:r>
              <a:rPr lang="en-US" sz="5600" dirty="0">
                <a:latin typeface="Tenorite" panose="00000500000000000000" pitchFamily="2" charset="0"/>
              </a:rPr>
              <a:t>)]</a:t>
            </a:r>
          </a:p>
          <a:p>
            <a:pPr marL="0" indent="0">
              <a:buNone/>
            </a:pPr>
            <a:r>
              <a:rPr lang="en-US" sz="5600" dirty="0">
                <a:latin typeface="Tenorite" panose="00000500000000000000" pitchFamily="2" charset="0"/>
              </a:rPr>
              <a:t>    </a:t>
            </a:r>
            <a:r>
              <a:rPr lang="en-US" sz="5600" dirty="0" err="1">
                <a:latin typeface="Tenorite" panose="00000500000000000000" pitchFamily="2" charset="0"/>
              </a:rPr>
              <a:t>diagnosis_chunks.append</a:t>
            </a:r>
            <a:r>
              <a:rPr lang="en-US" sz="5600" dirty="0">
                <a:latin typeface="Tenorite" panose="00000500000000000000" pitchFamily="2" charset="0"/>
              </a:rPr>
              <a:t>(</a:t>
            </a:r>
            <a:r>
              <a:rPr lang="en-US" sz="5600" dirty="0" err="1">
                <a:latin typeface="Tenorite" panose="00000500000000000000" pitchFamily="2" charset="0"/>
              </a:rPr>
              <a:t>filtered_chunk</a:t>
            </a:r>
            <a:r>
              <a:rPr lang="en-US" sz="5600" dirty="0">
                <a:latin typeface="Tenorite" panose="00000500000000000000" pitchFamily="2" charset="0"/>
              </a:rPr>
              <a:t>)  #Append each filtered chunk</a:t>
            </a:r>
          </a:p>
          <a:p>
            <a:pPr marL="0" indent="0">
              <a:buNone/>
            </a:pPr>
            <a:endParaRPr lang="en-US" sz="5600" dirty="0">
              <a:latin typeface="Tenorite" panose="00000500000000000000" pitchFamily="2" charset="0"/>
            </a:endParaRPr>
          </a:p>
          <a:p>
            <a:pPr marL="0" indent="0">
              <a:buNone/>
            </a:pPr>
            <a:r>
              <a:rPr lang="en-US" sz="5600" dirty="0">
                <a:latin typeface="Tenorite" panose="00000500000000000000" pitchFamily="2" charset="0"/>
              </a:rPr>
              <a:t>#Combine all chunks into one </a:t>
            </a:r>
            <a:r>
              <a:rPr lang="en-US" sz="5600" dirty="0" err="1">
                <a:latin typeface="Tenorite" panose="00000500000000000000" pitchFamily="2" charset="0"/>
              </a:rPr>
              <a:t>DataFrame</a:t>
            </a:r>
            <a:endParaRPr lang="en-US" sz="5600" dirty="0">
              <a:latin typeface="Tenorite" panose="00000500000000000000" pitchFamily="2" charset="0"/>
            </a:endParaRPr>
          </a:p>
          <a:p>
            <a:pPr marL="0" indent="0">
              <a:buNone/>
            </a:pPr>
            <a:r>
              <a:rPr lang="en-US" sz="5600" dirty="0" err="1">
                <a:latin typeface="Tenorite" panose="00000500000000000000" pitchFamily="2" charset="0"/>
              </a:rPr>
              <a:t>df_diagnoses</a:t>
            </a:r>
            <a:r>
              <a:rPr lang="en-US" sz="5600" dirty="0">
                <a:latin typeface="Tenorite" panose="00000500000000000000" pitchFamily="2" charset="0"/>
              </a:rPr>
              <a:t> = </a:t>
            </a:r>
            <a:r>
              <a:rPr lang="en-US" sz="5600" dirty="0" err="1">
                <a:latin typeface="Tenorite" panose="00000500000000000000" pitchFamily="2" charset="0"/>
              </a:rPr>
              <a:t>pd.concat</a:t>
            </a:r>
            <a:r>
              <a:rPr lang="en-US" sz="5600" dirty="0">
                <a:latin typeface="Tenorite" panose="00000500000000000000" pitchFamily="2" charset="0"/>
              </a:rPr>
              <a:t>(</a:t>
            </a:r>
            <a:r>
              <a:rPr lang="en-US" sz="5600" dirty="0" err="1">
                <a:latin typeface="Tenorite" panose="00000500000000000000" pitchFamily="2" charset="0"/>
              </a:rPr>
              <a:t>diagnosis_chunks</a:t>
            </a:r>
            <a:r>
              <a:rPr lang="en-US" sz="5600" dirty="0">
                <a:latin typeface="Tenorite" panose="00000500000000000000" pitchFamily="2" charset="0"/>
              </a:rPr>
              <a:t>, </a:t>
            </a:r>
            <a:r>
              <a:rPr lang="en-US" sz="5600" dirty="0" err="1">
                <a:latin typeface="Tenorite" panose="00000500000000000000" pitchFamily="2" charset="0"/>
              </a:rPr>
              <a:t>ignore_index</a:t>
            </a:r>
            <a:r>
              <a:rPr lang="en-US" sz="5600" dirty="0">
                <a:latin typeface="Tenorite" panose="00000500000000000000" pitchFamily="2" charset="0"/>
              </a:rPr>
              <a:t>=True)</a:t>
            </a:r>
          </a:p>
          <a:p>
            <a:endParaRPr lang="en-US" dirty="0"/>
          </a:p>
        </p:txBody>
      </p:sp>
    </p:spTree>
    <p:extLst>
      <p:ext uri="{BB962C8B-B14F-4D97-AF65-F5344CB8AC3E}">
        <p14:creationId xmlns:p14="http://schemas.microsoft.com/office/powerpoint/2010/main" val="1576374747"/>
      </p:ext>
    </p:extLst>
  </p:cSld>
  <p:clrMapOvr>
    <a:masterClrMapping/>
  </p:clrMapOvr>
  <mc:AlternateContent xmlns:mc="http://schemas.openxmlformats.org/markup-compatibility/2006" xmlns:p14="http://schemas.microsoft.com/office/powerpoint/2010/main">
    <mc:Choice Requires="p14">
      <p:transition spd="slow" p14:dur="2000" advTm="11528"/>
    </mc:Choice>
    <mc:Fallback xmlns="">
      <p:transition spd="slow" advTm="1152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7F5CCA75-C2D8-D694-647B-F19CF7EF5E6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292CF6-E72E-A695-3651-884D92101F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5FA55DD9-EA45-7055-8CC5-AF4AF882D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197376D1-0F53-92DF-F734-549F2FA30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631B7A-0CCB-8B8D-FBF2-50C0BF10134F}"/>
              </a:ext>
            </a:extLst>
          </p:cNvPr>
          <p:cNvSpPr>
            <a:spLocks noGrp="1"/>
          </p:cNvSpPr>
          <p:nvPr>
            <p:ph type="title"/>
          </p:nvPr>
        </p:nvSpPr>
        <p:spPr>
          <a:xfrm>
            <a:off x="1115568" y="548640"/>
            <a:ext cx="10168128" cy="1179576"/>
          </a:xfrm>
        </p:spPr>
        <p:txBody>
          <a:bodyPr>
            <a:normAutofit/>
          </a:bodyPr>
          <a:lstStyle/>
          <a:p>
            <a:r>
              <a:rPr lang="en-US" sz="4000" b="1" dirty="0">
                <a:latin typeface="Tenorite Display" panose="00000500000000000000" pitchFamily="2" charset="0"/>
              </a:rPr>
              <a:t>Code: Structured Data</a:t>
            </a:r>
          </a:p>
        </p:txBody>
      </p:sp>
      <p:sp>
        <p:nvSpPr>
          <p:cNvPr id="14" name="Rectangle 13">
            <a:extLst>
              <a:ext uri="{FF2B5EF4-FFF2-40B4-BE49-F238E27FC236}">
                <a16:creationId xmlns:a16="http://schemas.microsoft.com/office/drawing/2014/main" id="{38AAC0A9-FF34-D543-3F3E-B7F5FEAB7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F2FC85C5-9314-3E58-D93E-61ED42E305AE}"/>
              </a:ext>
            </a:extLst>
          </p:cNvPr>
          <p:cNvSpPr txBox="1"/>
          <p:nvPr/>
        </p:nvSpPr>
        <p:spPr>
          <a:xfrm>
            <a:off x="498834" y="1642348"/>
            <a:ext cx="10168128" cy="738664"/>
          </a:xfrm>
          <a:prstGeom prst="rect">
            <a:avLst/>
          </a:prstGeom>
          <a:noFill/>
        </p:spPr>
        <p:txBody>
          <a:bodyPr wrap="square">
            <a:spAutoFit/>
          </a:bodyPr>
          <a:lstStyle/>
          <a:p>
            <a:r>
              <a:rPr lang="en-US" sz="1400" dirty="0" err="1">
                <a:latin typeface="Tenorite" panose="00000500000000000000" pitchFamily="2" charset="0"/>
              </a:rPr>
              <a:t>df_icustays</a:t>
            </a:r>
            <a:r>
              <a:rPr lang="en-US" sz="1400" dirty="0">
                <a:latin typeface="Tenorite" panose="00000500000000000000" pitchFamily="2" charset="0"/>
              </a:rPr>
              <a:t>['intime'] = </a:t>
            </a:r>
            <a:r>
              <a:rPr lang="en-US" sz="1400" dirty="0" err="1">
                <a:latin typeface="Tenorite" panose="00000500000000000000" pitchFamily="2" charset="0"/>
              </a:rPr>
              <a:t>pd.to_datetime</a:t>
            </a:r>
            <a:r>
              <a:rPr lang="en-US" sz="1400" dirty="0">
                <a:latin typeface="Tenorite" panose="00000500000000000000" pitchFamily="2" charset="0"/>
              </a:rPr>
              <a:t>(</a:t>
            </a:r>
            <a:r>
              <a:rPr lang="en-US" sz="1400" dirty="0" err="1">
                <a:latin typeface="Tenorite" panose="00000500000000000000" pitchFamily="2" charset="0"/>
              </a:rPr>
              <a:t>df_icustays</a:t>
            </a:r>
            <a:r>
              <a:rPr lang="en-US" sz="1400" dirty="0">
                <a:latin typeface="Tenorite" panose="00000500000000000000" pitchFamily="2" charset="0"/>
              </a:rPr>
              <a:t>['intime'])</a:t>
            </a:r>
          </a:p>
          <a:p>
            <a:r>
              <a:rPr lang="en-US" sz="1400" dirty="0" err="1">
                <a:latin typeface="Tenorite" panose="00000500000000000000" pitchFamily="2" charset="0"/>
              </a:rPr>
              <a:t>df_icustays</a:t>
            </a:r>
            <a:r>
              <a:rPr lang="en-US" sz="1400" dirty="0">
                <a:latin typeface="Tenorite" panose="00000500000000000000" pitchFamily="2" charset="0"/>
              </a:rPr>
              <a:t>['</a:t>
            </a:r>
            <a:r>
              <a:rPr lang="en-US" sz="1400" dirty="0" err="1">
                <a:latin typeface="Tenorite" panose="00000500000000000000" pitchFamily="2" charset="0"/>
              </a:rPr>
              <a:t>outtime</a:t>
            </a:r>
            <a:r>
              <a:rPr lang="en-US" sz="1400" dirty="0">
                <a:latin typeface="Tenorite" panose="00000500000000000000" pitchFamily="2" charset="0"/>
              </a:rPr>
              <a:t>'] = </a:t>
            </a:r>
            <a:r>
              <a:rPr lang="en-US" sz="1400" dirty="0" err="1">
                <a:latin typeface="Tenorite" panose="00000500000000000000" pitchFamily="2" charset="0"/>
              </a:rPr>
              <a:t>pd.to_datetime</a:t>
            </a:r>
            <a:r>
              <a:rPr lang="en-US" sz="1400" dirty="0">
                <a:latin typeface="Tenorite" panose="00000500000000000000" pitchFamily="2" charset="0"/>
              </a:rPr>
              <a:t>(</a:t>
            </a:r>
            <a:r>
              <a:rPr lang="en-US" sz="1400" dirty="0" err="1">
                <a:latin typeface="Tenorite" panose="00000500000000000000" pitchFamily="2" charset="0"/>
              </a:rPr>
              <a:t>df_icustays</a:t>
            </a:r>
            <a:r>
              <a:rPr lang="en-US" sz="1400" dirty="0">
                <a:latin typeface="Tenorite" panose="00000500000000000000" pitchFamily="2" charset="0"/>
              </a:rPr>
              <a:t>['</a:t>
            </a:r>
            <a:r>
              <a:rPr lang="en-US" sz="1400" dirty="0" err="1">
                <a:latin typeface="Tenorite" panose="00000500000000000000" pitchFamily="2" charset="0"/>
              </a:rPr>
              <a:t>outtime</a:t>
            </a:r>
            <a:r>
              <a:rPr lang="en-US" sz="1400" dirty="0">
                <a:latin typeface="Tenorite" panose="00000500000000000000" pitchFamily="2" charset="0"/>
              </a:rPr>
              <a:t>'])</a:t>
            </a:r>
          </a:p>
          <a:p>
            <a:r>
              <a:rPr lang="en-US" sz="1400" dirty="0" err="1">
                <a:latin typeface="Tenorite" panose="00000500000000000000" pitchFamily="2" charset="0"/>
              </a:rPr>
              <a:t>df_icustays</a:t>
            </a:r>
            <a:r>
              <a:rPr lang="en-US" sz="1400" dirty="0">
                <a:latin typeface="Tenorite" panose="00000500000000000000" pitchFamily="2" charset="0"/>
              </a:rPr>
              <a:t> = </a:t>
            </a:r>
            <a:r>
              <a:rPr lang="en-US" sz="1400" dirty="0" err="1">
                <a:latin typeface="Tenorite" panose="00000500000000000000" pitchFamily="2" charset="0"/>
              </a:rPr>
              <a:t>df_icustays.sort_values</a:t>
            </a:r>
            <a:r>
              <a:rPr lang="en-US" sz="1400" dirty="0">
                <a:latin typeface="Tenorite" panose="00000500000000000000" pitchFamily="2" charset="0"/>
              </a:rPr>
              <a:t>(by=['</a:t>
            </a:r>
            <a:r>
              <a:rPr lang="en-US" sz="1400" dirty="0" err="1">
                <a:latin typeface="Tenorite" panose="00000500000000000000" pitchFamily="2" charset="0"/>
              </a:rPr>
              <a:t>subject_id</a:t>
            </a:r>
            <a:r>
              <a:rPr lang="en-US" sz="1400" dirty="0">
                <a:latin typeface="Tenorite" panose="00000500000000000000" pitchFamily="2" charset="0"/>
              </a:rPr>
              <a:t>', 'intime']).</a:t>
            </a:r>
            <a:r>
              <a:rPr lang="en-US" sz="1400" dirty="0" err="1">
                <a:latin typeface="Tenorite" panose="00000500000000000000" pitchFamily="2" charset="0"/>
              </a:rPr>
              <a:t>reset_index</a:t>
            </a:r>
            <a:r>
              <a:rPr lang="en-US" sz="1400" dirty="0">
                <a:latin typeface="Tenorite" panose="00000500000000000000" pitchFamily="2" charset="0"/>
              </a:rPr>
              <a:t>(drop=True)</a:t>
            </a:r>
          </a:p>
        </p:txBody>
      </p:sp>
      <p:sp>
        <p:nvSpPr>
          <p:cNvPr id="15" name="TextBox 14">
            <a:extLst>
              <a:ext uri="{FF2B5EF4-FFF2-40B4-BE49-F238E27FC236}">
                <a16:creationId xmlns:a16="http://schemas.microsoft.com/office/drawing/2014/main" id="{4FBDA8EF-EFE5-48CC-D964-11124691798B}"/>
              </a:ext>
            </a:extLst>
          </p:cNvPr>
          <p:cNvSpPr txBox="1"/>
          <p:nvPr/>
        </p:nvSpPr>
        <p:spPr>
          <a:xfrm>
            <a:off x="498834" y="2570999"/>
            <a:ext cx="9691650" cy="3970318"/>
          </a:xfrm>
          <a:prstGeom prst="rect">
            <a:avLst/>
          </a:prstGeom>
          <a:noFill/>
        </p:spPr>
        <p:txBody>
          <a:bodyPr wrap="square">
            <a:spAutoFit/>
          </a:bodyPr>
          <a:lstStyle/>
          <a:p>
            <a:r>
              <a:rPr lang="en-US" sz="1400" dirty="0" err="1">
                <a:latin typeface="Tenorite" panose="00000500000000000000" pitchFamily="2" charset="0"/>
              </a:rPr>
              <a:t>readmission_labels</a:t>
            </a:r>
            <a:r>
              <a:rPr lang="en-US" sz="1400" dirty="0">
                <a:latin typeface="Tenorite" panose="00000500000000000000" pitchFamily="2" charset="0"/>
              </a:rPr>
              <a:t> = [] </a:t>
            </a:r>
          </a:p>
          <a:p>
            <a:r>
              <a:rPr lang="en-US" sz="1400" dirty="0">
                <a:latin typeface="Tenorite" panose="00000500000000000000" pitchFamily="2" charset="0"/>
              </a:rPr>
              <a:t>"""Empty list to hold readmission data </a:t>
            </a:r>
          </a:p>
          <a:p>
            <a:r>
              <a:rPr lang="en-US" sz="1400" dirty="0">
                <a:latin typeface="Tenorite" panose="00000500000000000000" pitchFamily="2" charset="0"/>
              </a:rPr>
              <a:t>   0 = Not Readmitted</a:t>
            </a:r>
          </a:p>
          <a:p>
            <a:r>
              <a:rPr lang="en-US" sz="1400" dirty="0">
                <a:latin typeface="Tenorite" panose="00000500000000000000" pitchFamily="2" charset="0"/>
              </a:rPr>
              <a:t>   1= Readmitted to ICU within 30 days</a:t>
            </a:r>
          </a:p>
          <a:p>
            <a:r>
              <a:rPr lang="en-US" sz="1400" dirty="0">
                <a:latin typeface="Tenorite" panose="00000500000000000000" pitchFamily="2" charset="0"/>
              </a:rPr>
              <a:t>"""</a:t>
            </a:r>
          </a:p>
          <a:p>
            <a:r>
              <a:rPr lang="en-US" sz="1400" dirty="0">
                <a:latin typeface="Tenorite" panose="00000500000000000000" pitchFamily="2" charset="0"/>
              </a:rPr>
              <a:t># Loop through ICU stays grouped by patient</a:t>
            </a:r>
          </a:p>
          <a:p>
            <a:r>
              <a:rPr lang="en-US" sz="1400" dirty="0">
                <a:latin typeface="Tenorite" panose="00000500000000000000" pitchFamily="2" charset="0"/>
              </a:rPr>
              <a:t>for </a:t>
            </a:r>
            <a:r>
              <a:rPr lang="en-US" sz="1400" dirty="0" err="1">
                <a:latin typeface="Tenorite" panose="00000500000000000000" pitchFamily="2" charset="0"/>
              </a:rPr>
              <a:t>subject_id</a:t>
            </a:r>
            <a:r>
              <a:rPr lang="en-US" sz="1400" dirty="0">
                <a:latin typeface="Tenorite" panose="00000500000000000000" pitchFamily="2" charset="0"/>
              </a:rPr>
              <a:t>, stays in </a:t>
            </a:r>
            <a:r>
              <a:rPr lang="en-US" sz="1400" dirty="0" err="1">
                <a:latin typeface="Tenorite" panose="00000500000000000000" pitchFamily="2" charset="0"/>
              </a:rPr>
              <a:t>df_icustays.groupby</a:t>
            </a:r>
            <a:r>
              <a:rPr lang="en-US" sz="1400" dirty="0">
                <a:latin typeface="Tenorite" panose="00000500000000000000" pitchFamily="2" charset="0"/>
              </a:rPr>
              <a:t>('</a:t>
            </a:r>
            <a:r>
              <a:rPr lang="en-US" sz="1400" dirty="0" err="1">
                <a:latin typeface="Tenorite" panose="00000500000000000000" pitchFamily="2" charset="0"/>
              </a:rPr>
              <a:t>subject_id</a:t>
            </a:r>
            <a:r>
              <a:rPr lang="en-US" sz="1400" dirty="0">
                <a:latin typeface="Tenorite" panose="00000500000000000000" pitchFamily="2" charset="0"/>
              </a:rPr>
              <a:t>'): #A </a:t>
            </a:r>
            <a:r>
              <a:rPr lang="en-US" sz="1400" dirty="0" err="1">
                <a:latin typeface="Tenorite" panose="00000500000000000000" pitchFamily="2" charset="0"/>
              </a:rPr>
              <a:t>datafram</a:t>
            </a:r>
            <a:r>
              <a:rPr lang="en-US" sz="1400" dirty="0">
                <a:latin typeface="Tenorite" panose="00000500000000000000" pitchFamily="2" charset="0"/>
              </a:rPr>
              <a:t> that has patient ICU stays</a:t>
            </a:r>
          </a:p>
          <a:p>
            <a:r>
              <a:rPr lang="en-US" sz="1400" dirty="0">
                <a:latin typeface="Tenorite" panose="00000500000000000000" pitchFamily="2" charset="0"/>
              </a:rPr>
              <a:t>    stays = </a:t>
            </a:r>
            <a:r>
              <a:rPr lang="en-US" sz="1400" dirty="0" err="1">
                <a:latin typeface="Tenorite" panose="00000500000000000000" pitchFamily="2" charset="0"/>
              </a:rPr>
              <a:t>stays.sort_values</a:t>
            </a:r>
            <a:r>
              <a:rPr lang="en-US" sz="1400" dirty="0">
                <a:latin typeface="Tenorite" panose="00000500000000000000" pitchFamily="2" charset="0"/>
              </a:rPr>
              <a:t>(by='intime').</a:t>
            </a:r>
            <a:r>
              <a:rPr lang="en-US" sz="1400" dirty="0" err="1">
                <a:latin typeface="Tenorite" panose="00000500000000000000" pitchFamily="2" charset="0"/>
              </a:rPr>
              <a:t>reset_index</a:t>
            </a:r>
            <a:r>
              <a:rPr lang="en-US" sz="1400" dirty="0">
                <a:latin typeface="Tenorite" panose="00000500000000000000" pitchFamily="2" charset="0"/>
              </a:rPr>
              <a:t>(drop=True) </a:t>
            </a:r>
          </a:p>
          <a:p>
            <a:r>
              <a:rPr lang="en-US" sz="1400" dirty="0">
                <a:latin typeface="Tenorite" panose="00000500000000000000" pitchFamily="2" charset="0"/>
              </a:rPr>
              <a:t>    readmitted = [0] * </a:t>
            </a:r>
            <a:r>
              <a:rPr lang="en-US" sz="1400" dirty="0" err="1">
                <a:latin typeface="Tenorite" panose="00000500000000000000" pitchFamily="2" charset="0"/>
              </a:rPr>
              <a:t>len</a:t>
            </a:r>
            <a:r>
              <a:rPr lang="en-US" sz="1400" dirty="0">
                <a:latin typeface="Tenorite" panose="00000500000000000000" pitchFamily="2" charset="0"/>
              </a:rPr>
              <a:t>(stays) #List of 0 and 1 for ICU </a:t>
            </a:r>
            <a:r>
              <a:rPr lang="en-US" sz="1400" dirty="0" err="1">
                <a:latin typeface="Tenorite" panose="00000500000000000000" pitchFamily="2" charset="0"/>
              </a:rPr>
              <a:t>readmissionc</a:t>
            </a:r>
            <a:endParaRPr lang="en-US" sz="1400" dirty="0">
              <a:latin typeface="Tenorite" panose="00000500000000000000" pitchFamily="2" charset="0"/>
            </a:endParaRPr>
          </a:p>
          <a:p>
            <a:r>
              <a:rPr lang="en-US" sz="1400" dirty="0">
                <a:latin typeface="Tenorite" panose="00000500000000000000" pitchFamily="2" charset="0"/>
              </a:rPr>
              <a:t>    for </a:t>
            </a:r>
            <a:r>
              <a:rPr lang="en-US" sz="1400" dirty="0" err="1">
                <a:latin typeface="Tenorite" panose="00000500000000000000" pitchFamily="2" charset="0"/>
              </a:rPr>
              <a:t>i</a:t>
            </a:r>
            <a:r>
              <a:rPr lang="en-US" sz="1400" dirty="0">
                <a:latin typeface="Tenorite" panose="00000500000000000000" pitchFamily="2" charset="0"/>
              </a:rPr>
              <a:t> in range(</a:t>
            </a:r>
            <a:r>
              <a:rPr lang="en-US" sz="1400" dirty="0" err="1">
                <a:latin typeface="Tenorite" panose="00000500000000000000" pitchFamily="2" charset="0"/>
              </a:rPr>
              <a:t>len</a:t>
            </a:r>
            <a:r>
              <a:rPr lang="en-US" sz="1400" dirty="0">
                <a:latin typeface="Tenorite" panose="00000500000000000000" pitchFamily="2" charset="0"/>
              </a:rPr>
              <a:t>(stays) - 1):</a:t>
            </a:r>
          </a:p>
          <a:p>
            <a:r>
              <a:rPr lang="en-US" sz="1400" dirty="0">
                <a:latin typeface="Tenorite" panose="00000500000000000000" pitchFamily="2" charset="0"/>
              </a:rPr>
              <a:t>        delta = (</a:t>
            </a:r>
            <a:r>
              <a:rPr lang="en-US" sz="1400" dirty="0" err="1">
                <a:latin typeface="Tenorite" panose="00000500000000000000" pitchFamily="2" charset="0"/>
              </a:rPr>
              <a:t>stays.loc</a:t>
            </a:r>
            <a:r>
              <a:rPr lang="en-US" sz="1400" dirty="0">
                <a:latin typeface="Tenorite" panose="00000500000000000000" pitchFamily="2" charset="0"/>
              </a:rPr>
              <a:t>[</a:t>
            </a:r>
            <a:r>
              <a:rPr lang="en-US" sz="1400" dirty="0" err="1">
                <a:latin typeface="Tenorite" panose="00000500000000000000" pitchFamily="2" charset="0"/>
              </a:rPr>
              <a:t>i</a:t>
            </a:r>
            <a:r>
              <a:rPr lang="en-US" sz="1400" dirty="0">
                <a:latin typeface="Tenorite" panose="00000500000000000000" pitchFamily="2" charset="0"/>
              </a:rPr>
              <a:t> + 1, 'intime'] - </a:t>
            </a:r>
            <a:r>
              <a:rPr lang="en-US" sz="1400" dirty="0" err="1">
                <a:latin typeface="Tenorite" panose="00000500000000000000" pitchFamily="2" charset="0"/>
              </a:rPr>
              <a:t>stays.loc</a:t>
            </a:r>
            <a:r>
              <a:rPr lang="en-US" sz="1400" dirty="0">
                <a:latin typeface="Tenorite" panose="00000500000000000000" pitchFamily="2" charset="0"/>
              </a:rPr>
              <a:t>[</a:t>
            </a:r>
            <a:r>
              <a:rPr lang="en-US" sz="1400" dirty="0" err="1">
                <a:latin typeface="Tenorite" panose="00000500000000000000" pitchFamily="2" charset="0"/>
              </a:rPr>
              <a:t>i</a:t>
            </a:r>
            <a:r>
              <a:rPr lang="en-US" sz="1400" dirty="0">
                <a:latin typeface="Tenorite" panose="00000500000000000000" pitchFamily="2" charset="0"/>
              </a:rPr>
              <a:t>, '</a:t>
            </a:r>
            <a:r>
              <a:rPr lang="en-US" sz="1400" dirty="0" err="1">
                <a:latin typeface="Tenorite" panose="00000500000000000000" pitchFamily="2" charset="0"/>
              </a:rPr>
              <a:t>outtime</a:t>
            </a:r>
            <a:r>
              <a:rPr lang="en-US" sz="1400" dirty="0">
                <a:latin typeface="Tenorite" panose="00000500000000000000" pitchFamily="2" charset="0"/>
              </a:rPr>
              <a:t>']).days #Calculates number of days between discharge and the next admission</a:t>
            </a:r>
          </a:p>
          <a:p>
            <a:r>
              <a:rPr lang="en-US" sz="1400" dirty="0">
                <a:latin typeface="Tenorite" panose="00000500000000000000" pitchFamily="2" charset="0"/>
              </a:rPr>
              <a:t>        if 0 &lt; delta &lt;= 30: #If patient was not readmitted to the ICU in 30 Days</a:t>
            </a:r>
          </a:p>
          <a:p>
            <a:r>
              <a:rPr lang="en-US" sz="1400" dirty="0">
                <a:latin typeface="Tenorite" panose="00000500000000000000" pitchFamily="2" charset="0"/>
              </a:rPr>
              <a:t>            readmitted[</a:t>
            </a:r>
            <a:r>
              <a:rPr lang="en-US" sz="1400" dirty="0" err="1">
                <a:latin typeface="Tenorite" panose="00000500000000000000" pitchFamily="2" charset="0"/>
              </a:rPr>
              <a:t>i</a:t>
            </a:r>
            <a:r>
              <a:rPr lang="en-US" sz="1400" dirty="0">
                <a:latin typeface="Tenorite" panose="00000500000000000000" pitchFamily="2" charset="0"/>
              </a:rPr>
              <a:t>] = 1 #If </a:t>
            </a:r>
            <a:r>
              <a:rPr lang="en-US" sz="1400" dirty="0" err="1">
                <a:latin typeface="Tenorite" panose="00000500000000000000" pitchFamily="2" charset="0"/>
              </a:rPr>
              <a:t>reamitted</a:t>
            </a:r>
            <a:r>
              <a:rPr lang="en-US" sz="1400" dirty="0">
                <a:latin typeface="Tenorite" panose="00000500000000000000" pitchFamily="2" charset="0"/>
              </a:rPr>
              <a:t> 1</a:t>
            </a:r>
          </a:p>
          <a:p>
            <a:r>
              <a:rPr lang="en-US" sz="1400" dirty="0">
                <a:latin typeface="Tenorite" panose="00000500000000000000" pitchFamily="2" charset="0"/>
              </a:rPr>
              <a:t>    </a:t>
            </a:r>
            <a:r>
              <a:rPr lang="en-US" sz="1400" dirty="0" err="1">
                <a:latin typeface="Tenorite" panose="00000500000000000000" pitchFamily="2" charset="0"/>
              </a:rPr>
              <a:t>readmission_labels.extend</a:t>
            </a:r>
            <a:r>
              <a:rPr lang="en-US" sz="1400" dirty="0">
                <a:latin typeface="Tenorite" panose="00000500000000000000" pitchFamily="2" charset="0"/>
              </a:rPr>
              <a:t>(readmitted) #Adds readmitted data to list</a:t>
            </a:r>
          </a:p>
          <a:p>
            <a:endParaRPr lang="en-US" sz="1400" dirty="0">
              <a:latin typeface="Tenorite" panose="00000500000000000000" pitchFamily="2" charset="0"/>
            </a:endParaRPr>
          </a:p>
          <a:p>
            <a:r>
              <a:rPr lang="en-US" sz="1400" dirty="0" err="1">
                <a:latin typeface="Tenorite" panose="00000500000000000000" pitchFamily="2" charset="0"/>
              </a:rPr>
              <a:t>df_icustays</a:t>
            </a:r>
            <a:r>
              <a:rPr lang="en-US" sz="1400" dirty="0">
                <a:latin typeface="Tenorite" panose="00000500000000000000" pitchFamily="2" charset="0"/>
              </a:rPr>
              <a:t> = </a:t>
            </a:r>
            <a:r>
              <a:rPr lang="en-US" sz="1400" dirty="0" err="1">
                <a:latin typeface="Tenorite" panose="00000500000000000000" pitchFamily="2" charset="0"/>
              </a:rPr>
              <a:t>df_icustays.iloc</a:t>
            </a:r>
            <a:r>
              <a:rPr lang="en-US" sz="1400" dirty="0">
                <a:latin typeface="Tenorite" panose="00000500000000000000" pitchFamily="2" charset="0"/>
              </a:rPr>
              <a:t>[:</a:t>
            </a:r>
            <a:r>
              <a:rPr lang="en-US" sz="1400" dirty="0" err="1">
                <a:latin typeface="Tenorite" panose="00000500000000000000" pitchFamily="2" charset="0"/>
              </a:rPr>
              <a:t>len</a:t>
            </a:r>
            <a:r>
              <a:rPr lang="en-US" sz="1400" dirty="0">
                <a:latin typeface="Tenorite" panose="00000500000000000000" pitchFamily="2" charset="0"/>
              </a:rPr>
              <a:t>(</a:t>
            </a:r>
            <a:r>
              <a:rPr lang="en-US" sz="1400" dirty="0" err="1">
                <a:latin typeface="Tenorite" panose="00000500000000000000" pitchFamily="2" charset="0"/>
              </a:rPr>
              <a:t>readmission_labels</a:t>
            </a:r>
            <a:r>
              <a:rPr lang="en-US" sz="1400" dirty="0">
                <a:latin typeface="Tenorite" panose="00000500000000000000" pitchFamily="2" charset="0"/>
              </a:rPr>
              <a:t>)] #Data frame only has as many rows as labels</a:t>
            </a:r>
          </a:p>
          <a:p>
            <a:r>
              <a:rPr lang="en-US" sz="1400" dirty="0" err="1">
                <a:latin typeface="Tenorite" panose="00000500000000000000" pitchFamily="2" charset="0"/>
              </a:rPr>
              <a:t>df_icustays</a:t>
            </a:r>
            <a:r>
              <a:rPr lang="en-US" sz="1400" dirty="0">
                <a:latin typeface="Tenorite" panose="00000500000000000000" pitchFamily="2" charset="0"/>
              </a:rPr>
              <a:t>['readmitted'] = </a:t>
            </a:r>
            <a:r>
              <a:rPr lang="en-US" sz="1400" dirty="0" err="1">
                <a:latin typeface="Tenorite" panose="00000500000000000000" pitchFamily="2" charset="0"/>
              </a:rPr>
              <a:t>readmission_labels</a:t>
            </a:r>
            <a:r>
              <a:rPr lang="en-US" sz="1400" dirty="0">
                <a:latin typeface="Tenorite" panose="00000500000000000000" pitchFamily="2" charset="0"/>
              </a:rPr>
              <a:t> #Adds </a:t>
            </a:r>
            <a:r>
              <a:rPr lang="en-US" sz="1400" dirty="0" err="1">
                <a:latin typeface="Tenorite" panose="00000500000000000000" pitchFamily="2" charset="0"/>
              </a:rPr>
              <a:t>reamitted</a:t>
            </a:r>
            <a:r>
              <a:rPr lang="en-US" sz="1400" dirty="0">
                <a:latin typeface="Tenorite" panose="00000500000000000000" pitchFamily="2" charset="0"/>
              </a:rPr>
              <a:t> </a:t>
            </a:r>
            <a:r>
              <a:rPr lang="en-US" sz="1400" dirty="0" err="1">
                <a:latin typeface="Tenorite" panose="00000500000000000000" pitchFamily="2" charset="0"/>
              </a:rPr>
              <a:t>colum</a:t>
            </a:r>
            <a:r>
              <a:rPr lang="en-US" sz="1400" dirty="0">
                <a:latin typeface="Tenorite" panose="00000500000000000000" pitchFamily="2" charset="0"/>
              </a:rPr>
              <a:t> to ICU stays data set</a:t>
            </a:r>
          </a:p>
        </p:txBody>
      </p:sp>
      <p:pic>
        <p:nvPicPr>
          <p:cNvPr id="2052" name="Picture 4" descr="Output image">
            <a:extLst>
              <a:ext uri="{FF2B5EF4-FFF2-40B4-BE49-F238E27FC236}">
                <a16:creationId xmlns:a16="http://schemas.microsoft.com/office/drawing/2014/main" id="{6063BF8F-941F-DBF3-2B91-EF74278562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8534" y="2570205"/>
            <a:ext cx="5256810" cy="1012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0837377"/>
      </p:ext>
    </p:extLst>
  </p:cSld>
  <p:clrMapOvr>
    <a:masterClrMapping/>
  </p:clrMapOvr>
  <mc:AlternateContent xmlns:mc="http://schemas.openxmlformats.org/markup-compatibility/2006" xmlns:p14="http://schemas.microsoft.com/office/powerpoint/2010/main">
    <mc:Choice Requires="p14">
      <p:transition spd="slow" p14:dur="2000" advTm="17423"/>
    </mc:Choice>
    <mc:Fallback xmlns="">
      <p:transition spd="slow" advTm="17423"/>
    </mc:Fallback>
  </mc:AlternateContent>
  <p:extLst>
    <p:ext uri="{3A86A75C-4F4B-4683-9AE1-C65F6400EC91}">
      <p14:laserTraceLst xmlns:p14="http://schemas.microsoft.com/office/powerpoint/2010/main">
        <p14:tracePtLst>
          <p14:tracePt t="11003" x="12150725" y="6286500"/>
          <p14:tracePt t="11003" x="12141200" y="6303963"/>
          <p14:tracePt t="11005" x="12125325" y="6321425"/>
          <p14:tracePt t="11017" x="11939588" y="6546850"/>
          <p14:tracePt t="11018" x="11880850" y="6623050"/>
          <p14:tracePt t="11445" x="8743950" y="6807200"/>
          <p14:tracePt t="11446" x="8726488" y="6781800"/>
          <p14:tracePt t="11448" x="8693150" y="6748463"/>
          <p14:tracePt t="11450" x="8685213" y="6732588"/>
          <p14:tracePt t="11450" x="8659813" y="6707188"/>
          <p14:tracePt t="11452" x="8642350" y="6673850"/>
          <p14:tracePt t="11467" x="8382000" y="6262688"/>
          <p14:tracePt t="11467" x="8366125" y="6237288"/>
          <p14:tracePt t="11483" x="8180388" y="5849938"/>
          <p14:tracePt t="11500" x="8062913" y="5522913"/>
          <p14:tracePt t="11517" x="8004175" y="5313363"/>
          <p14:tracePt t="11533" x="7980363" y="5170488"/>
          <p14:tracePt t="11550" x="7970838" y="5070475"/>
          <p14:tracePt t="11567" x="7970838" y="5002213"/>
          <p14:tracePt t="11583" x="7988300" y="4953000"/>
          <p14:tracePt t="11600" x="8004175" y="4910138"/>
          <p14:tracePt t="11600" x="8004175" y="4902200"/>
          <p14:tracePt t="11616" x="8039100" y="4860925"/>
          <p14:tracePt t="11634" x="8062913" y="4835525"/>
          <p14:tracePt t="11650" x="8072438" y="4810125"/>
          <p14:tracePt t="11667" x="8088313" y="4784725"/>
          <p14:tracePt t="11684" x="8113713" y="4743450"/>
          <p14:tracePt t="11700" x="8147050" y="4692650"/>
          <p14:tracePt t="11700" x="8147050" y="4684713"/>
          <p14:tracePt t="11717" x="8180388" y="4616450"/>
          <p14:tracePt t="11717" x="8189913" y="4616450"/>
          <p14:tracePt t="11733" x="8223250" y="4549775"/>
          <p14:tracePt t="11750" x="8264525" y="4491038"/>
          <p14:tracePt t="11750" x="8264525" y="4483100"/>
          <p14:tracePt t="11767" x="8307388" y="4424363"/>
          <p14:tracePt t="11783" x="8356600" y="4348163"/>
          <p14:tracePt t="11800" x="8399463" y="4289425"/>
          <p14:tracePt t="11800" x="8407400" y="4289425"/>
          <p14:tracePt t="11817" x="8450263" y="4238625"/>
          <p14:tracePt t="11833" x="8491538" y="4189413"/>
          <p14:tracePt t="11850" x="8516938" y="4154488"/>
          <p14:tracePt t="11850" x="8516938" y="4146550"/>
          <p14:tracePt t="11867" x="8550275" y="4113213"/>
          <p14:tracePt t="11867" x="8558213" y="4113213"/>
          <p14:tracePt t="11883" x="8591550" y="4071938"/>
          <p14:tracePt t="11900" x="8634413" y="4037013"/>
          <p14:tracePt t="11917" x="8675688" y="4011613"/>
          <p14:tracePt t="11933" x="8701088" y="4003675"/>
          <p14:tracePt t="11950" x="8709025" y="3995738"/>
          <p14:tracePt t="11983" x="8718550" y="3995738"/>
          <p14:tracePt t="12000" x="8726488" y="3995738"/>
          <p14:tracePt t="12017" x="8743950" y="3987800"/>
          <p14:tracePt t="12033" x="8785225" y="3978275"/>
          <p14:tracePt t="12050" x="8843963" y="3978275"/>
          <p14:tracePt t="12067" x="8902700" y="3978275"/>
          <p14:tracePt t="12067" x="8910638" y="3978275"/>
          <p14:tracePt t="12083" x="8978900" y="3995738"/>
          <p14:tracePt t="12100" x="9053513" y="4003675"/>
          <p14:tracePt t="12117" x="9145588" y="4021138"/>
          <p14:tracePt t="12117" x="9155113" y="4021138"/>
          <p14:tracePt t="12133" x="9263063" y="4037013"/>
          <p14:tracePt t="12150" x="9372600" y="4046538"/>
          <p14:tracePt t="12150" x="9390063" y="4046538"/>
          <p14:tracePt t="12167" x="9482138" y="4046538"/>
          <p14:tracePt t="12167" x="9498013" y="4046538"/>
          <p14:tracePt t="12183" x="9582150" y="4046538"/>
          <p14:tracePt t="12200" x="9648825" y="4037013"/>
          <p14:tracePt t="12200" x="9658350" y="4037013"/>
          <p14:tracePt t="12216" x="9732963" y="4021138"/>
          <p14:tracePt t="12234" x="9834563" y="3995738"/>
          <p14:tracePt t="12234" x="9842500" y="3995738"/>
          <p14:tracePt t="12250" x="9942513" y="3962400"/>
          <p14:tracePt t="12250" x="9952038" y="3962400"/>
          <p14:tracePt t="12267" x="10059988" y="3919538"/>
          <p14:tracePt t="12267" x="10077450" y="3919538"/>
          <p14:tracePt t="12283" x="10169525" y="3870325"/>
          <p14:tracePt t="12300" x="10245725" y="3827463"/>
          <p14:tracePt t="12300" x="10253663" y="3827463"/>
          <p14:tracePt t="12316" x="10312400" y="3786188"/>
          <p14:tracePt t="12333" x="10396538" y="3727450"/>
          <p14:tracePt t="12350" x="10488613" y="3651250"/>
          <p14:tracePt t="12350" x="10496550" y="3643313"/>
          <p14:tracePt t="12367" x="10598150" y="3559175"/>
          <p14:tracePt t="12383" x="10690225" y="3475038"/>
          <p14:tracePt t="12400" x="10764838" y="3424238"/>
          <p14:tracePt t="12417" x="10807700" y="3375025"/>
          <p14:tracePt t="12433" x="10833100" y="3340100"/>
          <p14:tracePt t="12450" x="10848975" y="3324225"/>
          <p14:tracePt t="12467" x="10866438" y="3306763"/>
          <p14:tracePt t="12484" x="10891838" y="3281363"/>
          <p14:tracePt t="12500" x="10907713" y="3257550"/>
          <p14:tracePt t="12517" x="10925175" y="3222625"/>
          <p14:tracePt t="12533" x="10941050" y="3181350"/>
          <p14:tracePt t="12550" x="10958513" y="3122613"/>
          <p14:tracePt t="12567" x="10975975" y="3063875"/>
          <p14:tracePt t="12583" x="10975975" y="2987675"/>
          <p14:tracePt t="12604" x="10975975" y="2879725"/>
          <p14:tracePt t="12617" x="10958513" y="2795588"/>
          <p14:tracePt t="12633" x="10925175" y="2693988"/>
          <p14:tracePt t="12650" x="10882313" y="2601913"/>
          <p14:tracePt t="12650" x="10882313" y="2593975"/>
          <p14:tracePt t="12667" x="10841038" y="2509838"/>
          <p14:tracePt t="12667" x="10833100" y="2492375"/>
          <p14:tracePt t="12683" x="10790238" y="2417763"/>
          <p14:tracePt t="12700" x="10731500" y="2333625"/>
          <p14:tracePt t="12700" x="10731500" y="2325688"/>
          <p14:tracePt t="12717" x="10664825" y="2249488"/>
          <p14:tracePt t="12733" x="10588625" y="2182813"/>
          <p14:tracePt t="12750" x="10514013" y="2124075"/>
          <p14:tracePt t="12750" x="10506075" y="2124075"/>
          <p14:tracePt t="12767" x="10429875" y="2073275"/>
          <p14:tracePt t="12783" x="10337800" y="2014538"/>
          <p14:tracePt t="12800" x="10245725" y="1973263"/>
          <p14:tracePt t="12800" x="10236200" y="1963738"/>
          <p14:tracePt t="12817" x="10136188" y="1922463"/>
          <p14:tracePt t="12817" x="10128250" y="1922463"/>
          <p14:tracePt t="12833" x="10010775" y="1889125"/>
          <p14:tracePt t="12850" x="9909175" y="1855788"/>
          <p14:tracePt t="12850" x="9901238" y="1855788"/>
          <p14:tracePt t="12867" x="9783763" y="1838325"/>
          <p14:tracePt t="12867" x="9775825" y="1838325"/>
          <p14:tracePt t="12883" x="9666288" y="1830388"/>
          <p14:tracePt t="12900" x="9566275" y="1830388"/>
          <p14:tracePt t="12900" x="9556750" y="1830388"/>
          <p14:tracePt t="12916" x="9448800" y="1830388"/>
          <p14:tracePt t="12933" x="9313863" y="1838325"/>
          <p14:tracePt t="12950" x="9178925" y="1846263"/>
          <p14:tracePt t="12967" x="9053513" y="1863725"/>
          <p14:tracePt t="12967" x="9045575" y="1863725"/>
          <p14:tracePt t="12983" x="8928100" y="1871663"/>
          <p14:tracePt t="13000" x="8785225" y="1889125"/>
          <p14:tracePt t="13000" x="8777288" y="1897063"/>
          <p14:tracePt t="13016" x="8626475" y="1914525"/>
          <p14:tracePt t="13033" x="8483600" y="1930400"/>
          <p14:tracePt t="13050" x="8366125" y="1947863"/>
          <p14:tracePt t="13051" x="8356600" y="1947863"/>
          <p14:tracePt t="13067" x="8248650" y="1973263"/>
          <p14:tracePt t="13083" x="8121650" y="2006600"/>
          <p14:tracePt t="13100" x="7970838" y="2055813"/>
          <p14:tracePt t="13100" x="7962900" y="2065338"/>
          <p14:tracePt t="13117" x="7794625" y="2114550"/>
          <p14:tracePt t="13133" x="7593013" y="2182813"/>
          <p14:tracePt t="13150" x="7426325" y="2233613"/>
          <p14:tracePt t="13150" x="7416800" y="2233613"/>
          <p14:tracePt t="13167" x="7283450" y="2274888"/>
          <p14:tracePt t="13183" x="7158038" y="2325688"/>
          <p14:tracePt t="13200" x="7056438" y="2359025"/>
          <p14:tracePt t="13200" x="7048500" y="2366963"/>
          <p14:tracePt t="13216" x="6956425" y="2409825"/>
          <p14:tracePt t="13233" x="6864350" y="2451100"/>
          <p14:tracePt t="13234" x="6864350" y="2459038"/>
          <p14:tracePt t="13250" x="6796088" y="2501900"/>
          <p14:tracePt t="13266" x="6737350" y="2535238"/>
          <p14:tracePt t="13283" x="6678613" y="2568575"/>
          <p14:tracePt t="13300" x="6619875" y="2609850"/>
          <p14:tracePt t="13300" x="6611938" y="2619375"/>
          <p14:tracePt t="13317" x="6545263" y="2660650"/>
          <p14:tracePt t="13333" x="6469063" y="2703513"/>
          <p14:tracePt t="13350" x="6418263" y="2736850"/>
          <p14:tracePt t="13350" x="6410325" y="2736850"/>
          <p14:tracePt t="13366" x="6384925" y="2752725"/>
          <p14:tracePt t="13383" x="6376988" y="2752725"/>
          <p14:tracePt t="13417" x="6369050" y="2762250"/>
          <p14:tracePt t="13433" x="6351588" y="2795588"/>
          <p14:tracePt t="13450" x="6326188" y="2828925"/>
          <p14:tracePt t="13466" x="6310313" y="2862263"/>
          <p14:tracePt t="13483" x="6284913" y="2895600"/>
          <p14:tracePt t="13500" x="6276975" y="2928938"/>
          <p14:tracePt t="13500" x="6276975" y="2938463"/>
          <p14:tracePt t="13517" x="6259513" y="2971800"/>
          <p14:tracePt t="13533" x="6251575" y="3013075"/>
          <p14:tracePt t="13550" x="6242050" y="3055938"/>
          <p14:tracePt t="13566" x="6226175" y="3089275"/>
          <p14:tracePt t="13583" x="6226175" y="3122613"/>
          <p14:tracePt t="13600" x="6218238" y="3148013"/>
          <p14:tracePt t="13616" x="6218238" y="3181350"/>
          <p14:tracePt t="13633" x="6208713" y="3232150"/>
          <p14:tracePt t="13650" x="6208713" y="3265488"/>
          <p14:tracePt t="13650" x="6208713" y="3273425"/>
          <p14:tracePt t="13666" x="6200775" y="3306763"/>
          <p14:tracePt t="13683" x="6200775" y="3349625"/>
          <p14:tracePt t="13700" x="6200775" y="3382963"/>
          <p14:tracePt t="13717" x="6200775" y="3424238"/>
          <p14:tracePt t="13733" x="6200775" y="3459163"/>
          <p14:tracePt t="13750" x="6208713" y="3492500"/>
          <p14:tracePt t="13766" x="6208713" y="3525838"/>
          <p14:tracePt t="13783" x="6218238" y="3559175"/>
          <p14:tracePt t="13800" x="6226175" y="3584575"/>
          <p14:tracePt t="13800" x="6226175" y="3592513"/>
          <p14:tracePt t="13816" x="6242050" y="3617913"/>
          <p14:tracePt t="13833" x="6251575" y="3651250"/>
          <p14:tracePt t="13850" x="6267450" y="3668713"/>
          <p14:tracePt t="13866" x="6276975" y="3694113"/>
          <p14:tracePt t="13883" x="6292850" y="3717925"/>
          <p14:tracePt t="13900" x="6318250" y="3743325"/>
          <p14:tracePt t="13917" x="6335713" y="3768725"/>
          <p14:tracePt t="13917" x="6343650" y="3768725"/>
          <p14:tracePt t="13933" x="6369050" y="3794125"/>
          <p14:tracePt t="13950" x="6394450" y="3811588"/>
          <p14:tracePt t="13967" x="6418263" y="3827463"/>
          <p14:tracePt t="13983" x="6453188" y="3844925"/>
          <p14:tracePt t="14000" x="6477000" y="3860800"/>
          <p14:tracePt t="14016" x="6519863" y="3878263"/>
          <p14:tracePt t="14033" x="6578600" y="3903663"/>
          <p14:tracePt t="14050" x="6637338" y="3937000"/>
          <p14:tracePt t="14050" x="6645275" y="3937000"/>
          <p14:tracePt t="14067" x="6711950" y="3962400"/>
          <p14:tracePt t="14083" x="6796088" y="3995738"/>
          <p14:tracePt t="14100" x="6888163" y="4021138"/>
          <p14:tracePt t="14116" x="6997700" y="4046538"/>
          <p14:tracePt t="14133" x="7115175" y="4071938"/>
          <p14:tracePt t="14150" x="7224713" y="4087813"/>
          <p14:tracePt t="14150" x="7232650" y="4087813"/>
          <p14:tracePt t="14167" x="7350125" y="4105275"/>
          <p14:tracePt t="14167" x="7358063" y="4105275"/>
          <p14:tracePt t="14183" x="7475538" y="4121150"/>
          <p14:tracePt t="14200" x="7593013" y="4130675"/>
          <p14:tracePt t="14200" x="7602538" y="4130675"/>
          <p14:tracePt t="14216" x="7727950" y="4146550"/>
          <p14:tracePt t="14233" x="7853363" y="4154488"/>
          <p14:tracePt t="14250" x="7970838" y="4164013"/>
          <p14:tracePt t="14250" x="7988300" y="4164013"/>
          <p14:tracePt t="14266" x="8105775" y="4164013"/>
          <p14:tracePt t="14283" x="8256588" y="4171950"/>
          <p14:tracePt t="14300" x="8374063" y="4171950"/>
          <p14:tracePt t="14300" x="8382000" y="4171950"/>
          <p14:tracePt t="14316" x="8491538" y="4179888"/>
          <p14:tracePt t="14333" x="8609013" y="4189413"/>
          <p14:tracePt t="14350" x="8718550" y="4197350"/>
          <p14:tracePt t="14350" x="8726488" y="4197350"/>
          <p14:tracePt t="14367" x="8851900" y="4205288"/>
          <p14:tracePt t="14367" x="8861425" y="4205288"/>
          <p14:tracePt t="14383" x="8986838" y="4213225"/>
          <p14:tracePt t="14400" x="9096375" y="4222750"/>
          <p14:tracePt t="14401" x="9104313" y="4230688"/>
          <p14:tracePt t="14401" x="9112250" y="4230688"/>
          <p14:tracePt t="14417" x="9204325" y="4238625"/>
          <p14:tracePt t="14417" x="9213850" y="4238625"/>
          <p14:tracePt t="14433" x="9313863" y="4248150"/>
          <p14:tracePt t="14450" x="9413875" y="4256088"/>
          <p14:tracePt t="14450" x="9423400" y="4264025"/>
          <p14:tracePt t="14466" x="9540875" y="4271963"/>
          <p14:tracePt t="14483" x="9691688" y="4281488"/>
          <p14:tracePt t="14500" x="9834563" y="4281488"/>
          <p14:tracePt t="14500" x="9842500" y="4281488"/>
          <p14:tracePt t="14516" x="10001250" y="4289425"/>
          <p14:tracePt t="14533" x="10177463" y="4289425"/>
          <p14:tracePt t="14551" x="10353675" y="4289425"/>
          <p14:tracePt t="14566" x="10521950" y="4281488"/>
          <p14:tracePt t="14584" x="10690225" y="4264025"/>
          <p14:tracePt t="14584" x="10698163" y="4264025"/>
          <p14:tracePt t="14600" x="10833100" y="4248150"/>
          <p14:tracePt t="14617" x="10958513" y="4230688"/>
          <p14:tracePt t="14617" x="10966450" y="4230688"/>
          <p14:tracePt t="14633" x="11068050" y="4205288"/>
          <p14:tracePt t="14650" x="11152188" y="4171950"/>
          <p14:tracePt t="14667" x="11234738" y="4130675"/>
          <p14:tracePt t="14683" x="11303000" y="4062413"/>
          <p14:tracePt t="14700" x="11361738" y="4003675"/>
          <p14:tracePt t="14700" x="11369675" y="3995738"/>
          <p14:tracePt t="14717" x="11436350" y="3911600"/>
          <p14:tracePt t="14733" x="11504613" y="3827463"/>
          <p14:tracePt t="14750" x="11563350" y="3752850"/>
          <p14:tracePt t="14750" x="11571288" y="3752850"/>
          <p14:tracePt t="14766" x="11630025" y="3668713"/>
          <p14:tracePt t="14783" x="11704638" y="3576638"/>
          <p14:tracePt t="14800" x="11763375" y="3500438"/>
          <p14:tracePt t="14800" x="11772900" y="3492500"/>
          <p14:tracePt t="14816" x="11831638" y="3416300"/>
          <p14:tracePt t="14833" x="11880850" y="3332163"/>
          <p14:tracePt t="14850" x="11923713" y="3257550"/>
          <p14:tracePt t="14850" x="11931650" y="3257550"/>
          <p14:tracePt t="14866" x="11964988" y="3173413"/>
          <p14:tracePt t="14883" x="11990388" y="3081338"/>
          <p14:tracePt t="14900" x="12007850" y="2987675"/>
          <p14:tracePt t="14917" x="11998325" y="2887663"/>
          <p14:tracePt t="14933" x="11964988" y="2786063"/>
          <p14:tracePt t="14950" x="11915775" y="2686050"/>
          <p14:tracePt t="14966" x="11831638" y="2586038"/>
          <p14:tracePt t="14983" x="11704638" y="2492375"/>
          <p14:tracePt t="15000" x="11528425" y="2392363"/>
          <p14:tracePt t="15000" x="11520488" y="2384425"/>
          <p14:tracePt t="15016" x="11303000" y="2300288"/>
          <p14:tracePt t="15017" x="11285538" y="2292350"/>
          <p14:tracePt t="15033" x="11017250" y="2198688"/>
          <p14:tracePt t="15050" x="10690225" y="2114550"/>
          <p14:tracePt t="15050" x="10672763" y="2106613"/>
          <p14:tracePt t="15066" x="10363200" y="2032000"/>
          <p14:tracePt t="15083" x="9977438" y="1955800"/>
          <p14:tracePt t="15100" x="9640888" y="1905000"/>
          <p14:tracePt t="15100" x="9599613" y="1905000"/>
          <p14:tracePt t="15116" x="9247188" y="1871663"/>
          <p14:tracePt t="15133" x="8885238" y="1855788"/>
          <p14:tracePt t="15150" x="8542338" y="1855788"/>
          <p14:tracePt t="15150" x="8532813" y="1855788"/>
          <p14:tracePt t="15167" x="8215313" y="1855788"/>
          <p14:tracePt t="15183" x="7904163" y="1863725"/>
          <p14:tracePt t="15200" x="7602538" y="1889125"/>
          <p14:tracePt t="15200" x="7577138" y="1889125"/>
          <p14:tracePt t="15216" x="7308850" y="1914525"/>
          <p14:tracePt t="15233" x="7023100" y="1930400"/>
          <p14:tracePt t="15250" x="6788150" y="1963738"/>
          <p14:tracePt t="15250" x="6770688" y="1973263"/>
          <p14:tracePt t="15266" x="6553200" y="2006600"/>
          <p14:tracePt t="15283" x="6318250" y="2047875"/>
          <p14:tracePt t="15283" x="6310313" y="2047875"/>
          <p14:tracePt t="15303" x="6049963" y="2090738"/>
          <p14:tracePt t="15316" x="5899150" y="2124075"/>
          <p14:tracePt t="15333" x="5730875" y="2173288"/>
          <p14:tracePt t="15350" x="5580063" y="2233613"/>
          <p14:tracePt t="15350" x="5572125" y="2241550"/>
          <p14:tracePt t="15366" x="5411788" y="2308225"/>
          <p14:tracePt t="15386" x="5245100" y="2409825"/>
          <p14:tracePt t="15400" x="5151438" y="2468563"/>
          <p14:tracePt t="15400" x="5143500" y="2468563"/>
          <p14:tracePt t="15417" x="5059363" y="2535238"/>
          <p14:tracePt t="15417" x="5051425" y="2543175"/>
          <p14:tracePt t="15433" x="4992688" y="2593975"/>
          <p14:tracePt t="15450" x="4959350" y="2635250"/>
          <p14:tracePt t="15450" x="4959350" y="2644775"/>
          <p14:tracePt t="15466" x="4933950" y="2678113"/>
          <p14:tracePt t="15483" x="4916488" y="2727325"/>
          <p14:tracePt t="15500" x="4900613" y="2778125"/>
          <p14:tracePt t="15516" x="4883150" y="2846388"/>
          <p14:tracePt t="15533" x="4867275" y="2921000"/>
          <p14:tracePt t="15550" x="4857750" y="2987675"/>
          <p14:tracePt t="15550" x="4857750" y="2997200"/>
          <p14:tracePt t="15566" x="4849813" y="3081338"/>
          <p14:tracePt t="15583" x="4849813" y="3173413"/>
          <p14:tracePt t="15600" x="4849813" y="3265488"/>
          <p14:tracePt t="15618" x="4857750" y="3349625"/>
          <p14:tracePt t="15618" x="4857750" y="3357563"/>
          <p14:tracePt t="15635" x="4883150" y="3416300"/>
          <p14:tracePt t="15635" x="4883150" y="3424238"/>
          <p14:tracePt t="15650" x="4908550" y="3475038"/>
          <p14:tracePt t="15666" x="4941888" y="3525838"/>
          <p14:tracePt t="15684" x="4975225" y="3592513"/>
          <p14:tracePt t="15700" x="5018088" y="3659188"/>
          <p14:tracePt t="15700" x="5026025" y="3659188"/>
          <p14:tracePt t="15716" x="5068888" y="3717925"/>
          <p14:tracePt t="15733" x="5127625" y="3776663"/>
          <p14:tracePt t="15750" x="5194300" y="3835400"/>
          <p14:tracePt t="15766" x="5286375" y="3894138"/>
          <p14:tracePt t="15783" x="5386388" y="3952875"/>
          <p14:tracePt t="15800" x="5529263" y="4029075"/>
          <p14:tracePt t="15800" x="5538788" y="4037013"/>
          <p14:tracePt t="15816" x="5705475" y="4113213"/>
          <p14:tracePt t="15834" x="5932488" y="4205288"/>
          <p14:tracePt t="15834" x="5940425" y="4205288"/>
          <p14:tracePt t="15850" x="6159500" y="4271963"/>
          <p14:tracePt t="15850" x="6167438" y="4281488"/>
          <p14:tracePt t="15866" x="6410325" y="4340225"/>
          <p14:tracePt t="15883" x="6688138" y="4406900"/>
          <p14:tracePt t="15900" x="6981825" y="4473575"/>
          <p14:tracePt t="15900" x="6989763" y="4473575"/>
          <p14:tracePt t="15917" x="7283450" y="4557713"/>
          <p14:tracePt t="15917" x="7299325" y="4565650"/>
          <p14:tracePt t="15933" x="7543800" y="4633913"/>
          <p14:tracePt t="15933" x="7569200" y="4641850"/>
          <p14:tracePt t="15950" x="7769225" y="4700588"/>
          <p14:tracePt t="15950" x="7786688" y="4700588"/>
          <p14:tracePt t="15967" x="7962900" y="4743450"/>
          <p14:tracePt t="15967" x="7970838" y="4743450"/>
          <p14:tracePt t="15983" x="8113713" y="4767263"/>
          <p14:tracePt t="16000" x="8231188" y="4767263"/>
          <p14:tracePt t="16000" x="8239125" y="4767263"/>
          <p14:tracePt t="16017" x="8332788" y="4751388"/>
          <p14:tracePt t="16017" x="8332788" y="4743450"/>
          <p14:tracePt t="16033" x="8399463" y="4708525"/>
          <p14:tracePt t="16033" x="8407400" y="4700588"/>
          <p14:tracePt t="16050" x="8458200" y="4633913"/>
          <p14:tracePt t="16066" x="8509000" y="4541838"/>
          <p14:tracePt t="16083" x="8542338" y="4398963"/>
          <p14:tracePt t="16100" x="8567738" y="4281488"/>
          <p14:tracePt t="16100" x="8567738" y="4264025"/>
          <p14:tracePt t="16117" x="8591550" y="4164013"/>
          <p14:tracePt t="16133" x="8616950" y="4054475"/>
          <p14:tracePt t="16150" x="8659813" y="3944938"/>
          <p14:tracePt t="16150" x="8659813" y="3937000"/>
          <p14:tracePt t="16166" x="8726488" y="3735388"/>
          <p14:tracePt t="16183" x="8818563" y="3433763"/>
          <p14:tracePt t="16200" x="8910638" y="3038475"/>
          <p14:tracePt t="16200" x="8910638" y="3013075"/>
          <p14:tracePt t="16216" x="8961438" y="2644775"/>
          <p14:tracePt t="16233" x="8969375" y="2224088"/>
          <p14:tracePt t="16250" x="8961438" y="1797050"/>
          <p14:tracePt t="16250" x="8953500" y="1771650"/>
          <p14:tracePt t="16266" x="8877300" y="1368425"/>
          <p14:tracePt t="16283" x="8743950" y="1016000"/>
          <p14:tracePt t="16283" x="8743950" y="998538"/>
          <p14:tracePt t="16284" x="8726488" y="973138"/>
          <p14:tracePt t="16300" x="8616950" y="763588"/>
          <p14:tracePt t="16300" x="8609013" y="747713"/>
          <p14:tracePt t="16316" x="8499475" y="579438"/>
          <p14:tracePt t="16333" x="8424863" y="469900"/>
          <p14:tracePt t="16334" x="8415338" y="461963"/>
          <p14:tracePt t="16334" x="8407400" y="454025"/>
          <p14:tracePt t="16350" x="8348663" y="385763"/>
          <p14:tracePt t="16350" x="8340725" y="377825"/>
          <p14:tracePt t="16366" x="8281988" y="319088"/>
          <p14:tracePt t="16383" x="8215313" y="252413"/>
          <p14:tracePt t="16400" x="8156575" y="193675"/>
          <p14:tracePt t="16400" x="8147050" y="193675"/>
          <p14:tracePt t="16417" x="8088313" y="142875"/>
          <p14:tracePt t="16433" x="8021638" y="84138"/>
          <p14:tracePt t="16450" x="7954963" y="25400"/>
          <p14:tracePt t="16450" x="7945438" y="17463"/>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C5BD1A88-FE5F-3933-42E1-A415F526577D}"/>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A56F6B3-52C0-EB0B-8EEA-948E57AAE357}"/>
              </a:ext>
            </a:extLst>
          </p:cNvPr>
          <p:cNvSpPr>
            <a:spLocks noGrp="1"/>
          </p:cNvSpPr>
          <p:nvPr>
            <p:ph type="title"/>
          </p:nvPr>
        </p:nvSpPr>
        <p:spPr>
          <a:xfrm>
            <a:off x="2103121" y="310343"/>
            <a:ext cx="7985759" cy="868823"/>
          </a:xfrm>
        </p:spPr>
        <p:txBody>
          <a:bodyPr vert="horz" lIns="91440" tIns="45720" rIns="91440" bIns="45720" rtlCol="0" anchor="ctr">
            <a:noAutofit/>
          </a:bodyPr>
          <a:lstStyle/>
          <a:p>
            <a:pPr algn="ctr"/>
            <a:r>
              <a:rPr lang="en-US" sz="3600" b="1" dirty="0">
                <a:latin typeface="Tenorite Display" panose="00000500000000000000" pitchFamily="2" charset="0"/>
              </a:rPr>
              <a:t>Structured Data: Random Forest Pre-SMOTE</a:t>
            </a:r>
          </a:p>
        </p:txBody>
      </p:sp>
      <p:sp>
        <p:nvSpPr>
          <p:cNvPr id="23" name="Rectangle: Rounded Corners 22">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5" name="Content Placeholder 4">
            <a:extLst>
              <a:ext uri="{FF2B5EF4-FFF2-40B4-BE49-F238E27FC236}">
                <a16:creationId xmlns:a16="http://schemas.microsoft.com/office/drawing/2014/main" id="{C1EBA5D5-1367-EA51-F57A-2DAFAE7131D8}"/>
              </a:ext>
            </a:extLst>
          </p:cNvPr>
          <p:cNvPicPr>
            <a:picLocks noGrp="1" noChangeAspect="1"/>
          </p:cNvPicPr>
          <p:nvPr>
            <p:ph idx="1"/>
          </p:nvPr>
        </p:nvPicPr>
        <p:blipFill>
          <a:blip r:embed="rId3"/>
          <a:stretch>
            <a:fillRect/>
          </a:stretch>
        </p:blipFill>
        <p:spPr>
          <a:xfrm>
            <a:off x="957271" y="2139484"/>
            <a:ext cx="4452730" cy="4096512"/>
          </a:xfrm>
          <a:prstGeom prst="rect">
            <a:avLst/>
          </a:prstGeom>
        </p:spPr>
      </p:pic>
      <p:pic>
        <p:nvPicPr>
          <p:cNvPr id="7" name="Picture 6">
            <a:extLst>
              <a:ext uri="{FF2B5EF4-FFF2-40B4-BE49-F238E27FC236}">
                <a16:creationId xmlns:a16="http://schemas.microsoft.com/office/drawing/2014/main" id="{C4A72F84-5A7E-B892-F96C-85359D78BE77}"/>
              </a:ext>
            </a:extLst>
          </p:cNvPr>
          <p:cNvPicPr>
            <a:picLocks noChangeAspect="1"/>
          </p:cNvPicPr>
          <p:nvPr/>
        </p:nvPicPr>
        <p:blipFill>
          <a:blip r:embed="rId4"/>
          <a:stretch>
            <a:fillRect/>
          </a:stretch>
        </p:blipFill>
        <p:spPr>
          <a:xfrm>
            <a:off x="6448045" y="2139484"/>
            <a:ext cx="5120641" cy="4096512"/>
          </a:xfrm>
          <a:prstGeom prst="rect">
            <a:avLst/>
          </a:prstGeom>
        </p:spPr>
      </p:pic>
    </p:spTree>
    <p:extLst>
      <p:ext uri="{BB962C8B-B14F-4D97-AF65-F5344CB8AC3E}">
        <p14:creationId xmlns:p14="http://schemas.microsoft.com/office/powerpoint/2010/main" val="963021971"/>
      </p:ext>
    </p:extLst>
  </p:cSld>
  <p:clrMapOvr>
    <a:masterClrMapping/>
  </p:clrMapOvr>
  <mc:AlternateContent xmlns:mc="http://schemas.openxmlformats.org/markup-compatibility/2006" xmlns:p14="http://schemas.microsoft.com/office/powerpoint/2010/main">
    <mc:Choice Requires="p14">
      <p:transition spd="slow" p14:dur="2000" advTm="39616"/>
    </mc:Choice>
    <mc:Fallback xmlns="">
      <p:transition spd="slow" advTm="3961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BFA3290B-22FE-7CCD-25A5-AC5549157EA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146F87-BA4D-FB37-E943-AFD5AAC2C8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20C09CEB-2DF4-E73B-9711-DB07BCDE59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B962F500-4DFB-A9DC-6653-421DDABC6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7FECB24-881D-DD55-1B23-433648593ED9}"/>
              </a:ext>
            </a:extLst>
          </p:cNvPr>
          <p:cNvSpPr>
            <a:spLocks noGrp="1"/>
          </p:cNvSpPr>
          <p:nvPr>
            <p:ph type="title"/>
          </p:nvPr>
        </p:nvSpPr>
        <p:spPr>
          <a:xfrm>
            <a:off x="1115568" y="548640"/>
            <a:ext cx="10168128" cy="1179576"/>
          </a:xfrm>
        </p:spPr>
        <p:txBody>
          <a:bodyPr>
            <a:normAutofit/>
          </a:bodyPr>
          <a:lstStyle/>
          <a:p>
            <a:r>
              <a:rPr lang="en-US" sz="4000" b="1" dirty="0">
                <a:latin typeface="Tenorite Display" panose="00000500000000000000" pitchFamily="2" charset="0"/>
              </a:rPr>
              <a:t>Code: Structured Data</a:t>
            </a:r>
          </a:p>
        </p:txBody>
      </p:sp>
      <p:sp>
        <p:nvSpPr>
          <p:cNvPr id="14" name="Rectangle 13">
            <a:extLst>
              <a:ext uri="{FF2B5EF4-FFF2-40B4-BE49-F238E27FC236}">
                <a16:creationId xmlns:a16="http://schemas.microsoft.com/office/drawing/2014/main" id="{CABFB3CC-35B4-322A-89D9-43BAFCB67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A75802E1-D2D0-358A-DD3E-0888EE590FE8}"/>
              </a:ext>
            </a:extLst>
          </p:cNvPr>
          <p:cNvSpPr txBox="1"/>
          <p:nvPr/>
        </p:nvSpPr>
        <p:spPr>
          <a:xfrm>
            <a:off x="562842" y="1728216"/>
            <a:ext cx="8113389" cy="1477328"/>
          </a:xfrm>
          <a:prstGeom prst="rect">
            <a:avLst/>
          </a:prstGeom>
          <a:noFill/>
        </p:spPr>
        <p:txBody>
          <a:bodyPr wrap="square">
            <a:spAutoFit/>
          </a:bodyPr>
          <a:lstStyle/>
          <a:p>
            <a:r>
              <a:rPr lang="en-US" dirty="0">
                <a:latin typeface="Tenorite" panose="00000500000000000000" pitchFamily="2" charset="0"/>
              </a:rPr>
              <a:t>#Apply SMOTE to Balance Classes</a:t>
            </a:r>
          </a:p>
          <a:p>
            <a:r>
              <a:rPr lang="en-US" dirty="0">
                <a:latin typeface="Tenorite" panose="00000500000000000000" pitchFamily="2" charset="0"/>
              </a:rPr>
              <a:t>smote = SMOTE(</a:t>
            </a:r>
            <a:r>
              <a:rPr lang="en-US" dirty="0" err="1">
                <a:latin typeface="Tenorite" panose="00000500000000000000" pitchFamily="2" charset="0"/>
              </a:rPr>
              <a:t>random_state</a:t>
            </a:r>
            <a:r>
              <a:rPr lang="en-US" dirty="0">
                <a:latin typeface="Tenorite" panose="00000500000000000000" pitchFamily="2" charset="0"/>
              </a:rPr>
              <a:t>=42)</a:t>
            </a:r>
          </a:p>
          <a:p>
            <a:endParaRPr lang="en-US" dirty="0">
              <a:latin typeface="Tenorite" panose="00000500000000000000" pitchFamily="2" charset="0"/>
            </a:endParaRPr>
          </a:p>
          <a:p>
            <a:r>
              <a:rPr lang="en-US" dirty="0">
                <a:latin typeface="Tenorite" panose="00000500000000000000" pitchFamily="2" charset="0"/>
              </a:rPr>
              <a:t># Apply SMOTE only on training data to prevent data leakage</a:t>
            </a:r>
          </a:p>
          <a:p>
            <a:r>
              <a:rPr lang="en-US" dirty="0" err="1">
                <a:latin typeface="Tenorite" panose="00000500000000000000" pitchFamily="2" charset="0"/>
              </a:rPr>
              <a:t>X_resampled</a:t>
            </a:r>
            <a:r>
              <a:rPr lang="en-US" dirty="0">
                <a:latin typeface="Tenorite" panose="00000500000000000000" pitchFamily="2" charset="0"/>
              </a:rPr>
              <a:t>, </a:t>
            </a:r>
            <a:r>
              <a:rPr lang="en-US" dirty="0" err="1">
                <a:latin typeface="Tenorite" panose="00000500000000000000" pitchFamily="2" charset="0"/>
              </a:rPr>
              <a:t>y_resampled</a:t>
            </a:r>
            <a:r>
              <a:rPr lang="en-US" dirty="0">
                <a:latin typeface="Tenorite" panose="00000500000000000000" pitchFamily="2" charset="0"/>
              </a:rPr>
              <a:t> = </a:t>
            </a:r>
            <a:r>
              <a:rPr lang="en-US" dirty="0" err="1">
                <a:latin typeface="Tenorite" panose="00000500000000000000" pitchFamily="2" charset="0"/>
              </a:rPr>
              <a:t>smote.fit_resample</a:t>
            </a:r>
            <a:r>
              <a:rPr lang="en-US" dirty="0">
                <a:latin typeface="Tenorite" panose="00000500000000000000" pitchFamily="2" charset="0"/>
              </a:rPr>
              <a:t>(X_train, </a:t>
            </a:r>
            <a:r>
              <a:rPr lang="en-US" dirty="0" err="1">
                <a:latin typeface="Tenorite" panose="00000500000000000000" pitchFamily="2" charset="0"/>
              </a:rPr>
              <a:t>y_train</a:t>
            </a:r>
            <a:r>
              <a:rPr lang="en-US" dirty="0">
                <a:latin typeface="Tenorite" panose="00000500000000000000" pitchFamily="2" charset="0"/>
              </a:rPr>
              <a:t>)</a:t>
            </a:r>
          </a:p>
        </p:txBody>
      </p:sp>
      <p:pic>
        <p:nvPicPr>
          <p:cNvPr id="3076" name="Picture 4" descr="Output image">
            <a:extLst>
              <a:ext uri="{FF2B5EF4-FFF2-40B4-BE49-F238E27FC236}">
                <a16:creationId xmlns:a16="http://schemas.microsoft.com/office/drawing/2014/main" id="{030220BC-2F05-73B8-44DA-DF2EACEDD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1229" y="3587184"/>
            <a:ext cx="6662467" cy="2668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403015"/>
      </p:ext>
    </p:extLst>
  </p:cSld>
  <p:clrMapOvr>
    <a:masterClrMapping/>
  </p:clrMapOvr>
  <mc:AlternateContent xmlns:mc="http://schemas.openxmlformats.org/markup-compatibility/2006" xmlns:p14="http://schemas.microsoft.com/office/powerpoint/2010/main">
    <mc:Choice Requires="p14">
      <p:transition spd="slow" p14:dur="2000" advTm="14900"/>
    </mc:Choice>
    <mc:Fallback xmlns="">
      <p:transition spd="slow" advTm="149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E445F35-4B62-45E9-90D3-1FCCEF782B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C7505F3-6E30-4B80-A6A3-5B0207A60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133600" y="685800"/>
            <a:ext cx="10058400" cy="5486400"/>
          </a:xfrm>
          <a:prstGeom prst="rect">
            <a:avLst/>
          </a:prstGeom>
          <a:solidFill>
            <a:schemeClr val="bg1">
              <a:lumMod val="9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46D49368-9CFD-AF3A-B685-48E78567ECF3}"/>
              </a:ext>
            </a:extLst>
          </p:cNvPr>
          <p:cNvSpPr>
            <a:spLocks noGrp="1"/>
          </p:cNvSpPr>
          <p:nvPr>
            <p:ph type="title"/>
          </p:nvPr>
        </p:nvSpPr>
        <p:spPr>
          <a:xfrm>
            <a:off x="1383105" y="112021"/>
            <a:ext cx="4114800" cy="2263779"/>
          </a:xfrm>
        </p:spPr>
        <p:txBody>
          <a:bodyPr anchor="t">
            <a:normAutofit/>
          </a:bodyPr>
          <a:lstStyle/>
          <a:p>
            <a:pPr algn="ctr"/>
            <a:r>
              <a:rPr lang="en-US" sz="4000" b="1" dirty="0">
                <a:latin typeface="Tenorite Display" panose="00000500000000000000" pitchFamily="2" charset="0"/>
              </a:rPr>
              <a:t>Results: Structured Data after SMOTE</a:t>
            </a:r>
          </a:p>
        </p:txBody>
      </p:sp>
      <p:sp>
        <p:nvSpPr>
          <p:cNvPr id="25" name="Rectangle 24">
            <a:extLst>
              <a:ext uri="{FF2B5EF4-FFF2-40B4-BE49-F238E27FC236}">
                <a16:creationId xmlns:a16="http://schemas.microsoft.com/office/drawing/2014/main" id="{25EDC54A-5713-43C3-9F24-F04707659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9764" y="685797"/>
            <a:ext cx="118872" cy="1550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Graphic 14">
            <a:extLst>
              <a:ext uri="{FF2B5EF4-FFF2-40B4-BE49-F238E27FC236}">
                <a16:creationId xmlns:a16="http://schemas.microsoft.com/office/drawing/2014/main" id="{BBB8E718-D7A5-4D08-96BF-A7318FC92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flipV="1">
            <a:off x="5531938" y="685798"/>
            <a:ext cx="2694618" cy="2697979"/>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bg1">
              <a:alpha val="50000"/>
            </a:schemeClr>
          </a:solidFill>
          <a:ln w="9525" cap="flat">
            <a:noFill/>
            <a:prstDash val="solid"/>
            <a:miter/>
          </a:ln>
        </p:spPr>
        <p:txBody>
          <a:bodyPr rtlCol="0" anchor="ctr"/>
          <a:lstStyle/>
          <a:p>
            <a:endParaRPr lang="en-US"/>
          </a:p>
        </p:txBody>
      </p:sp>
      <p:pic>
        <p:nvPicPr>
          <p:cNvPr id="8" name="Content Placeholder 7" descr="A chart of different colors&#10;&#10;AI-generated content may be incorrect.">
            <a:extLst>
              <a:ext uri="{FF2B5EF4-FFF2-40B4-BE49-F238E27FC236}">
                <a16:creationId xmlns:a16="http://schemas.microsoft.com/office/drawing/2014/main" id="{A0708C83-4257-3E47-01F0-0AC689CD6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487" y="2236252"/>
            <a:ext cx="2932586" cy="2697980"/>
          </a:xfrm>
          <a:prstGeom prst="rect">
            <a:avLst/>
          </a:prstGeom>
        </p:spPr>
      </p:pic>
      <p:sp>
        <p:nvSpPr>
          <p:cNvPr id="29" name="Graphic 14">
            <a:extLst>
              <a:ext uri="{FF2B5EF4-FFF2-40B4-BE49-F238E27FC236}">
                <a16:creationId xmlns:a16="http://schemas.microsoft.com/office/drawing/2014/main" id="{5A0B0778-56C8-473C-B02A-0004CC36B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9459810" y="685798"/>
            <a:ext cx="2694618" cy="2697979"/>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bg1">
              <a:alpha val="25000"/>
            </a:schemeClr>
          </a:solidFill>
          <a:ln w="9525" cap="flat">
            <a:noFill/>
            <a:prstDash val="solid"/>
            <a:miter/>
          </a:ln>
        </p:spPr>
        <p:txBody>
          <a:bodyPr rtlCol="0" anchor="ctr"/>
          <a:lstStyle/>
          <a:p>
            <a:endParaRPr lang="en-US"/>
          </a:p>
        </p:txBody>
      </p:sp>
      <p:sp>
        <p:nvSpPr>
          <p:cNvPr id="31" name="Graphic 14">
            <a:extLst>
              <a:ext uri="{FF2B5EF4-FFF2-40B4-BE49-F238E27FC236}">
                <a16:creationId xmlns:a16="http://schemas.microsoft.com/office/drawing/2014/main" id="{9A6C41FE-553E-468F-9D8B-2F687AACCC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5531938" y="3474221"/>
            <a:ext cx="2694618" cy="2697979"/>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bg1">
              <a:alpha val="25000"/>
            </a:schemeClr>
          </a:solidFill>
          <a:ln w="9525" cap="flat">
            <a:noFill/>
            <a:prstDash val="solid"/>
            <a:miter/>
          </a:ln>
        </p:spPr>
        <p:txBody>
          <a:bodyPr rtlCol="0" anchor="ctr"/>
          <a:lstStyle/>
          <a:p>
            <a:endParaRPr lang="en-US"/>
          </a:p>
        </p:txBody>
      </p:sp>
      <p:sp>
        <p:nvSpPr>
          <p:cNvPr id="33" name="Graphic 14">
            <a:extLst>
              <a:ext uri="{FF2B5EF4-FFF2-40B4-BE49-F238E27FC236}">
                <a16:creationId xmlns:a16="http://schemas.microsoft.com/office/drawing/2014/main" id="{6050BC6B-007A-481C-9FCF-864121E9F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497382" y="3459491"/>
            <a:ext cx="2694618" cy="2697979"/>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accent2"/>
          </a:solidFill>
          <a:ln w="9525" cap="flat">
            <a:noFill/>
            <a:prstDash val="solid"/>
            <a:miter/>
          </a:ln>
        </p:spPr>
        <p:txBody>
          <a:bodyPr rtlCol="0" anchor="ctr"/>
          <a:lstStyle/>
          <a:p>
            <a:endParaRPr lang="en-US"/>
          </a:p>
        </p:txBody>
      </p:sp>
      <p:pic>
        <p:nvPicPr>
          <p:cNvPr id="10" name="Picture 9" descr="A graph of a curve&#10;&#10;AI-generated content may be incorrect.">
            <a:extLst>
              <a:ext uri="{FF2B5EF4-FFF2-40B4-BE49-F238E27FC236}">
                <a16:creationId xmlns:a16="http://schemas.microsoft.com/office/drawing/2014/main" id="{B5F6302F-2E25-0E24-74F8-A867327303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6520" y="3695472"/>
            <a:ext cx="3447193" cy="2757754"/>
          </a:xfrm>
          <a:prstGeom prst="rect">
            <a:avLst/>
          </a:prstGeom>
        </p:spPr>
      </p:pic>
      <p:sp>
        <p:nvSpPr>
          <p:cNvPr id="35" name="Graphic 14">
            <a:extLst>
              <a:ext uri="{FF2B5EF4-FFF2-40B4-BE49-F238E27FC236}">
                <a16:creationId xmlns:a16="http://schemas.microsoft.com/office/drawing/2014/main" id="{AB942579-FA45-47B8-82EF-29A31F6B7D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497382" y="3474222"/>
            <a:ext cx="2694618" cy="2697979"/>
          </a:xfrm>
          <a:custGeom>
            <a:avLst/>
            <a:gdLst>
              <a:gd name="connsiteX0" fmla="*/ 2616327 w 2616326"/>
              <a:gd name="connsiteY0" fmla="*/ 634841 h 2618803"/>
              <a:gd name="connsiteX1" fmla="*/ 2616327 w 2616326"/>
              <a:gd name="connsiteY1" fmla="*/ 0 h 2618803"/>
              <a:gd name="connsiteX2" fmla="*/ 0 w 2616326"/>
              <a:gd name="connsiteY2" fmla="*/ 0 h 2618803"/>
              <a:gd name="connsiteX3" fmla="*/ 0 w 2616326"/>
              <a:gd name="connsiteY3" fmla="*/ 2618804 h 2618803"/>
              <a:gd name="connsiteX4" fmla="*/ 634270 w 2616326"/>
              <a:gd name="connsiteY4" fmla="*/ 2618804 h 2618803"/>
              <a:gd name="connsiteX5" fmla="*/ 2616327 w 2616326"/>
              <a:gd name="connsiteY5" fmla="*/ 634841 h 2618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6326" h="2618803">
                <a:moveTo>
                  <a:pt x="2616327" y="634841"/>
                </a:moveTo>
                <a:lnTo>
                  <a:pt x="2616327" y="0"/>
                </a:lnTo>
                <a:lnTo>
                  <a:pt x="0" y="0"/>
                </a:lnTo>
                <a:lnTo>
                  <a:pt x="0" y="2618804"/>
                </a:lnTo>
                <a:lnTo>
                  <a:pt x="634270" y="2618804"/>
                </a:lnTo>
                <a:cubicBezTo>
                  <a:pt x="634270" y="1523143"/>
                  <a:pt x="1521619" y="634841"/>
                  <a:pt x="2616327" y="634841"/>
                </a:cubicBezTo>
                <a:close/>
              </a:path>
            </a:pathLst>
          </a:custGeom>
          <a:solidFill>
            <a:schemeClr val="accent2">
              <a:alpha val="50000"/>
            </a:schemeClr>
          </a:solidFill>
          <a:ln w="9525" cap="flat">
            <a:noFill/>
            <a:prstDash val="solid"/>
            <a:miter/>
          </a:ln>
        </p:spPr>
        <p:txBody>
          <a:bodyPr rtlCol="0" anchor="ctr"/>
          <a:lstStyle/>
          <a:p>
            <a:endParaRPr lang="en-US"/>
          </a:p>
        </p:txBody>
      </p:sp>
      <p:sp>
        <p:nvSpPr>
          <p:cNvPr id="37" name="Rectangle 36">
            <a:extLst>
              <a:ext uri="{FF2B5EF4-FFF2-40B4-BE49-F238E27FC236}">
                <a16:creationId xmlns:a16="http://schemas.microsoft.com/office/drawing/2014/main" id="{E7CAB2F0-6C64-430E-A8AC-8E9F3EBA9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73128" y="6172201"/>
            <a:ext cx="118872"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graph of a curve&#10;&#10;AI-generated content may be incorrect.">
            <a:extLst>
              <a:ext uri="{FF2B5EF4-FFF2-40B4-BE49-F238E27FC236}">
                <a16:creationId xmlns:a16="http://schemas.microsoft.com/office/drawing/2014/main" id="{B7818E18-7F67-2C38-8CFC-0FBD663586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2674" y="3274536"/>
            <a:ext cx="3758633" cy="3006906"/>
          </a:xfrm>
          <a:prstGeom prst="rect">
            <a:avLst/>
          </a:prstGeom>
        </p:spPr>
      </p:pic>
      <p:pic>
        <p:nvPicPr>
          <p:cNvPr id="12" name="Picture 11" descr="A diagram of a confusion matrix&#10;&#10;AI-generated content may be incorrect.">
            <a:extLst>
              <a:ext uri="{FF2B5EF4-FFF2-40B4-BE49-F238E27FC236}">
                <a16:creationId xmlns:a16="http://schemas.microsoft.com/office/drawing/2014/main" id="{19605FDF-2FC3-53AB-3050-8451929A44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61906" y="223486"/>
            <a:ext cx="3093435" cy="2845961"/>
          </a:xfrm>
          <a:prstGeom prst="rect">
            <a:avLst/>
          </a:prstGeom>
        </p:spPr>
      </p:pic>
    </p:spTree>
    <p:extLst>
      <p:ext uri="{BB962C8B-B14F-4D97-AF65-F5344CB8AC3E}">
        <p14:creationId xmlns:p14="http://schemas.microsoft.com/office/powerpoint/2010/main" val="3309939608"/>
      </p:ext>
    </p:extLst>
  </p:cSld>
  <p:clrMapOvr>
    <a:masterClrMapping/>
  </p:clrMapOvr>
  <mc:AlternateContent xmlns:mc="http://schemas.openxmlformats.org/markup-compatibility/2006" xmlns:p14="http://schemas.microsoft.com/office/powerpoint/2010/main">
    <mc:Choice Requires="p14">
      <p:transition spd="slow" p14:dur="2000" advTm="11048"/>
    </mc:Choice>
    <mc:Fallback xmlns="">
      <p:transition spd="slow" advTm="1104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F232A53-673E-406F-BB93-BF651C276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itle 1">
            <a:extLst>
              <a:ext uri="{FF2B5EF4-FFF2-40B4-BE49-F238E27FC236}">
                <a16:creationId xmlns:a16="http://schemas.microsoft.com/office/drawing/2014/main" id="{C157C454-7D0D-673E-C1BD-1AA62B7840C7}"/>
              </a:ext>
            </a:extLst>
          </p:cNvPr>
          <p:cNvSpPr txBox="1">
            <a:spLocks/>
          </p:cNvSpPr>
          <p:nvPr/>
        </p:nvSpPr>
        <p:spPr>
          <a:xfrm>
            <a:off x="554416" y="477801"/>
            <a:ext cx="3300984" cy="1645920"/>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b="1" dirty="0">
                <a:latin typeface="Tenorite Display" panose="00000500000000000000" pitchFamily="2" charset="0"/>
              </a:rPr>
              <a:t>Results: Structured Data</a:t>
            </a:r>
          </a:p>
        </p:txBody>
      </p:sp>
      <p:sp>
        <p:nvSpPr>
          <p:cNvPr id="25" name="Rectangle 24">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0864" y="1323863"/>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descr="A chart with numbers and text&#10;&#10;AI-generated content may be incorrect.">
            <a:extLst>
              <a:ext uri="{FF2B5EF4-FFF2-40B4-BE49-F238E27FC236}">
                <a16:creationId xmlns:a16="http://schemas.microsoft.com/office/drawing/2014/main" id="{A75B5FB9-7DB0-9047-D511-E9A68E7774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1806" y="312175"/>
            <a:ext cx="3387854" cy="3116825"/>
          </a:xfrm>
          <a:prstGeom prst="rect">
            <a:avLst/>
          </a:prstGeom>
        </p:spPr>
      </p:pic>
      <p:pic>
        <p:nvPicPr>
          <p:cNvPr id="5" name="Content Placeholder 4" descr="A chart with numbers and a few labels&#10;&#10;AI-generated content may be incorrect.">
            <a:extLst>
              <a:ext uri="{FF2B5EF4-FFF2-40B4-BE49-F238E27FC236}">
                <a16:creationId xmlns:a16="http://schemas.microsoft.com/office/drawing/2014/main" id="{E3CF6E53-F772-F08F-09A3-F7BA4962B1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1141" y="265475"/>
            <a:ext cx="3478325" cy="3200059"/>
          </a:xfrm>
          <a:prstGeom prst="rect">
            <a:avLst/>
          </a:prstGeom>
        </p:spPr>
      </p:pic>
      <p:pic>
        <p:nvPicPr>
          <p:cNvPr id="7" name="Picture 6" descr="A graph of a curve&#10;&#10;AI-generated content may be incorrect.">
            <a:extLst>
              <a:ext uri="{FF2B5EF4-FFF2-40B4-BE49-F238E27FC236}">
                <a16:creationId xmlns:a16="http://schemas.microsoft.com/office/drawing/2014/main" id="{B2562481-E109-02D8-8C0F-DDEF0E2903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1141" y="3666928"/>
            <a:ext cx="3465670" cy="2772536"/>
          </a:xfrm>
          <a:prstGeom prst="rect">
            <a:avLst/>
          </a:prstGeom>
        </p:spPr>
      </p:pic>
      <p:pic>
        <p:nvPicPr>
          <p:cNvPr id="11" name="Picture 10" descr="A graph of a curve&#10;&#10;AI-generated content may be incorrect.">
            <a:extLst>
              <a:ext uri="{FF2B5EF4-FFF2-40B4-BE49-F238E27FC236}">
                <a16:creationId xmlns:a16="http://schemas.microsoft.com/office/drawing/2014/main" id="{C71B0085-6325-CDD9-869A-3BF0F16708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62898" y="3666928"/>
            <a:ext cx="3465670" cy="2772536"/>
          </a:xfrm>
          <a:prstGeom prst="rect">
            <a:avLst/>
          </a:prstGeom>
        </p:spPr>
      </p:pic>
    </p:spTree>
    <p:extLst>
      <p:ext uri="{BB962C8B-B14F-4D97-AF65-F5344CB8AC3E}">
        <p14:creationId xmlns:p14="http://schemas.microsoft.com/office/powerpoint/2010/main" val="2161101641"/>
      </p:ext>
    </p:extLst>
  </p:cSld>
  <p:clrMapOvr>
    <a:masterClrMapping/>
  </p:clrMapOvr>
  <mc:AlternateContent xmlns:mc="http://schemas.openxmlformats.org/markup-compatibility/2006" xmlns:p14="http://schemas.microsoft.com/office/powerpoint/2010/main">
    <mc:Choice Requires="p14">
      <p:transition spd="slow" p14:dur="2000" advTm="17608"/>
    </mc:Choice>
    <mc:Fallback xmlns="">
      <p:transition spd="slow" advTm="1760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A8F5377-9949-7C78-AA8E-6018DC80CB8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4DB043-A294-88A1-A514-034717A69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9D8DC65E-3402-9287-31D5-12A4957461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3E523965-869D-86ED-9DFA-849E6F93D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52BD897-B893-7014-E8C3-951415BCB001}"/>
              </a:ext>
            </a:extLst>
          </p:cNvPr>
          <p:cNvSpPr>
            <a:spLocks noGrp="1"/>
          </p:cNvSpPr>
          <p:nvPr>
            <p:ph type="title"/>
          </p:nvPr>
        </p:nvSpPr>
        <p:spPr>
          <a:xfrm>
            <a:off x="1115568" y="548640"/>
            <a:ext cx="10168128" cy="1179576"/>
          </a:xfrm>
        </p:spPr>
        <p:txBody>
          <a:bodyPr>
            <a:normAutofit/>
          </a:bodyPr>
          <a:lstStyle/>
          <a:p>
            <a:r>
              <a:rPr lang="en-US" sz="4000" b="1" dirty="0">
                <a:latin typeface="Tenorite Display" panose="00000500000000000000" pitchFamily="2" charset="0"/>
              </a:rPr>
              <a:t>Code: Unstructured Data</a:t>
            </a:r>
          </a:p>
        </p:txBody>
      </p:sp>
      <p:sp>
        <p:nvSpPr>
          <p:cNvPr id="14" name="Rectangle 13">
            <a:extLst>
              <a:ext uri="{FF2B5EF4-FFF2-40B4-BE49-F238E27FC236}">
                <a16:creationId xmlns:a16="http://schemas.microsoft.com/office/drawing/2014/main" id="{7FCC1B19-A840-DC9E-56B1-09F7166B0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874FF395-6617-B634-4299-111C363F0326}"/>
              </a:ext>
            </a:extLst>
          </p:cNvPr>
          <p:cNvSpPr txBox="1"/>
          <p:nvPr/>
        </p:nvSpPr>
        <p:spPr>
          <a:xfrm>
            <a:off x="728116" y="1728216"/>
            <a:ext cx="9538854" cy="4154984"/>
          </a:xfrm>
          <a:prstGeom prst="rect">
            <a:avLst/>
          </a:prstGeom>
          <a:noFill/>
        </p:spPr>
        <p:txBody>
          <a:bodyPr wrap="square">
            <a:spAutoFit/>
          </a:bodyPr>
          <a:lstStyle/>
          <a:p>
            <a:r>
              <a:rPr lang="en-US" sz="1200" dirty="0"/>
              <a:t>#Load the compressed discharge notes file</a:t>
            </a:r>
          </a:p>
          <a:p>
            <a:r>
              <a:rPr lang="en-US" sz="1200" dirty="0" err="1"/>
              <a:t>df_raw</a:t>
            </a:r>
            <a:r>
              <a:rPr lang="en-US" sz="1200" dirty="0"/>
              <a:t> = </a:t>
            </a:r>
            <a:r>
              <a:rPr lang="en-US" sz="1200" dirty="0" err="1"/>
              <a:t>pd.read_csv</a:t>
            </a:r>
            <a:r>
              <a:rPr lang="en-US" sz="1200" dirty="0"/>
              <a:t>(</a:t>
            </a:r>
          </a:p>
          <a:p>
            <a:r>
              <a:rPr lang="en-US" sz="1200" dirty="0"/>
              <a:t>    </a:t>
            </a:r>
            <a:r>
              <a:rPr lang="en-US" sz="1200" dirty="0" err="1"/>
              <a:t>r"S</a:t>
            </a:r>
            <a:r>
              <a:rPr lang="en-US" sz="1200" dirty="0"/>
              <a:t>:\Downloads\mimic-iv-note-deidentified-free-text-clinical-notes-2.2\note\discharge.csv.gz",</a:t>
            </a:r>
          </a:p>
          <a:p>
            <a:r>
              <a:rPr lang="en-US" sz="1200" dirty="0"/>
              <a:t>    compression='</a:t>
            </a:r>
            <a:r>
              <a:rPr lang="en-US" sz="1200" dirty="0" err="1"/>
              <a:t>gzip</a:t>
            </a:r>
            <a:r>
              <a:rPr lang="en-US" sz="1200" dirty="0"/>
              <a:t>'</a:t>
            </a:r>
          </a:p>
          <a:p>
            <a:r>
              <a:rPr lang="en-US" sz="1200" dirty="0"/>
              <a:t>)</a:t>
            </a:r>
          </a:p>
          <a:p>
            <a:endParaRPr lang="en-US" sz="1200" dirty="0"/>
          </a:p>
          <a:p>
            <a:r>
              <a:rPr lang="en-US" sz="1200" dirty="0"/>
              <a:t># Preview the data </a:t>
            </a:r>
          </a:p>
          <a:p>
            <a:r>
              <a:rPr lang="en-US" sz="1200" dirty="0"/>
              <a:t>print("Raw rows loaded:", </a:t>
            </a:r>
            <a:r>
              <a:rPr lang="en-US" sz="1200" dirty="0" err="1"/>
              <a:t>len</a:t>
            </a:r>
            <a:r>
              <a:rPr lang="en-US" sz="1200" dirty="0"/>
              <a:t>(</a:t>
            </a:r>
            <a:r>
              <a:rPr lang="en-US" sz="1200" dirty="0" err="1"/>
              <a:t>df_raw</a:t>
            </a:r>
            <a:r>
              <a:rPr lang="en-US" sz="1200" dirty="0"/>
              <a:t>))</a:t>
            </a:r>
          </a:p>
          <a:p>
            <a:r>
              <a:rPr lang="en-US" sz="1200" dirty="0"/>
              <a:t>print("Unique note types:", </a:t>
            </a:r>
            <a:r>
              <a:rPr lang="en-US" sz="1200" dirty="0" err="1"/>
              <a:t>df_raw</a:t>
            </a:r>
            <a:r>
              <a:rPr lang="en-US" sz="1200" dirty="0"/>
              <a:t>['</a:t>
            </a:r>
            <a:r>
              <a:rPr lang="en-US" sz="1200" dirty="0" err="1"/>
              <a:t>note_type</a:t>
            </a:r>
            <a:r>
              <a:rPr lang="en-US" sz="1200" dirty="0"/>
              <a:t>'].unique())</a:t>
            </a:r>
          </a:p>
          <a:p>
            <a:r>
              <a:rPr lang="en-US" sz="1200" dirty="0"/>
              <a:t>print(</a:t>
            </a:r>
            <a:r>
              <a:rPr lang="en-US" sz="1200" dirty="0" err="1"/>
              <a:t>df_raw.head</a:t>
            </a:r>
            <a:r>
              <a:rPr lang="en-US" sz="1200" dirty="0"/>
              <a:t>())</a:t>
            </a:r>
          </a:p>
          <a:p>
            <a:endParaRPr lang="en-US" sz="1200" dirty="0"/>
          </a:p>
          <a:p>
            <a:r>
              <a:rPr lang="en-US" sz="1200" dirty="0"/>
              <a:t># Filter for Discharge Summaries </a:t>
            </a:r>
          </a:p>
          <a:p>
            <a:r>
              <a:rPr lang="en-US" sz="1200" dirty="0" err="1"/>
              <a:t>df_notes</a:t>
            </a:r>
            <a:r>
              <a:rPr lang="en-US" sz="1200" dirty="0"/>
              <a:t> = </a:t>
            </a:r>
            <a:r>
              <a:rPr lang="en-US" sz="1200" dirty="0" err="1"/>
              <a:t>df_raw</a:t>
            </a:r>
            <a:r>
              <a:rPr lang="en-US" sz="1200" dirty="0"/>
              <a:t>[</a:t>
            </a:r>
            <a:r>
              <a:rPr lang="en-US" sz="1200" dirty="0" err="1"/>
              <a:t>df_raw</a:t>
            </a:r>
            <a:r>
              <a:rPr lang="en-US" sz="1200" dirty="0"/>
              <a:t>['</a:t>
            </a:r>
            <a:r>
              <a:rPr lang="en-US" sz="1200" dirty="0" err="1"/>
              <a:t>note_type</a:t>
            </a:r>
            <a:r>
              <a:rPr lang="en-US" sz="1200" dirty="0"/>
              <a:t>'] == 'DS']</a:t>
            </a:r>
          </a:p>
          <a:p>
            <a:endParaRPr lang="en-US" sz="1200" dirty="0"/>
          </a:p>
          <a:p>
            <a:r>
              <a:rPr lang="en-US" sz="1200" dirty="0"/>
              <a:t># Keep only necessary columns </a:t>
            </a:r>
          </a:p>
          <a:p>
            <a:r>
              <a:rPr lang="en-US" sz="1200" dirty="0" err="1"/>
              <a:t>df_notes</a:t>
            </a:r>
            <a:r>
              <a:rPr lang="en-US" sz="1200" dirty="0"/>
              <a:t> = </a:t>
            </a:r>
            <a:r>
              <a:rPr lang="en-US" sz="1200" dirty="0" err="1"/>
              <a:t>df_notes</a:t>
            </a:r>
            <a:r>
              <a:rPr lang="en-US" sz="1200" dirty="0"/>
              <a:t>[['</a:t>
            </a:r>
            <a:r>
              <a:rPr lang="en-US" sz="1200" dirty="0" err="1"/>
              <a:t>hadm_id</a:t>
            </a:r>
            <a:r>
              <a:rPr lang="en-US" sz="1200" dirty="0"/>
              <a:t>', 'text']].</a:t>
            </a:r>
            <a:r>
              <a:rPr lang="en-US" sz="1200" dirty="0" err="1"/>
              <a:t>dropna</a:t>
            </a:r>
            <a:r>
              <a:rPr lang="en-US" sz="1200" dirty="0"/>
              <a:t>()</a:t>
            </a:r>
          </a:p>
          <a:p>
            <a:r>
              <a:rPr lang="en-US" sz="1200" dirty="0" err="1"/>
              <a:t>df_notes</a:t>
            </a:r>
            <a:r>
              <a:rPr lang="en-US" sz="1200" dirty="0"/>
              <a:t> = </a:t>
            </a:r>
            <a:r>
              <a:rPr lang="en-US" sz="1200" dirty="0" err="1"/>
              <a:t>df_notes.drop_duplicates</a:t>
            </a:r>
            <a:r>
              <a:rPr lang="en-US" sz="1200" dirty="0"/>
              <a:t>(subset='</a:t>
            </a:r>
            <a:r>
              <a:rPr lang="en-US" sz="1200" dirty="0" err="1"/>
              <a:t>hadm_id</a:t>
            </a:r>
            <a:r>
              <a:rPr lang="en-US" sz="1200" dirty="0"/>
              <a:t>')</a:t>
            </a:r>
          </a:p>
          <a:p>
            <a:r>
              <a:rPr lang="en-US" sz="1200" dirty="0" err="1"/>
              <a:t>df_notes</a:t>
            </a:r>
            <a:r>
              <a:rPr lang="en-US" sz="1200" dirty="0"/>
              <a:t> = </a:t>
            </a:r>
            <a:r>
              <a:rPr lang="en-US" sz="1200" dirty="0" err="1"/>
              <a:t>df_notes</a:t>
            </a:r>
            <a:r>
              <a:rPr lang="en-US" sz="1200" dirty="0"/>
              <a:t>[</a:t>
            </a:r>
            <a:r>
              <a:rPr lang="en-US" sz="1200" dirty="0" err="1"/>
              <a:t>df_notes</a:t>
            </a:r>
            <a:r>
              <a:rPr lang="en-US" sz="1200" dirty="0"/>
              <a:t>['text'].</a:t>
            </a:r>
            <a:r>
              <a:rPr lang="en-US" sz="1200" dirty="0" err="1"/>
              <a:t>str.strip</a:t>
            </a:r>
            <a:r>
              <a:rPr lang="en-US" sz="1200" dirty="0"/>
              <a:t>() != ""].</a:t>
            </a:r>
            <a:r>
              <a:rPr lang="en-US" sz="1200" dirty="0" err="1"/>
              <a:t>reset_index</a:t>
            </a:r>
            <a:r>
              <a:rPr lang="en-US" sz="1200" dirty="0"/>
              <a:t>(drop=True)</a:t>
            </a:r>
          </a:p>
          <a:p>
            <a:endParaRPr lang="en-US" sz="1200" dirty="0"/>
          </a:p>
          <a:p>
            <a:r>
              <a:rPr lang="en-US" sz="1200" dirty="0"/>
              <a:t>#Check</a:t>
            </a:r>
          </a:p>
          <a:p>
            <a:r>
              <a:rPr lang="en-US" sz="1200" dirty="0"/>
              <a:t>print("Cleaned discharge summaries:", </a:t>
            </a:r>
            <a:r>
              <a:rPr lang="en-US" sz="1200" dirty="0" err="1"/>
              <a:t>len</a:t>
            </a:r>
            <a:r>
              <a:rPr lang="en-US" sz="1200" dirty="0"/>
              <a:t>(</a:t>
            </a:r>
            <a:r>
              <a:rPr lang="en-US" sz="1200" dirty="0" err="1"/>
              <a:t>df_notes</a:t>
            </a:r>
            <a:r>
              <a:rPr lang="en-US" sz="1200" dirty="0"/>
              <a:t>))</a:t>
            </a:r>
          </a:p>
          <a:p>
            <a:r>
              <a:rPr lang="en-US" sz="1200" dirty="0"/>
              <a:t>print(</a:t>
            </a:r>
            <a:r>
              <a:rPr lang="en-US" sz="1200" dirty="0" err="1"/>
              <a:t>df_notes.head</a:t>
            </a:r>
            <a:r>
              <a:rPr lang="en-US" sz="1200" dirty="0"/>
              <a:t>())</a:t>
            </a:r>
          </a:p>
        </p:txBody>
      </p:sp>
    </p:spTree>
    <p:extLst>
      <p:ext uri="{BB962C8B-B14F-4D97-AF65-F5344CB8AC3E}">
        <p14:creationId xmlns:p14="http://schemas.microsoft.com/office/powerpoint/2010/main" val="2770094358"/>
      </p:ext>
    </p:extLst>
  </p:cSld>
  <p:clrMapOvr>
    <a:masterClrMapping/>
  </p:clrMapOvr>
  <mc:AlternateContent xmlns:mc="http://schemas.openxmlformats.org/markup-compatibility/2006" xmlns:p14="http://schemas.microsoft.com/office/powerpoint/2010/main">
    <mc:Choice Requires="p14">
      <p:transition spd="slow" p14:dur="2000" advTm="14144"/>
    </mc:Choice>
    <mc:Fallback xmlns="">
      <p:transition spd="slow" advTm="1414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722EFE07-E3B7-3DC2-5CD6-0FB7A19F9D9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F46ED76-78BB-45F8-D3B1-6BDDB68C86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7236B3AF-5155-A771-4E7D-589152FB9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DEE2DBA6-05D1-E72D-E865-510D79A6E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0BC813-00F9-494B-647B-2A447A99C5DF}"/>
              </a:ext>
            </a:extLst>
          </p:cNvPr>
          <p:cNvSpPr>
            <a:spLocks noGrp="1"/>
          </p:cNvSpPr>
          <p:nvPr>
            <p:ph type="title"/>
          </p:nvPr>
        </p:nvSpPr>
        <p:spPr>
          <a:xfrm>
            <a:off x="1115568" y="548640"/>
            <a:ext cx="10168128" cy="1179576"/>
          </a:xfrm>
        </p:spPr>
        <p:txBody>
          <a:bodyPr>
            <a:normAutofit/>
          </a:bodyPr>
          <a:lstStyle/>
          <a:p>
            <a:r>
              <a:rPr lang="en-US" sz="4000" b="1" dirty="0">
                <a:latin typeface="Tenorite Display" panose="00000500000000000000" pitchFamily="2" charset="0"/>
              </a:rPr>
              <a:t>Code: Unstructured Data</a:t>
            </a:r>
          </a:p>
        </p:txBody>
      </p:sp>
      <p:sp>
        <p:nvSpPr>
          <p:cNvPr id="14" name="Rectangle 13">
            <a:extLst>
              <a:ext uri="{FF2B5EF4-FFF2-40B4-BE49-F238E27FC236}">
                <a16:creationId xmlns:a16="http://schemas.microsoft.com/office/drawing/2014/main" id="{F29E93A5-792F-9323-2CD8-4797434FEB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TextBox 6">
            <a:extLst>
              <a:ext uri="{FF2B5EF4-FFF2-40B4-BE49-F238E27FC236}">
                <a16:creationId xmlns:a16="http://schemas.microsoft.com/office/drawing/2014/main" id="{429B4687-023A-5920-D9FE-BC4405E2AD01}"/>
              </a:ext>
            </a:extLst>
          </p:cNvPr>
          <p:cNvSpPr txBox="1"/>
          <p:nvPr/>
        </p:nvSpPr>
        <p:spPr>
          <a:xfrm>
            <a:off x="498834" y="1515398"/>
            <a:ext cx="9004465" cy="5616922"/>
          </a:xfrm>
          <a:prstGeom prst="rect">
            <a:avLst/>
          </a:prstGeom>
          <a:noFill/>
        </p:spPr>
        <p:txBody>
          <a:bodyPr wrap="square">
            <a:spAutoFit/>
          </a:bodyPr>
          <a:lstStyle/>
          <a:p>
            <a:r>
              <a:rPr lang="en-US" sz="1100" dirty="0">
                <a:latin typeface="Tenorite" panose="00000500000000000000" pitchFamily="2" charset="0"/>
              </a:rPr>
              <a:t>tokenizer = </a:t>
            </a:r>
            <a:r>
              <a:rPr lang="en-US" sz="1100" dirty="0" err="1">
                <a:latin typeface="Tenorite" panose="00000500000000000000" pitchFamily="2" charset="0"/>
              </a:rPr>
              <a:t>AutoTokenizer.from_pretrained</a:t>
            </a:r>
            <a:r>
              <a:rPr lang="en-US" sz="1100" dirty="0">
                <a:latin typeface="Tenorite" panose="00000500000000000000" pitchFamily="2" charset="0"/>
              </a:rPr>
              <a:t>("</a:t>
            </a:r>
            <a:r>
              <a:rPr lang="en-US" sz="1100" dirty="0" err="1">
                <a:latin typeface="Tenorite" panose="00000500000000000000" pitchFamily="2" charset="0"/>
              </a:rPr>
              <a:t>emilyalsentzer</a:t>
            </a:r>
            <a:r>
              <a:rPr lang="en-US" sz="1100" dirty="0">
                <a:latin typeface="Tenorite" panose="00000500000000000000" pitchFamily="2" charset="0"/>
              </a:rPr>
              <a:t>/</a:t>
            </a:r>
            <a:r>
              <a:rPr lang="en-US" sz="1100" dirty="0" err="1">
                <a:latin typeface="Tenorite" panose="00000500000000000000" pitchFamily="2" charset="0"/>
              </a:rPr>
              <a:t>Bio_ClinicalBERT</a:t>
            </a:r>
            <a:r>
              <a:rPr lang="en-US" sz="1100" dirty="0">
                <a:latin typeface="Tenorite" panose="00000500000000000000" pitchFamily="2" charset="0"/>
              </a:rPr>
              <a:t>")</a:t>
            </a:r>
          </a:p>
          <a:p>
            <a:r>
              <a:rPr lang="en-US" sz="1100" dirty="0">
                <a:latin typeface="Tenorite" panose="00000500000000000000" pitchFamily="2" charset="0"/>
              </a:rPr>
              <a:t>model = </a:t>
            </a:r>
            <a:r>
              <a:rPr lang="en-US" sz="1100" dirty="0" err="1">
                <a:latin typeface="Tenorite" panose="00000500000000000000" pitchFamily="2" charset="0"/>
              </a:rPr>
              <a:t>AutoModel.from_pretrained</a:t>
            </a:r>
            <a:r>
              <a:rPr lang="en-US" sz="1100" dirty="0">
                <a:latin typeface="Tenorite" panose="00000500000000000000" pitchFamily="2" charset="0"/>
              </a:rPr>
              <a:t>("</a:t>
            </a:r>
            <a:r>
              <a:rPr lang="en-US" sz="1100" dirty="0" err="1">
                <a:latin typeface="Tenorite" panose="00000500000000000000" pitchFamily="2" charset="0"/>
              </a:rPr>
              <a:t>emilyalsentzer</a:t>
            </a:r>
            <a:r>
              <a:rPr lang="en-US" sz="1100" dirty="0">
                <a:latin typeface="Tenorite" panose="00000500000000000000" pitchFamily="2" charset="0"/>
              </a:rPr>
              <a:t>/</a:t>
            </a:r>
            <a:r>
              <a:rPr lang="en-US" sz="1100" dirty="0" err="1">
                <a:latin typeface="Tenorite" panose="00000500000000000000" pitchFamily="2" charset="0"/>
              </a:rPr>
              <a:t>Bio_ClinicalBERT</a:t>
            </a:r>
            <a:r>
              <a:rPr lang="en-US" sz="1100" dirty="0">
                <a:latin typeface="Tenorite" panose="00000500000000000000" pitchFamily="2" charset="0"/>
              </a:rPr>
              <a:t>")</a:t>
            </a:r>
          </a:p>
          <a:p>
            <a:endParaRPr lang="en-US" sz="1100" dirty="0">
              <a:latin typeface="Tenorite" panose="00000500000000000000" pitchFamily="2" charset="0"/>
            </a:endParaRPr>
          </a:p>
          <a:p>
            <a:r>
              <a:rPr lang="en-US" sz="1100" dirty="0">
                <a:latin typeface="Tenorite" panose="00000500000000000000" pitchFamily="2" charset="0"/>
              </a:rPr>
              <a:t># Define embedding function</a:t>
            </a:r>
          </a:p>
          <a:p>
            <a:r>
              <a:rPr lang="en-US" sz="1100" dirty="0">
                <a:latin typeface="Tenorite" panose="00000500000000000000" pitchFamily="2" charset="0"/>
              </a:rPr>
              <a:t>def </a:t>
            </a:r>
            <a:r>
              <a:rPr lang="en-US" sz="1100" dirty="0" err="1">
                <a:latin typeface="Tenorite" panose="00000500000000000000" pitchFamily="2" charset="0"/>
              </a:rPr>
              <a:t>embed_text_bert</a:t>
            </a:r>
            <a:r>
              <a:rPr lang="en-US" sz="1100" dirty="0">
                <a:latin typeface="Tenorite" panose="00000500000000000000" pitchFamily="2" charset="0"/>
              </a:rPr>
              <a:t>(texts, tokenizer, model, device='</a:t>
            </a:r>
            <a:r>
              <a:rPr lang="en-US" sz="1100" dirty="0" err="1">
                <a:latin typeface="Tenorite" panose="00000500000000000000" pitchFamily="2" charset="0"/>
              </a:rPr>
              <a:t>cpu</a:t>
            </a:r>
            <a:r>
              <a:rPr lang="en-US" sz="1100" dirty="0">
                <a:latin typeface="Tenorite" panose="00000500000000000000" pitchFamily="2" charset="0"/>
              </a:rPr>
              <a:t>', </a:t>
            </a:r>
            <a:r>
              <a:rPr lang="en-US" sz="1100" dirty="0" err="1">
                <a:latin typeface="Tenorite" panose="00000500000000000000" pitchFamily="2" charset="0"/>
              </a:rPr>
              <a:t>max_length</a:t>
            </a:r>
            <a:r>
              <a:rPr lang="en-US" sz="1100" dirty="0">
                <a:latin typeface="Tenorite" panose="00000500000000000000" pitchFamily="2" charset="0"/>
              </a:rPr>
              <a:t>=512):</a:t>
            </a:r>
          </a:p>
          <a:p>
            <a:r>
              <a:rPr lang="en-US" sz="1100" dirty="0">
                <a:latin typeface="Tenorite" panose="00000500000000000000" pitchFamily="2" charset="0"/>
              </a:rPr>
              <a:t>    embeddings = []</a:t>
            </a:r>
          </a:p>
          <a:p>
            <a:r>
              <a:rPr lang="en-US" sz="1100" dirty="0">
                <a:latin typeface="Tenorite" panose="00000500000000000000" pitchFamily="2" charset="0"/>
              </a:rPr>
              <a:t>    model.to(device)</a:t>
            </a:r>
          </a:p>
          <a:p>
            <a:r>
              <a:rPr lang="en-US" sz="1100" dirty="0">
                <a:latin typeface="Tenorite" panose="00000500000000000000" pitchFamily="2" charset="0"/>
              </a:rPr>
              <a:t>    </a:t>
            </a:r>
            <a:r>
              <a:rPr lang="en-US" sz="1100" dirty="0" err="1">
                <a:latin typeface="Tenorite" panose="00000500000000000000" pitchFamily="2" charset="0"/>
              </a:rPr>
              <a:t>model.eval</a:t>
            </a:r>
            <a:r>
              <a:rPr lang="en-US" sz="1100" dirty="0">
                <a:latin typeface="Tenorite" panose="00000500000000000000" pitchFamily="2" charset="0"/>
              </a:rPr>
              <a:t>()</a:t>
            </a:r>
          </a:p>
          <a:p>
            <a:endParaRPr lang="en-US" sz="1100" dirty="0">
              <a:latin typeface="Tenorite" panose="00000500000000000000" pitchFamily="2" charset="0"/>
            </a:endParaRPr>
          </a:p>
          <a:p>
            <a:r>
              <a:rPr lang="en-US" sz="1100" dirty="0">
                <a:latin typeface="Tenorite" panose="00000500000000000000" pitchFamily="2" charset="0"/>
              </a:rPr>
              <a:t>    with </a:t>
            </a:r>
            <a:r>
              <a:rPr lang="en-US" sz="1100" dirty="0" err="1">
                <a:latin typeface="Tenorite" panose="00000500000000000000" pitchFamily="2" charset="0"/>
              </a:rPr>
              <a:t>torch.no_grad</a:t>
            </a:r>
            <a:r>
              <a:rPr lang="en-US" sz="1100" dirty="0">
                <a:latin typeface="Tenorite" panose="00000500000000000000" pitchFamily="2" charset="0"/>
              </a:rPr>
              <a:t>():</a:t>
            </a:r>
          </a:p>
          <a:p>
            <a:r>
              <a:rPr lang="en-US" sz="1100" dirty="0">
                <a:latin typeface="Tenorite" panose="00000500000000000000" pitchFamily="2" charset="0"/>
              </a:rPr>
              <a:t>        for text in </a:t>
            </a:r>
            <a:r>
              <a:rPr lang="en-US" sz="1100" dirty="0" err="1">
                <a:latin typeface="Tenorite" panose="00000500000000000000" pitchFamily="2" charset="0"/>
              </a:rPr>
              <a:t>tqdm</a:t>
            </a:r>
            <a:r>
              <a:rPr lang="en-US" sz="1100" dirty="0">
                <a:latin typeface="Tenorite" panose="00000500000000000000" pitchFamily="2" charset="0"/>
              </a:rPr>
              <a:t>(texts, desc="Embedding discharge summaries"):</a:t>
            </a:r>
          </a:p>
          <a:p>
            <a:r>
              <a:rPr lang="en-US" sz="1100" dirty="0">
                <a:latin typeface="Tenorite" panose="00000500000000000000" pitchFamily="2" charset="0"/>
              </a:rPr>
              <a:t>            inputs = tokenizer(</a:t>
            </a:r>
          </a:p>
          <a:p>
            <a:r>
              <a:rPr lang="en-US" sz="1100" dirty="0">
                <a:latin typeface="Tenorite" panose="00000500000000000000" pitchFamily="2" charset="0"/>
              </a:rPr>
              <a:t>                text,</a:t>
            </a:r>
          </a:p>
          <a:p>
            <a:r>
              <a:rPr lang="en-US" sz="1100" dirty="0">
                <a:latin typeface="Tenorite" panose="00000500000000000000" pitchFamily="2" charset="0"/>
              </a:rPr>
              <a:t>                </a:t>
            </a:r>
            <a:r>
              <a:rPr lang="en-US" sz="1100" dirty="0" err="1">
                <a:latin typeface="Tenorite" panose="00000500000000000000" pitchFamily="2" charset="0"/>
              </a:rPr>
              <a:t>return_tensors</a:t>
            </a:r>
            <a:r>
              <a:rPr lang="en-US" sz="1100" dirty="0">
                <a:latin typeface="Tenorite" panose="00000500000000000000" pitchFamily="2" charset="0"/>
              </a:rPr>
              <a:t>="pt",</a:t>
            </a:r>
          </a:p>
          <a:p>
            <a:r>
              <a:rPr lang="en-US" sz="1100" dirty="0">
                <a:latin typeface="Tenorite" panose="00000500000000000000" pitchFamily="2" charset="0"/>
              </a:rPr>
              <a:t>                truncation=True,</a:t>
            </a:r>
          </a:p>
          <a:p>
            <a:r>
              <a:rPr lang="en-US" sz="1100" dirty="0">
                <a:latin typeface="Tenorite" panose="00000500000000000000" pitchFamily="2" charset="0"/>
              </a:rPr>
              <a:t>                padding="</a:t>
            </a:r>
            <a:r>
              <a:rPr lang="en-US" sz="1100" dirty="0" err="1">
                <a:latin typeface="Tenorite" panose="00000500000000000000" pitchFamily="2" charset="0"/>
              </a:rPr>
              <a:t>max_length</a:t>
            </a:r>
            <a:r>
              <a:rPr lang="en-US" sz="1100" dirty="0">
                <a:latin typeface="Tenorite" panose="00000500000000000000" pitchFamily="2" charset="0"/>
              </a:rPr>
              <a:t>",</a:t>
            </a:r>
          </a:p>
          <a:p>
            <a:r>
              <a:rPr lang="en-US" sz="1100" dirty="0">
                <a:latin typeface="Tenorite" panose="00000500000000000000" pitchFamily="2" charset="0"/>
              </a:rPr>
              <a:t>                </a:t>
            </a:r>
            <a:r>
              <a:rPr lang="en-US" sz="1100" dirty="0" err="1">
                <a:latin typeface="Tenorite" panose="00000500000000000000" pitchFamily="2" charset="0"/>
              </a:rPr>
              <a:t>max_length</a:t>
            </a:r>
            <a:r>
              <a:rPr lang="en-US" sz="1100" dirty="0">
                <a:latin typeface="Tenorite" panose="00000500000000000000" pitchFamily="2" charset="0"/>
              </a:rPr>
              <a:t>=</a:t>
            </a:r>
            <a:r>
              <a:rPr lang="en-US" sz="1100" dirty="0" err="1">
                <a:latin typeface="Tenorite" panose="00000500000000000000" pitchFamily="2" charset="0"/>
              </a:rPr>
              <a:t>max_length</a:t>
            </a:r>
            <a:endParaRPr lang="en-US" sz="1100" dirty="0">
              <a:latin typeface="Tenorite" panose="00000500000000000000" pitchFamily="2" charset="0"/>
            </a:endParaRPr>
          </a:p>
          <a:p>
            <a:r>
              <a:rPr lang="en-US" sz="1100" dirty="0">
                <a:latin typeface="Tenorite" panose="00000500000000000000" pitchFamily="2" charset="0"/>
              </a:rPr>
              <a:t>            )</a:t>
            </a:r>
          </a:p>
          <a:p>
            <a:r>
              <a:rPr lang="en-US" sz="1100" dirty="0">
                <a:latin typeface="Tenorite" panose="00000500000000000000" pitchFamily="2" charset="0"/>
              </a:rPr>
              <a:t>            inputs = {key: val.to(device) for key, </a:t>
            </a:r>
            <a:r>
              <a:rPr lang="en-US" sz="1100" dirty="0" err="1">
                <a:latin typeface="Tenorite" panose="00000500000000000000" pitchFamily="2" charset="0"/>
              </a:rPr>
              <a:t>val</a:t>
            </a:r>
            <a:r>
              <a:rPr lang="en-US" sz="1100" dirty="0">
                <a:latin typeface="Tenorite" panose="00000500000000000000" pitchFamily="2" charset="0"/>
              </a:rPr>
              <a:t> in </a:t>
            </a:r>
            <a:r>
              <a:rPr lang="en-US" sz="1100" dirty="0" err="1">
                <a:latin typeface="Tenorite" panose="00000500000000000000" pitchFamily="2" charset="0"/>
              </a:rPr>
              <a:t>inputs.items</a:t>
            </a:r>
            <a:r>
              <a:rPr lang="en-US" sz="1100" dirty="0">
                <a:latin typeface="Tenorite" panose="00000500000000000000" pitchFamily="2" charset="0"/>
              </a:rPr>
              <a:t>()}</a:t>
            </a:r>
          </a:p>
          <a:p>
            <a:r>
              <a:rPr lang="en-US" sz="1100" dirty="0">
                <a:latin typeface="Tenorite" panose="00000500000000000000" pitchFamily="2" charset="0"/>
              </a:rPr>
              <a:t>            outputs = model(**inputs)</a:t>
            </a:r>
          </a:p>
          <a:p>
            <a:r>
              <a:rPr lang="en-US" sz="1100" dirty="0">
                <a:latin typeface="Tenorite" panose="00000500000000000000" pitchFamily="2" charset="0"/>
              </a:rPr>
              <a:t>            </a:t>
            </a:r>
            <a:r>
              <a:rPr lang="en-US" sz="1100" dirty="0" err="1">
                <a:latin typeface="Tenorite" panose="00000500000000000000" pitchFamily="2" charset="0"/>
              </a:rPr>
              <a:t>cls_embedding</a:t>
            </a:r>
            <a:r>
              <a:rPr lang="en-US" sz="1100" dirty="0">
                <a:latin typeface="Tenorite" panose="00000500000000000000" pitchFamily="2" charset="0"/>
              </a:rPr>
              <a:t> = </a:t>
            </a:r>
            <a:r>
              <a:rPr lang="en-US" sz="1100" dirty="0" err="1">
                <a:latin typeface="Tenorite" panose="00000500000000000000" pitchFamily="2" charset="0"/>
              </a:rPr>
              <a:t>outputs.last_hidden_state</a:t>
            </a:r>
            <a:r>
              <a:rPr lang="en-US" sz="1100" dirty="0">
                <a:latin typeface="Tenorite" panose="00000500000000000000" pitchFamily="2" charset="0"/>
              </a:rPr>
              <a:t>[:, 0, :]  # Take CLS token</a:t>
            </a:r>
          </a:p>
          <a:p>
            <a:r>
              <a:rPr lang="en-US" sz="1100" dirty="0">
                <a:latin typeface="Tenorite" panose="00000500000000000000" pitchFamily="2" charset="0"/>
              </a:rPr>
              <a:t>            </a:t>
            </a:r>
            <a:r>
              <a:rPr lang="en-US" sz="1100" dirty="0" err="1">
                <a:latin typeface="Tenorite" panose="00000500000000000000" pitchFamily="2" charset="0"/>
              </a:rPr>
              <a:t>embeddings.append</a:t>
            </a:r>
            <a:r>
              <a:rPr lang="en-US" sz="1100" dirty="0">
                <a:latin typeface="Tenorite" panose="00000500000000000000" pitchFamily="2" charset="0"/>
              </a:rPr>
              <a:t>(</a:t>
            </a:r>
            <a:r>
              <a:rPr lang="en-US" sz="1100" dirty="0" err="1">
                <a:latin typeface="Tenorite" panose="00000500000000000000" pitchFamily="2" charset="0"/>
              </a:rPr>
              <a:t>cls_embedding.cpu</a:t>
            </a:r>
            <a:r>
              <a:rPr lang="en-US" sz="1100" dirty="0">
                <a:latin typeface="Tenorite" panose="00000500000000000000" pitchFamily="2" charset="0"/>
              </a:rPr>
              <a:t>().</a:t>
            </a:r>
            <a:r>
              <a:rPr lang="en-US" sz="1100" dirty="0" err="1">
                <a:latin typeface="Tenorite" panose="00000500000000000000" pitchFamily="2" charset="0"/>
              </a:rPr>
              <a:t>numpy</a:t>
            </a:r>
            <a:r>
              <a:rPr lang="en-US" sz="1100" dirty="0">
                <a:latin typeface="Tenorite" panose="00000500000000000000" pitchFamily="2" charset="0"/>
              </a:rPr>
              <a:t>().squeeze())</a:t>
            </a:r>
          </a:p>
          <a:p>
            <a:endParaRPr lang="en-US" sz="1100" dirty="0">
              <a:latin typeface="Tenorite" panose="00000500000000000000" pitchFamily="2" charset="0"/>
            </a:endParaRPr>
          </a:p>
          <a:p>
            <a:r>
              <a:rPr lang="en-US" sz="1100" dirty="0">
                <a:latin typeface="Tenorite" panose="00000500000000000000" pitchFamily="2" charset="0"/>
              </a:rPr>
              <a:t>    return </a:t>
            </a:r>
            <a:r>
              <a:rPr lang="en-US" sz="1100" dirty="0" err="1">
                <a:latin typeface="Tenorite" panose="00000500000000000000" pitchFamily="2" charset="0"/>
              </a:rPr>
              <a:t>np.vstack</a:t>
            </a:r>
            <a:r>
              <a:rPr lang="en-US" sz="1100" dirty="0">
                <a:latin typeface="Tenorite" panose="00000500000000000000" pitchFamily="2" charset="0"/>
              </a:rPr>
              <a:t>(embeddings)</a:t>
            </a:r>
          </a:p>
          <a:p>
            <a:endParaRPr lang="en-US" sz="1100" dirty="0">
              <a:latin typeface="Tenorite" panose="00000500000000000000" pitchFamily="2" charset="0"/>
            </a:endParaRPr>
          </a:p>
          <a:p>
            <a:r>
              <a:rPr lang="en-US" sz="1100" dirty="0">
                <a:latin typeface="Tenorite" panose="00000500000000000000" pitchFamily="2" charset="0"/>
              </a:rPr>
              <a:t>texts = </a:t>
            </a:r>
            <a:r>
              <a:rPr lang="en-US" sz="1100" dirty="0" err="1">
                <a:latin typeface="Tenorite" panose="00000500000000000000" pitchFamily="2" charset="0"/>
              </a:rPr>
              <a:t>df_notes</a:t>
            </a:r>
            <a:r>
              <a:rPr lang="en-US" sz="1100" dirty="0">
                <a:latin typeface="Tenorite" panose="00000500000000000000" pitchFamily="2" charset="0"/>
              </a:rPr>
              <a:t>['text'].</a:t>
            </a:r>
            <a:r>
              <a:rPr lang="en-US" sz="1100" dirty="0" err="1">
                <a:latin typeface="Tenorite" panose="00000500000000000000" pitchFamily="2" charset="0"/>
              </a:rPr>
              <a:t>iloc</a:t>
            </a:r>
            <a:r>
              <a:rPr lang="en-US" sz="1100" dirty="0">
                <a:latin typeface="Tenorite" panose="00000500000000000000" pitchFamily="2" charset="0"/>
              </a:rPr>
              <a:t>[:2500].</a:t>
            </a:r>
            <a:r>
              <a:rPr lang="en-US" sz="1100" dirty="0" err="1">
                <a:latin typeface="Tenorite" panose="00000500000000000000" pitchFamily="2" charset="0"/>
              </a:rPr>
              <a:t>tolist</a:t>
            </a:r>
            <a:r>
              <a:rPr lang="en-US" sz="1100" dirty="0">
                <a:latin typeface="Tenorite" panose="00000500000000000000" pitchFamily="2" charset="0"/>
              </a:rPr>
              <a:t>() # Discharge summaries </a:t>
            </a:r>
          </a:p>
          <a:p>
            <a:r>
              <a:rPr lang="en-US" sz="1100" dirty="0" err="1">
                <a:latin typeface="Tenorite" panose="00000500000000000000" pitchFamily="2" charset="0"/>
              </a:rPr>
              <a:t>hadm_ids</a:t>
            </a:r>
            <a:r>
              <a:rPr lang="en-US" sz="1100" dirty="0">
                <a:latin typeface="Tenorite" panose="00000500000000000000" pitchFamily="2" charset="0"/>
              </a:rPr>
              <a:t> = </a:t>
            </a:r>
            <a:r>
              <a:rPr lang="en-US" sz="1100" dirty="0" err="1">
                <a:latin typeface="Tenorite" panose="00000500000000000000" pitchFamily="2" charset="0"/>
              </a:rPr>
              <a:t>df_notes</a:t>
            </a:r>
            <a:r>
              <a:rPr lang="en-US" sz="1100" dirty="0">
                <a:latin typeface="Tenorite" panose="00000500000000000000" pitchFamily="2" charset="0"/>
              </a:rPr>
              <a:t>['</a:t>
            </a:r>
            <a:r>
              <a:rPr lang="en-US" sz="1100" dirty="0" err="1">
                <a:latin typeface="Tenorite" panose="00000500000000000000" pitchFamily="2" charset="0"/>
              </a:rPr>
              <a:t>hadm_id</a:t>
            </a:r>
            <a:r>
              <a:rPr lang="en-US" sz="1100" dirty="0">
                <a:latin typeface="Tenorite" panose="00000500000000000000" pitchFamily="2" charset="0"/>
              </a:rPr>
              <a:t>'].</a:t>
            </a:r>
            <a:r>
              <a:rPr lang="en-US" sz="1100" dirty="0" err="1">
                <a:latin typeface="Tenorite" panose="00000500000000000000" pitchFamily="2" charset="0"/>
              </a:rPr>
              <a:t>iloc</a:t>
            </a:r>
            <a:r>
              <a:rPr lang="en-US" sz="1100" dirty="0">
                <a:latin typeface="Tenorite" panose="00000500000000000000" pitchFamily="2" charset="0"/>
              </a:rPr>
              <a:t>[:2500].</a:t>
            </a:r>
            <a:r>
              <a:rPr lang="en-US" sz="1100" dirty="0" err="1">
                <a:latin typeface="Tenorite" panose="00000500000000000000" pitchFamily="2" charset="0"/>
              </a:rPr>
              <a:t>tolist</a:t>
            </a:r>
            <a:r>
              <a:rPr lang="en-US" sz="1100" dirty="0">
                <a:latin typeface="Tenorite" panose="00000500000000000000" pitchFamily="2" charset="0"/>
              </a:rPr>
              <a:t>() # Corresponding hospital admission IDs</a:t>
            </a:r>
          </a:p>
          <a:p>
            <a:endParaRPr lang="en-US" sz="1100" dirty="0">
              <a:latin typeface="Tenorite" panose="00000500000000000000" pitchFamily="2" charset="0"/>
            </a:endParaRPr>
          </a:p>
          <a:p>
            <a:r>
              <a:rPr lang="en-US" sz="1100" dirty="0">
                <a:latin typeface="Tenorite" panose="00000500000000000000" pitchFamily="2" charset="0"/>
              </a:rPr>
              <a:t># Generate BERT Embeddings</a:t>
            </a:r>
          </a:p>
          <a:p>
            <a:r>
              <a:rPr lang="en-US" sz="1100" dirty="0" err="1">
                <a:latin typeface="Tenorite" panose="00000500000000000000" pitchFamily="2" charset="0"/>
              </a:rPr>
              <a:t>bert_array</a:t>
            </a:r>
            <a:r>
              <a:rPr lang="en-US" sz="1100" dirty="0">
                <a:latin typeface="Tenorite" panose="00000500000000000000" pitchFamily="2" charset="0"/>
              </a:rPr>
              <a:t> = </a:t>
            </a:r>
            <a:r>
              <a:rPr lang="en-US" sz="1100" dirty="0" err="1">
                <a:latin typeface="Tenorite" panose="00000500000000000000" pitchFamily="2" charset="0"/>
              </a:rPr>
              <a:t>embed_text_bert</a:t>
            </a:r>
            <a:r>
              <a:rPr lang="en-US" sz="1100" dirty="0">
                <a:latin typeface="Tenorite" panose="00000500000000000000" pitchFamily="2" charset="0"/>
              </a:rPr>
              <a:t>(texts, tokenizer, model)</a:t>
            </a:r>
          </a:p>
          <a:p>
            <a:endParaRPr lang="en-US" sz="1100" dirty="0"/>
          </a:p>
          <a:p>
            <a:endParaRPr lang="en-US" dirty="0"/>
          </a:p>
        </p:txBody>
      </p:sp>
      <p:sp>
        <p:nvSpPr>
          <p:cNvPr id="11" name="TextBox 10">
            <a:extLst>
              <a:ext uri="{FF2B5EF4-FFF2-40B4-BE49-F238E27FC236}">
                <a16:creationId xmlns:a16="http://schemas.microsoft.com/office/drawing/2014/main" id="{99AC1E96-E2CA-01EE-CEA2-45D15BF3A298}"/>
              </a:ext>
            </a:extLst>
          </p:cNvPr>
          <p:cNvSpPr txBox="1"/>
          <p:nvPr/>
        </p:nvSpPr>
        <p:spPr>
          <a:xfrm>
            <a:off x="6094022" y="1515398"/>
            <a:ext cx="6097978" cy="2800767"/>
          </a:xfrm>
          <a:prstGeom prst="rect">
            <a:avLst/>
          </a:prstGeom>
          <a:noFill/>
        </p:spPr>
        <p:txBody>
          <a:bodyPr wrap="square">
            <a:spAutoFit/>
          </a:bodyPr>
          <a:lstStyle/>
          <a:p>
            <a:r>
              <a:rPr lang="en-US" sz="1100" dirty="0">
                <a:latin typeface="Tenorite" panose="00000500000000000000" pitchFamily="2" charset="0"/>
              </a:rPr>
              <a:t># Create </a:t>
            </a:r>
            <a:r>
              <a:rPr lang="en-US" sz="1100" dirty="0" err="1">
                <a:latin typeface="Tenorite" panose="00000500000000000000" pitchFamily="2" charset="0"/>
              </a:rPr>
              <a:t>DataFrame</a:t>
            </a:r>
            <a:r>
              <a:rPr lang="en-US" sz="1100" dirty="0">
                <a:latin typeface="Tenorite" panose="00000500000000000000" pitchFamily="2" charset="0"/>
              </a:rPr>
              <a:t> for embeddings</a:t>
            </a:r>
          </a:p>
          <a:p>
            <a:r>
              <a:rPr lang="en-US" sz="1100" dirty="0" err="1">
                <a:latin typeface="Tenorite" panose="00000500000000000000" pitchFamily="2" charset="0"/>
              </a:rPr>
              <a:t>df_bert_embeddings</a:t>
            </a:r>
            <a:r>
              <a:rPr lang="en-US" sz="1100" dirty="0">
                <a:latin typeface="Tenorite" panose="00000500000000000000" pitchFamily="2" charset="0"/>
              </a:rPr>
              <a:t> = </a:t>
            </a:r>
            <a:r>
              <a:rPr lang="en-US" sz="1100" dirty="0" err="1">
                <a:latin typeface="Tenorite" panose="00000500000000000000" pitchFamily="2" charset="0"/>
              </a:rPr>
              <a:t>pd.DataFrame</a:t>
            </a:r>
            <a:r>
              <a:rPr lang="en-US" sz="1100" dirty="0">
                <a:latin typeface="Tenorite" panose="00000500000000000000" pitchFamily="2" charset="0"/>
              </a:rPr>
              <a:t>(</a:t>
            </a:r>
          </a:p>
          <a:p>
            <a:r>
              <a:rPr lang="en-US" sz="1100" dirty="0">
                <a:latin typeface="Tenorite" panose="00000500000000000000" pitchFamily="2" charset="0"/>
              </a:rPr>
              <a:t>    </a:t>
            </a:r>
            <a:r>
              <a:rPr lang="en-US" sz="1100" dirty="0" err="1">
                <a:latin typeface="Tenorite" panose="00000500000000000000" pitchFamily="2" charset="0"/>
              </a:rPr>
              <a:t>bert_array</a:t>
            </a:r>
            <a:r>
              <a:rPr lang="en-US" sz="1100" dirty="0">
                <a:latin typeface="Tenorite" panose="00000500000000000000" pitchFamily="2" charset="0"/>
              </a:rPr>
              <a:t>,</a:t>
            </a:r>
          </a:p>
          <a:p>
            <a:r>
              <a:rPr lang="en-US" sz="1100" dirty="0">
                <a:latin typeface="Tenorite" panose="00000500000000000000" pitchFamily="2" charset="0"/>
              </a:rPr>
              <a:t>    columns=[</a:t>
            </a:r>
            <a:r>
              <a:rPr lang="en-US" sz="1100" dirty="0" err="1">
                <a:latin typeface="Tenorite" panose="00000500000000000000" pitchFamily="2" charset="0"/>
              </a:rPr>
              <a:t>f"bert_feature</a:t>
            </a:r>
            <a:r>
              <a:rPr lang="en-US" sz="1100" dirty="0">
                <a:latin typeface="Tenorite" panose="00000500000000000000" pitchFamily="2" charset="0"/>
              </a:rPr>
              <a:t>_{</a:t>
            </a:r>
            <a:r>
              <a:rPr lang="en-US" sz="1100" dirty="0" err="1">
                <a:latin typeface="Tenorite" panose="00000500000000000000" pitchFamily="2" charset="0"/>
              </a:rPr>
              <a:t>i</a:t>
            </a:r>
            <a:r>
              <a:rPr lang="en-US" sz="1100" dirty="0">
                <a:latin typeface="Tenorite" panose="00000500000000000000" pitchFamily="2" charset="0"/>
              </a:rPr>
              <a:t>}" for </a:t>
            </a:r>
            <a:r>
              <a:rPr lang="en-US" sz="1100" dirty="0" err="1">
                <a:latin typeface="Tenorite" panose="00000500000000000000" pitchFamily="2" charset="0"/>
              </a:rPr>
              <a:t>i</a:t>
            </a:r>
            <a:r>
              <a:rPr lang="en-US" sz="1100" dirty="0">
                <a:latin typeface="Tenorite" panose="00000500000000000000" pitchFamily="2" charset="0"/>
              </a:rPr>
              <a:t> in range(</a:t>
            </a:r>
            <a:r>
              <a:rPr lang="en-US" sz="1100" dirty="0" err="1">
                <a:latin typeface="Tenorite" panose="00000500000000000000" pitchFamily="2" charset="0"/>
              </a:rPr>
              <a:t>bert_array.shape</a:t>
            </a:r>
            <a:r>
              <a:rPr lang="en-US" sz="1100" dirty="0">
                <a:latin typeface="Tenorite" panose="00000500000000000000" pitchFamily="2" charset="0"/>
              </a:rPr>
              <a:t>[1])]</a:t>
            </a:r>
          </a:p>
          <a:p>
            <a:r>
              <a:rPr lang="en-US" sz="1100" dirty="0">
                <a:latin typeface="Tenorite" panose="00000500000000000000" pitchFamily="2" charset="0"/>
              </a:rPr>
              <a:t>)</a:t>
            </a:r>
          </a:p>
          <a:p>
            <a:endParaRPr lang="en-US" sz="1100" dirty="0">
              <a:latin typeface="Tenorite" panose="00000500000000000000" pitchFamily="2" charset="0"/>
            </a:endParaRPr>
          </a:p>
          <a:p>
            <a:r>
              <a:rPr lang="en-US" sz="1100" dirty="0">
                <a:latin typeface="Tenorite" panose="00000500000000000000" pitchFamily="2" charset="0"/>
              </a:rPr>
              <a:t># Attach hospital admission ID for merging with other clinical data later</a:t>
            </a:r>
          </a:p>
          <a:p>
            <a:r>
              <a:rPr lang="en-US" sz="1100" dirty="0" err="1">
                <a:latin typeface="Tenorite" panose="00000500000000000000" pitchFamily="2" charset="0"/>
              </a:rPr>
              <a:t>df_bert_embeddings</a:t>
            </a:r>
            <a:r>
              <a:rPr lang="en-US" sz="1100" dirty="0">
                <a:latin typeface="Tenorite" panose="00000500000000000000" pitchFamily="2" charset="0"/>
              </a:rPr>
              <a:t>['</a:t>
            </a:r>
            <a:r>
              <a:rPr lang="en-US" sz="1100" dirty="0" err="1">
                <a:latin typeface="Tenorite" panose="00000500000000000000" pitchFamily="2" charset="0"/>
              </a:rPr>
              <a:t>hadm_id</a:t>
            </a:r>
            <a:r>
              <a:rPr lang="en-US" sz="1100" dirty="0">
                <a:latin typeface="Tenorite" panose="00000500000000000000" pitchFamily="2" charset="0"/>
              </a:rPr>
              <a:t>'] = </a:t>
            </a:r>
            <a:r>
              <a:rPr lang="en-US" sz="1100" dirty="0" err="1">
                <a:latin typeface="Tenorite" panose="00000500000000000000" pitchFamily="2" charset="0"/>
              </a:rPr>
              <a:t>hadm_ids</a:t>
            </a:r>
            <a:r>
              <a:rPr lang="en-US" sz="1100" dirty="0">
                <a:latin typeface="Tenorite" panose="00000500000000000000" pitchFamily="2" charset="0"/>
              </a:rPr>
              <a:t> </a:t>
            </a:r>
          </a:p>
          <a:p>
            <a:endParaRPr lang="en-US" sz="1100" dirty="0">
              <a:latin typeface="Tenorite" panose="00000500000000000000" pitchFamily="2" charset="0"/>
            </a:endParaRPr>
          </a:p>
          <a:p>
            <a:r>
              <a:rPr lang="en-US" sz="1100" dirty="0">
                <a:latin typeface="Tenorite" panose="00000500000000000000" pitchFamily="2" charset="0"/>
              </a:rPr>
              <a:t># Save embeddings for reuse</a:t>
            </a:r>
          </a:p>
          <a:p>
            <a:r>
              <a:rPr lang="en-US" sz="1100" dirty="0" err="1">
                <a:latin typeface="Tenorite" panose="00000500000000000000" pitchFamily="2" charset="0"/>
              </a:rPr>
              <a:t>df_bert_embeddings.to_pickle</a:t>
            </a:r>
            <a:r>
              <a:rPr lang="en-US" sz="1100" dirty="0">
                <a:latin typeface="Tenorite" panose="00000500000000000000" pitchFamily="2" charset="0"/>
              </a:rPr>
              <a:t>("</a:t>
            </a:r>
            <a:r>
              <a:rPr lang="en-US" sz="1100" dirty="0" err="1">
                <a:latin typeface="Tenorite" panose="00000500000000000000" pitchFamily="2" charset="0"/>
              </a:rPr>
              <a:t>bert_embeddings.pkl</a:t>
            </a:r>
            <a:r>
              <a:rPr lang="en-US" sz="1100" dirty="0">
                <a:latin typeface="Tenorite" panose="00000500000000000000" pitchFamily="2" charset="0"/>
              </a:rPr>
              <a:t>")</a:t>
            </a:r>
          </a:p>
          <a:p>
            <a:r>
              <a:rPr lang="en-US" sz="1100" dirty="0">
                <a:latin typeface="Tenorite" panose="00000500000000000000" pitchFamily="2" charset="0"/>
              </a:rPr>
              <a:t>print("BERT embeddings saved as </a:t>
            </a:r>
            <a:r>
              <a:rPr lang="en-US" sz="1100" dirty="0" err="1">
                <a:latin typeface="Tenorite" panose="00000500000000000000" pitchFamily="2" charset="0"/>
              </a:rPr>
              <a:t>bert_embeddings.pkl</a:t>
            </a:r>
            <a:r>
              <a:rPr lang="en-US" sz="1100" dirty="0">
                <a:latin typeface="Tenorite" panose="00000500000000000000" pitchFamily="2" charset="0"/>
              </a:rPr>
              <a:t>")</a:t>
            </a:r>
          </a:p>
          <a:p>
            <a:endParaRPr lang="en-US" sz="1100" dirty="0">
              <a:latin typeface="Tenorite" panose="00000500000000000000" pitchFamily="2" charset="0"/>
            </a:endParaRPr>
          </a:p>
          <a:p>
            <a:r>
              <a:rPr lang="en-US" sz="1100" dirty="0">
                <a:latin typeface="Tenorite" panose="00000500000000000000" pitchFamily="2" charset="0"/>
              </a:rPr>
              <a:t># Preview </a:t>
            </a:r>
          </a:p>
          <a:p>
            <a:r>
              <a:rPr lang="en-US" sz="1100" dirty="0">
                <a:latin typeface="Tenorite" panose="00000500000000000000" pitchFamily="2" charset="0"/>
              </a:rPr>
              <a:t>print("</a:t>
            </a:r>
            <a:r>
              <a:rPr lang="en-US" sz="1100" dirty="0" err="1">
                <a:latin typeface="Tenorite" panose="00000500000000000000" pitchFamily="2" charset="0"/>
              </a:rPr>
              <a:t>ClinicalBERT</a:t>
            </a:r>
            <a:r>
              <a:rPr lang="en-US" sz="1100" dirty="0">
                <a:latin typeface="Tenorite" panose="00000500000000000000" pitchFamily="2" charset="0"/>
              </a:rPr>
              <a:t> embeddings shape:", </a:t>
            </a:r>
            <a:r>
              <a:rPr lang="en-US" sz="1100" dirty="0" err="1">
                <a:latin typeface="Tenorite" panose="00000500000000000000" pitchFamily="2" charset="0"/>
              </a:rPr>
              <a:t>df_bert_embeddings.shape</a:t>
            </a:r>
            <a:r>
              <a:rPr lang="en-US" sz="1100" dirty="0">
                <a:latin typeface="Tenorite" panose="00000500000000000000" pitchFamily="2" charset="0"/>
              </a:rPr>
              <a:t>)</a:t>
            </a:r>
          </a:p>
          <a:p>
            <a:r>
              <a:rPr lang="en-US" sz="1100" dirty="0">
                <a:latin typeface="Tenorite" panose="00000500000000000000" pitchFamily="2" charset="0"/>
              </a:rPr>
              <a:t>print(</a:t>
            </a:r>
            <a:r>
              <a:rPr lang="en-US" sz="1100" dirty="0" err="1">
                <a:latin typeface="Tenorite" panose="00000500000000000000" pitchFamily="2" charset="0"/>
              </a:rPr>
              <a:t>df_bert_embeddings.head</a:t>
            </a:r>
            <a:r>
              <a:rPr lang="en-US" sz="1100" dirty="0">
                <a:latin typeface="Tenorite" panose="00000500000000000000" pitchFamily="2" charset="0"/>
              </a:rPr>
              <a:t>())</a:t>
            </a:r>
          </a:p>
        </p:txBody>
      </p:sp>
    </p:spTree>
    <p:extLst>
      <p:ext uri="{BB962C8B-B14F-4D97-AF65-F5344CB8AC3E}">
        <p14:creationId xmlns:p14="http://schemas.microsoft.com/office/powerpoint/2010/main" val="4127538890"/>
      </p:ext>
    </p:extLst>
  </p:cSld>
  <p:clrMapOvr>
    <a:masterClrMapping/>
  </p:clrMapOvr>
  <mc:AlternateContent xmlns:mc="http://schemas.openxmlformats.org/markup-compatibility/2006" xmlns:p14="http://schemas.microsoft.com/office/powerpoint/2010/main">
    <mc:Choice Requires="p14">
      <p:transition spd="slow" p14:dur="2000" advTm="19008"/>
    </mc:Choice>
    <mc:Fallback xmlns="">
      <p:transition spd="slow" advTm="1900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35DE5DAD-8144-63C4-C3ED-67A5894EC3A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1CBEAD-7EE5-4F26-2DE2-E37A7A318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4096B34C-E8D2-1208-080E-3D465C50FC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72D900B8-8C2C-D801-6949-197A22D4B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875C22D-AD69-6FAA-E727-11070597BB4D}"/>
              </a:ext>
            </a:extLst>
          </p:cNvPr>
          <p:cNvSpPr>
            <a:spLocks noGrp="1"/>
          </p:cNvSpPr>
          <p:nvPr>
            <p:ph type="title"/>
          </p:nvPr>
        </p:nvSpPr>
        <p:spPr>
          <a:xfrm>
            <a:off x="1115568" y="548640"/>
            <a:ext cx="10168128" cy="1179576"/>
          </a:xfrm>
        </p:spPr>
        <p:txBody>
          <a:bodyPr>
            <a:normAutofit/>
          </a:bodyPr>
          <a:lstStyle/>
          <a:p>
            <a:r>
              <a:rPr lang="en-US" sz="4000" b="1" dirty="0">
                <a:latin typeface="Tenorite Display" panose="00000500000000000000" pitchFamily="2" charset="0"/>
              </a:rPr>
              <a:t>Code: Combining </a:t>
            </a:r>
            <a:r>
              <a:rPr lang="en-US" sz="4000" b="1" dirty="0" err="1">
                <a:latin typeface="Tenorite Display" panose="00000500000000000000" pitchFamily="2" charset="0"/>
              </a:rPr>
              <a:t>Datastes</a:t>
            </a:r>
            <a:endParaRPr lang="en-US" sz="4000" b="1" dirty="0">
              <a:latin typeface="Tenorite Display" panose="00000500000000000000" pitchFamily="2" charset="0"/>
            </a:endParaRPr>
          </a:p>
        </p:txBody>
      </p:sp>
      <p:sp>
        <p:nvSpPr>
          <p:cNvPr id="14" name="Rectangle 13">
            <a:extLst>
              <a:ext uri="{FF2B5EF4-FFF2-40B4-BE49-F238E27FC236}">
                <a16:creationId xmlns:a16="http://schemas.microsoft.com/office/drawing/2014/main" id="{2214EA3C-156F-C7F5-5F59-99486B664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Box 4">
            <a:extLst>
              <a:ext uri="{FF2B5EF4-FFF2-40B4-BE49-F238E27FC236}">
                <a16:creationId xmlns:a16="http://schemas.microsoft.com/office/drawing/2014/main" id="{651F475E-3B0F-1405-9494-51229D7AC1F0}"/>
              </a:ext>
            </a:extLst>
          </p:cNvPr>
          <p:cNvSpPr txBox="1"/>
          <p:nvPr/>
        </p:nvSpPr>
        <p:spPr>
          <a:xfrm>
            <a:off x="498834" y="1728216"/>
            <a:ext cx="6097978" cy="3139321"/>
          </a:xfrm>
          <a:prstGeom prst="rect">
            <a:avLst/>
          </a:prstGeom>
          <a:noFill/>
        </p:spPr>
        <p:txBody>
          <a:bodyPr wrap="square">
            <a:spAutoFit/>
          </a:bodyPr>
          <a:lstStyle/>
          <a:p>
            <a:r>
              <a:rPr lang="en-US" dirty="0"/>
              <a:t># Load both </a:t>
            </a:r>
            <a:r>
              <a:rPr lang="en-US" dirty="0" err="1"/>
              <a:t>DataFrames</a:t>
            </a:r>
            <a:endParaRPr lang="en-US" dirty="0"/>
          </a:p>
          <a:p>
            <a:r>
              <a:rPr lang="en-US" dirty="0" err="1"/>
              <a:t>df_structured</a:t>
            </a:r>
            <a:r>
              <a:rPr lang="en-US" dirty="0"/>
              <a:t> = </a:t>
            </a:r>
            <a:r>
              <a:rPr lang="en-US" dirty="0" err="1"/>
              <a:t>pd.read_pickle</a:t>
            </a:r>
            <a:r>
              <a:rPr lang="en-US" dirty="0"/>
              <a:t>("</a:t>
            </a:r>
            <a:r>
              <a:rPr lang="en-US" dirty="0" err="1"/>
              <a:t>structured_data.pkl</a:t>
            </a:r>
            <a:r>
              <a:rPr lang="en-US" dirty="0"/>
              <a:t>")</a:t>
            </a:r>
          </a:p>
          <a:p>
            <a:r>
              <a:rPr lang="en-US" dirty="0" err="1"/>
              <a:t>df_bert_embeddings</a:t>
            </a:r>
            <a:r>
              <a:rPr lang="en-US" dirty="0"/>
              <a:t> = </a:t>
            </a:r>
            <a:r>
              <a:rPr lang="en-US" dirty="0" err="1"/>
              <a:t>pd.read_pickle</a:t>
            </a:r>
            <a:r>
              <a:rPr lang="en-US" dirty="0"/>
              <a:t>("</a:t>
            </a:r>
            <a:r>
              <a:rPr lang="en-US" dirty="0" err="1"/>
              <a:t>bert_embeddings.pkl</a:t>
            </a:r>
            <a:r>
              <a:rPr lang="en-US" dirty="0"/>
              <a:t>")</a:t>
            </a:r>
          </a:p>
          <a:p>
            <a:endParaRPr lang="en-US" dirty="0"/>
          </a:p>
          <a:p>
            <a:r>
              <a:rPr lang="en-US" dirty="0"/>
              <a:t># Merge on </a:t>
            </a:r>
            <a:r>
              <a:rPr lang="en-US" dirty="0" err="1"/>
              <a:t>hadm_id</a:t>
            </a:r>
            <a:endParaRPr lang="en-US" dirty="0"/>
          </a:p>
          <a:p>
            <a:r>
              <a:rPr lang="en-US" dirty="0" err="1"/>
              <a:t>final_df</a:t>
            </a:r>
            <a:r>
              <a:rPr lang="en-US" dirty="0"/>
              <a:t> = </a:t>
            </a:r>
            <a:r>
              <a:rPr lang="en-US" dirty="0" err="1"/>
              <a:t>df_structured.merge</a:t>
            </a:r>
            <a:r>
              <a:rPr lang="en-US" dirty="0"/>
              <a:t>(</a:t>
            </a:r>
            <a:r>
              <a:rPr lang="en-US" dirty="0" err="1"/>
              <a:t>df_bert_embeddings</a:t>
            </a:r>
            <a:r>
              <a:rPr lang="en-US" dirty="0"/>
              <a:t>, on='</a:t>
            </a:r>
            <a:r>
              <a:rPr lang="en-US" dirty="0" err="1"/>
              <a:t>hadm_id</a:t>
            </a:r>
            <a:r>
              <a:rPr lang="en-US" dirty="0"/>
              <a:t>', how='inner')</a:t>
            </a:r>
          </a:p>
          <a:p>
            <a:endParaRPr lang="en-US" dirty="0"/>
          </a:p>
          <a:p>
            <a:r>
              <a:rPr lang="en-US" dirty="0"/>
              <a:t>print("Final merged shape:", </a:t>
            </a:r>
            <a:r>
              <a:rPr lang="en-US" dirty="0" err="1"/>
              <a:t>final_df.shape</a:t>
            </a:r>
            <a:r>
              <a:rPr lang="en-US" dirty="0"/>
              <a:t>)</a:t>
            </a:r>
          </a:p>
          <a:p>
            <a:r>
              <a:rPr lang="en-US" dirty="0"/>
              <a:t>print(</a:t>
            </a:r>
            <a:r>
              <a:rPr lang="en-US" dirty="0" err="1"/>
              <a:t>final_df.head</a:t>
            </a:r>
            <a:r>
              <a:rPr lang="en-US" dirty="0"/>
              <a:t>())</a:t>
            </a:r>
          </a:p>
        </p:txBody>
      </p:sp>
    </p:spTree>
    <p:extLst>
      <p:ext uri="{BB962C8B-B14F-4D97-AF65-F5344CB8AC3E}">
        <p14:creationId xmlns:p14="http://schemas.microsoft.com/office/powerpoint/2010/main" val="905470637"/>
      </p:ext>
    </p:extLst>
  </p:cSld>
  <p:clrMapOvr>
    <a:masterClrMapping/>
  </p:clrMapOvr>
  <mc:AlternateContent xmlns:mc="http://schemas.openxmlformats.org/markup-compatibility/2006" xmlns:p14="http://schemas.microsoft.com/office/powerpoint/2010/main">
    <mc:Choice Requires="p14">
      <p:transition spd="slow" p14:dur="2000" advTm="19065"/>
    </mc:Choice>
    <mc:Fallback xmlns="">
      <p:transition spd="slow" advTm="1906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FCF4BAF-3A1C-087C-A3B8-A142800DB06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F0DB48D-722D-6E6D-D07C-8E86E61C4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11DD03A-A811-E8D2-2967-AAD16A35A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23C8D0-5201-6F81-737A-6D95D4021C0C}"/>
              </a:ext>
            </a:extLst>
          </p:cNvPr>
          <p:cNvSpPr>
            <a:spLocks noGrp="1"/>
          </p:cNvSpPr>
          <p:nvPr>
            <p:ph type="title"/>
          </p:nvPr>
        </p:nvSpPr>
        <p:spPr>
          <a:xfrm>
            <a:off x="686833" y="591344"/>
            <a:ext cx="3338901" cy="5585619"/>
          </a:xfrm>
        </p:spPr>
        <p:txBody>
          <a:bodyPr>
            <a:normAutofit/>
          </a:bodyPr>
          <a:lstStyle/>
          <a:p>
            <a:r>
              <a:rPr lang="en-US" sz="5400" b="1" dirty="0">
                <a:solidFill>
                  <a:schemeClr val="bg1"/>
                </a:solidFill>
                <a:latin typeface="Tenorite Display" panose="00000500000000000000" pitchFamily="2" charset="0"/>
              </a:rPr>
              <a:t>Results: Combined Before SMOTE</a:t>
            </a:r>
          </a:p>
        </p:txBody>
      </p:sp>
      <p:sp>
        <p:nvSpPr>
          <p:cNvPr id="12" name="Arc 11">
            <a:extLst>
              <a:ext uri="{FF2B5EF4-FFF2-40B4-BE49-F238E27FC236}">
                <a16:creationId xmlns:a16="http://schemas.microsoft.com/office/drawing/2014/main" id="{53B59E8E-DA35-7E5B-C865-C2B35ABB0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9" name="Picture 48">
            <a:extLst>
              <a:ext uri="{FF2B5EF4-FFF2-40B4-BE49-F238E27FC236}">
                <a16:creationId xmlns:a16="http://schemas.microsoft.com/office/drawing/2014/main" id="{C265AD24-14F1-F6FE-F5F6-2CAD8E05D44D}"/>
              </a:ext>
            </a:extLst>
          </p:cNvPr>
          <p:cNvPicPr>
            <a:picLocks noChangeAspect="1"/>
          </p:cNvPicPr>
          <p:nvPr/>
        </p:nvPicPr>
        <p:blipFill>
          <a:blip r:embed="rId3"/>
          <a:stretch>
            <a:fillRect/>
          </a:stretch>
        </p:blipFill>
        <p:spPr>
          <a:xfrm>
            <a:off x="4273751" y="-4"/>
            <a:ext cx="4022906" cy="3698861"/>
          </a:xfrm>
          <a:prstGeom prst="rect">
            <a:avLst/>
          </a:prstGeom>
        </p:spPr>
      </p:pic>
      <p:pic>
        <p:nvPicPr>
          <p:cNvPr id="51" name="Picture 50">
            <a:extLst>
              <a:ext uri="{FF2B5EF4-FFF2-40B4-BE49-F238E27FC236}">
                <a16:creationId xmlns:a16="http://schemas.microsoft.com/office/drawing/2014/main" id="{81BCF594-64E3-8D24-D061-C9138B4B0629}"/>
              </a:ext>
            </a:extLst>
          </p:cNvPr>
          <p:cNvPicPr>
            <a:picLocks noChangeAspect="1"/>
          </p:cNvPicPr>
          <p:nvPr/>
        </p:nvPicPr>
        <p:blipFill>
          <a:blip r:embed="rId4"/>
          <a:stretch>
            <a:fillRect/>
          </a:stretch>
        </p:blipFill>
        <p:spPr>
          <a:xfrm>
            <a:off x="8403140" y="3554728"/>
            <a:ext cx="3616261" cy="2889182"/>
          </a:xfrm>
          <a:prstGeom prst="rect">
            <a:avLst/>
          </a:prstGeom>
        </p:spPr>
      </p:pic>
    </p:spTree>
    <p:extLst>
      <p:ext uri="{BB962C8B-B14F-4D97-AF65-F5344CB8AC3E}">
        <p14:creationId xmlns:p14="http://schemas.microsoft.com/office/powerpoint/2010/main" val="4106361793"/>
      </p:ext>
    </p:extLst>
  </p:cSld>
  <p:clrMapOvr>
    <a:masterClrMapping/>
  </p:clrMapOvr>
  <mc:AlternateContent xmlns:mc="http://schemas.openxmlformats.org/markup-compatibility/2006" xmlns:p14="http://schemas.microsoft.com/office/powerpoint/2010/main">
    <mc:Choice Requires="p14">
      <p:transition spd="slow" p14:dur="2000" advTm="21551"/>
    </mc:Choice>
    <mc:Fallback xmlns="">
      <p:transition spd="slow" advTm="21551"/>
    </mc:Fallback>
  </mc:AlternateContent>
  <p:extLst>
    <p:ext uri="{3A86A75C-4F4B-4683-9AE1-C65F6400EC91}">
      <p14:laserTraceLst xmlns:p14="http://schemas.microsoft.com/office/powerpoint/2010/main">
        <p14:tracePtLst>
          <p14:tracePt t="7816" x="4740275" y="6807200"/>
          <p14:tracePt t="7816" x="4749800" y="6781800"/>
          <p14:tracePt t="7819" x="4775200" y="6707188"/>
          <p14:tracePt t="7836" x="4926013" y="6203950"/>
          <p14:tracePt t="7836" x="4933950" y="6169025"/>
          <p14:tracePt t="7838" x="4951413" y="6127750"/>
          <p14:tracePt t="7852" x="5076825" y="5540375"/>
          <p14:tracePt t="7869" x="5210175" y="4843463"/>
          <p14:tracePt t="7886" x="5311775" y="4297363"/>
          <p14:tracePt t="7886" x="5319713" y="4281488"/>
          <p14:tracePt t="7902" x="5370513" y="3819525"/>
          <p14:tracePt t="7919" x="5378450" y="3449638"/>
          <p14:tracePt t="7920" x="5378450" y="3433763"/>
          <p14:tracePt t="7936" x="5378450" y="3240088"/>
          <p14:tracePt t="7952" x="5353050" y="3114675"/>
          <p14:tracePt t="7970" x="5345113" y="3022600"/>
          <p14:tracePt t="7970" x="5337175" y="3022600"/>
          <p14:tracePt t="7986" x="5319713" y="2979738"/>
          <p14:tracePt t="7986" x="5319713" y="2971800"/>
          <p14:tracePt t="8002" x="5303838" y="2938463"/>
          <p14:tracePt t="8019" x="5286375" y="2928938"/>
          <p14:tracePt t="8036" x="5278438" y="2913063"/>
          <p14:tracePt t="8036" x="5268913" y="2913063"/>
          <p14:tracePt t="8052" x="5235575" y="2879725"/>
          <p14:tracePt t="8069" x="5135563" y="2795588"/>
          <p14:tracePt t="8086" x="5000625" y="2644775"/>
          <p14:tracePt t="8086" x="4992688" y="2627313"/>
          <p14:tracePt t="8102" x="4824413" y="2443163"/>
          <p14:tracePt t="8103" x="4824413" y="2425700"/>
          <p14:tracePt t="8119" x="4673600" y="2257425"/>
          <p14:tracePt t="8119" x="4665663" y="2249488"/>
          <p14:tracePt t="8120" x="4657725" y="2233613"/>
          <p14:tracePt t="8136" x="4522788" y="2090738"/>
          <p14:tracePt t="8136" x="4514850" y="2081213"/>
          <p14:tracePt t="8152" x="4405313" y="1938338"/>
          <p14:tracePt t="8169" x="4346575" y="1838325"/>
          <p14:tracePt t="8186" x="4338638" y="1762125"/>
          <p14:tracePt t="8202" x="4422775" y="1644650"/>
          <p14:tracePt t="8203" x="4422775" y="1628775"/>
          <p14:tracePt t="8219" x="4564063" y="1460500"/>
          <p14:tracePt t="8219" x="4564063" y="1443038"/>
          <p14:tracePt t="8240" x="4740275" y="1184275"/>
          <p14:tracePt t="8240" x="4749800" y="1166813"/>
          <p14:tracePt t="8253" x="4849813" y="1016000"/>
          <p14:tracePt t="8269" x="4984750" y="806450"/>
          <p14:tracePt t="8286" x="5102225" y="638175"/>
          <p14:tracePt t="8286" x="5110163" y="620713"/>
          <p14:tracePt t="8303" x="5235575" y="487363"/>
          <p14:tracePt t="8319" x="5386388" y="411163"/>
          <p14:tracePt t="8336" x="5562600" y="385763"/>
          <p14:tracePt t="8336" x="5580063" y="385763"/>
          <p14:tracePt t="8352" x="5797550" y="385763"/>
          <p14:tracePt t="8369" x="6067425" y="395288"/>
          <p14:tracePt t="8386" x="6292850" y="428625"/>
          <p14:tracePt t="8386" x="6310313" y="428625"/>
          <p14:tracePt t="8402" x="6527800" y="469900"/>
          <p14:tracePt t="8419" x="6721475" y="520700"/>
          <p14:tracePt t="8436" x="6838950" y="546100"/>
          <p14:tracePt t="8436" x="6846888" y="554038"/>
          <p14:tracePt t="8452" x="6897688" y="579438"/>
          <p14:tracePt t="8469" x="6913563" y="587375"/>
          <p14:tracePt t="8486" x="6923088" y="587375"/>
          <p14:tracePt t="8502" x="6946900" y="604838"/>
          <p14:tracePt t="8519" x="6989763" y="620713"/>
          <p14:tracePt t="8535" x="7056438" y="671513"/>
          <p14:tracePt t="8536" x="7064375" y="679450"/>
          <p14:tracePt t="8552" x="7181850" y="763588"/>
          <p14:tracePt t="8569" x="7342188" y="889000"/>
          <p14:tracePt t="8586" x="7518400" y="1031875"/>
          <p14:tracePt t="8586" x="7534275" y="1041400"/>
          <p14:tracePt t="8602" x="7727950" y="1208088"/>
          <p14:tracePt t="8619" x="7912100" y="1393825"/>
          <p14:tracePt t="8636" x="8054975" y="1544638"/>
          <p14:tracePt t="8636" x="8062913" y="1552575"/>
          <p14:tracePt t="8652" x="8164513" y="1695450"/>
          <p14:tracePt t="8669" x="8239125" y="1820863"/>
          <p14:tracePt t="8686" x="8315325" y="1981200"/>
          <p14:tracePt t="8686" x="8315325" y="1989138"/>
          <p14:tracePt t="8703" x="8374063" y="2173288"/>
          <p14:tracePt t="8703" x="8374063" y="2182813"/>
          <p14:tracePt t="8719" x="8415338" y="2366963"/>
          <p14:tracePt t="8719" x="8424863" y="2384425"/>
          <p14:tracePt t="8736" x="8450263" y="2527300"/>
          <p14:tracePt t="8736" x="8450263" y="2535238"/>
          <p14:tracePt t="8752" x="8466138" y="2668588"/>
          <p14:tracePt t="8769" x="8466138" y="2803525"/>
          <p14:tracePt t="8786" x="8466138" y="2913063"/>
          <p14:tracePt t="8786" x="8466138" y="2921000"/>
          <p14:tracePt t="8802" x="8440738" y="3030538"/>
          <p14:tracePt t="8819" x="8399463" y="3148013"/>
          <p14:tracePt t="8836" x="8340725" y="3240088"/>
          <p14:tracePt t="8836" x="8340725" y="3248025"/>
          <p14:tracePt t="8852" x="8264525" y="3349625"/>
          <p14:tracePt t="8869" x="8180388" y="3449638"/>
          <p14:tracePt t="8869" x="8172450" y="3449638"/>
          <p14:tracePt t="8886" x="8062913" y="3576638"/>
          <p14:tracePt t="8886" x="8047038" y="3584575"/>
          <p14:tracePt t="8902" x="7912100" y="3702050"/>
          <p14:tracePt t="8919" x="7745413" y="3819525"/>
          <p14:tracePt t="8936" x="7543800" y="3929063"/>
          <p14:tracePt t="8936" x="7534275" y="3937000"/>
          <p14:tracePt t="8953" x="7316788" y="4021138"/>
          <p14:tracePt t="8969" x="7140575" y="4071938"/>
          <p14:tracePt t="8969" x="7132638" y="4079875"/>
          <p14:tracePt t="8986" x="6964363" y="4105275"/>
          <p14:tracePt t="8986" x="6946900" y="4113213"/>
          <p14:tracePt t="9002" x="6780213" y="4130675"/>
          <p14:tracePt t="9019" x="6611938" y="4130675"/>
          <p14:tracePt t="9036" x="6435725" y="4105275"/>
          <p14:tracePt t="9036" x="6418263" y="4105275"/>
          <p14:tracePt t="9052" x="6234113" y="4062413"/>
          <p14:tracePt t="9069" x="6024563" y="4003675"/>
          <p14:tracePt t="9070" x="6016625" y="4003675"/>
          <p14:tracePt t="9086" x="5815013" y="3937000"/>
          <p14:tracePt t="9086" x="5807075" y="3937000"/>
          <p14:tracePt t="9102" x="5613400" y="3860800"/>
          <p14:tracePt t="9119" x="5429250" y="3786188"/>
          <p14:tracePt t="9119" x="5421313" y="3786188"/>
          <p14:tracePt t="9136" x="5227638" y="3694113"/>
          <p14:tracePt t="9136" x="5219700" y="3684588"/>
          <p14:tracePt t="9152" x="4992688" y="3567113"/>
          <p14:tracePt t="9169" x="4791075" y="3433763"/>
          <p14:tracePt t="9186" x="4589463" y="3298825"/>
          <p14:tracePt t="9186" x="4573588" y="3290888"/>
          <p14:tracePt t="9203" x="4422775" y="3155950"/>
          <p14:tracePt t="9203" x="4413250" y="3140075"/>
          <p14:tracePt t="9219" x="4279900" y="3013075"/>
          <p14:tracePt t="9220" x="4270375" y="2997200"/>
          <p14:tracePt t="9236" x="4129088" y="2846388"/>
          <p14:tracePt t="9236" x="4129088" y="2836863"/>
          <p14:tracePt t="9252" x="4011613" y="2693988"/>
          <p14:tracePt t="9269" x="3943350" y="2568575"/>
          <p14:tracePt t="9269" x="3935413" y="2560638"/>
          <p14:tracePt t="9286" x="3884613" y="2451100"/>
          <p14:tracePt t="9303" x="3851275" y="2351088"/>
          <p14:tracePt t="9319" x="3825875" y="2257425"/>
          <p14:tracePt t="9336" x="3825875" y="2190750"/>
          <p14:tracePt t="9352" x="3825875" y="2132013"/>
          <p14:tracePt t="9370" x="3859213" y="2065338"/>
          <p14:tracePt t="9370" x="3868738" y="2065338"/>
          <p14:tracePt t="9386" x="3927475" y="1963738"/>
          <p14:tracePt t="9386" x="3935413" y="1955800"/>
          <p14:tracePt t="9387" x="3935413" y="1947863"/>
          <p14:tracePt t="9402" x="4078288" y="1779588"/>
          <p14:tracePt t="9420" x="4246563" y="1577975"/>
          <p14:tracePt t="9420" x="4270375" y="1552575"/>
          <p14:tracePt t="9436" x="4413250" y="1393825"/>
          <p14:tracePt t="9437" x="4430713" y="1368425"/>
          <p14:tracePt t="9452" x="4573588" y="1200150"/>
          <p14:tracePt t="9469" x="4740275" y="1041400"/>
          <p14:tracePt t="9486" x="4908550" y="898525"/>
          <p14:tracePt t="9486" x="4916488" y="889000"/>
          <p14:tracePt t="9503" x="5051425" y="763588"/>
          <p14:tracePt t="9503" x="5059363" y="755650"/>
          <p14:tracePt t="9519" x="5160963" y="671513"/>
          <p14:tracePt t="9520" x="5168900" y="663575"/>
          <p14:tracePt t="9521" x="5176838" y="654050"/>
          <p14:tracePt t="9536" x="5253038" y="604838"/>
          <p14:tracePt t="9552" x="5311775" y="561975"/>
          <p14:tracePt t="9570" x="5362575" y="546100"/>
          <p14:tracePt t="9570" x="5362575" y="536575"/>
          <p14:tracePt t="9586" x="5429250" y="520700"/>
          <p14:tracePt t="9602" x="5495925" y="503238"/>
          <p14:tracePt t="9620" x="5588000" y="495300"/>
          <p14:tracePt t="9620" x="5597525" y="495300"/>
          <p14:tracePt t="9636" x="5705475" y="487363"/>
          <p14:tracePt t="9636" x="5715000" y="487363"/>
          <p14:tracePt t="9637" x="5722938" y="487363"/>
          <p14:tracePt t="9652" x="5856288" y="487363"/>
          <p14:tracePt t="9670" x="6049963" y="487363"/>
          <p14:tracePt t="9670" x="6057900" y="487363"/>
          <p14:tracePt t="9686" x="6234113" y="487363"/>
          <p14:tracePt t="9686" x="6242050" y="487363"/>
          <p14:tracePt t="9703" x="6418263" y="487363"/>
          <p14:tracePt t="9719" x="6619875" y="512763"/>
          <p14:tracePt t="9736" x="6788150" y="554038"/>
          <p14:tracePt t="9753" x="6964363" y="604838"/>
          <p14:tracePt t="9769" x="7123113" y="671513"/>
          <p14:tracePt t="9769" x="7140575" y="671513"/>
          <p14:tracePt t="9786" x="7291388" y="747713"/>
          <p14:tracePt t="9803" x="7442200" y="814388"/>
          <p14:tracePt t="9819" x="7559675" y="881063"/>
          <p14:tracePt t="9819" x="7569200" y="889000"/>
          <p14:tracePt t="9820" x="7577138" y="889000"/>
          <p14:tracePt t="9836" x="7677150" y="957263"/>
          <p14:tracePt t="9836" x="7686675" y="965200"/>
          <p14:tracePt t="9852" x="7794625" y="1041400"/>
          <p14:tracePt t="9869" x="7912100" y="1116013"/>
          <p14:tracePt t="9886" x="8021638" y="1192213"/>
          <p14:tracePt t="9902" x="8131175" y="1284288"/>
          <p14:tracePt t="9919" x="8231188" y="1376363"/>
          <p14:tracePt t="9919" x="8239125" y="1384300"/>
          <p14:tracePt t="9936" x="8315325" y="1468438"/>
          <p14:tracePt t="9953" x="8391525" y="1552575"/>
          <p14:tracePt t="9953" x="8391525" y="1562100"/>
          <p14:tracePt t="9969" x="8450263" y="1636713"/>
          <p14:tracePt t="9969" x="8458200" y="1644650"/>
          <p14:tracePt t="9986" x="8516938" y="1720850"/>
          <p14:tracePt t="10003" x="8567738" y="1797050"/>
          <p14:tracePt t="10019" x="8601075" y="1846263"/>
          <p14:tracePt t="10036" x="8616950" y="1871663"/>
          <p14:tracePt t="10036" x="8616950" y="1879600"/>
          <p14:tracePt t="10055" x="8634413" y="1897063"/>
          <p14:tracePt t="10069" x="8634413" y="1905000"/>
          <p14:tracePt t="10086" x="8634413" y="1914525"/>
          <p14:tracePt t="10102" x="8642350" y="1930400"/>
          <p14:tracePt t="10119" x="8650288" y="1938338"/>
          <p14:tracePt t="10119" x="8650288" y="1947863"/>
          <p14:tracePt t="10136" x="8659813" y="1963738"/>
          <p14:tracePt t="10136" x="8659813" y="1973263"/>
          <p14:tracePt t="10152" x="8667750" y="1997075"/>
          <p14:tracePt t="10169" x="8675688" y="2032000"/>
          <p14:tracePt t="10169" x="8685213" y="2032000"/>
          <p14:tracePt t="10170" x="8685213" y="2039938"/>
          <p14:tracePt t="10186" x="8709025" y="2098675"/>
          <p14:tracePt t="10186" x="8709025" y="2106613"/>
          <p14:tracePt t="10202" x="8759825" y="2216150"/>
          <p14:tracePt t="10219" x="8836025" y="2341563"/>
          <p14:tracePt t="10219" x="8843963" y="2359025"/>
          <p14:tracePt t="10236" x="8936038" y="2501900"/>
          <p14:tracePt t="10236" x="8936038" y="2509838"/>
          <p14:tracePt t="10252" x="9028113" y="2644775"/>
          <p14:tracePt t="10269" x="9129713" y="2752725"/>
          <p14:tracePt t="10269" x="9137650" y="2762250"/>
          <p14:tracePt t="10286" x="9221788" y="2862263"/>
          <p14:tracePt t="10286" x="9229725" y="2870200"/>
          <p14:tracePt t="10302" x="9331325" y="2954338"/>
          <p14:tracePt t="10319" x="9439275" y="3046413"/>
          <p14:tracePt t="10336" x="9531350" y="3105150"/>
          <p14:tracePt t="10336" x="9540875" y="3114675"/>
          <p14:tracePt t="10352" x="9607550" y="3155950"/>
          <p14:tracePt t="10369" x="9640888" y="3173413"/>
          <p14:tracePt t="10369" x="9640888" y="3181350"/>
          <p14:tracePt t="10386" x="9648825" y="3181350"/>
          <p14:tracePt t="10618" x="9658350" y="3181350"/>
          <p14:tracePt t="10621" x="9666288" y="3181350"/>
          <p14:tracePt t="10635" x="9717088" y="3214688"/>
          <p14:tracePt t="10636" x="9732963" y="3222625"/>
          <p14:tracePt t="10652" x="9859963" y="3281363"/>
          <p14:tracePt t="10669" x="10069513" y="3398838"/>
          <p14:tracePt t="10670" x="10077450" y="3408363"/>
          <p14:tracePt t="10686" x="10261600" y="3500438"/>
          <p14:tracePt t="10702" x="10471150" y="3617913"/>
          <p14:tracePt t="10719" x="10623550" y="3694113"/>
          <p14:tracePt t="10719" x="10631488" y="3702050"/>
          <p14:tracePt t="10735" x="10748963" y="3752850"/>
          <p14:tracePt t="10752" x="10858500" y="3802063"/>
          <p14:tracePt t="10753" x="10866438" y="3802063"/>
          <p14:tracePt t="10769" x="10917238" y="3827463"/>
          <p14:tracePt t="10769" x="10925175" y="3827463"/>
          <p14:tracePt t="10785" x="10941050" y="3835400"/>
          <p14:tracePt t="10802" x="10950575" y="3835400"/>
          <p14:tracePt t="11093" x="10958513" y="3835400"/>
          <p14:tracePt t="11101" x="10966450" y="3835400"/>
          <p14:tracePt t="11104" x="10975975" y="3835400"/>
          <p14:tracePt t="11119" x="10991850" y="3835400"/>
          <p14:tracePt t="11136" x="11034713" y="3827463"/>
          <p14:tracePt t="11136" x="11042650" y="3827463"/>
          <p14:tracePt t="11152" x="11117263" y="3819525"/>
          <p14:tracePt t="11169" x="11210925" y="3819525"/>
          <p14:tracePt t="11186" x="11310938" y="3819525"/>
          <p14:tracePt t="11186" x="11318875" y="3819525"/>
          <p14:tracePt t="11202" x="11403013" y="3827463"/>
          <p14:tracePt t="11219" x="11479213" y="3835400"/>
          <p14:tracePt t="11236" x="11512550" y="3835400"/>
          <p14:tracePt t="11255" x="11520488" y="3835400"/>
          <p14:tracePt t="11533" x="11520488" y="3827463"/>
          <p14:tracePt t="11552" x="11520488" y="3802063"/>
          <p14:tracePt t="11569" x="11504613" y="3768725"/>
          <p14:tracePt t="11586" x="11487150" y="3735388"/>
          <p14:tracePt t="11602" x="11469688" y="3702050"/>
          <p14:tracePt t="11619" x="11453813" y="3668713"/>
          <p14:tracePt t="11635" x="11436350" y="3643313"/>
          <p14:tracePt t="11652" x="11428413" y="3609975"/>
          <p14:tracePt t="11669" x="11420475" y="3592513"/>
          <p14:tracePt t="11685" x="11403013" y="3576638"/>
          <p14:tracePt t="11702" x="11377613" y="3551238"/>
          <p14:tracePt t="11719" x="11352213" y="3517900"/>
          <p14:tracePt t="11719" x="11352213" y="3508375"/>
          <p14:tracePt t="11735" x="11303000" y="3467100"/>
          <p14:tracePt t="11752" x="11234738" y="3424238"/>
          <p14:tracePt t="11769" x="11185525" y="3390900"/>
          <p14:tracePt t="11769" x="11176000" y="3390900"/>
          <p14:tracePt t="11786" x="11117263" y="3349625"/>
          <p14:tracePt t="11802" x="11050588" y="3324225"/>
          <p14:tracePt t="11819" x="10966450" y="3290888"/>
          <p14:tracePt t="11819" x="10958513" y="3290888"/>
          <p14:tracePt t="11836" x="10841038" y="3257550"/>
          <p14:tracePt t="11852" x="10690225" y="3206750"/>
          <p14:tracePt t="11869" x="10529888" y="3173413"/>
          <p14:tracePt t="11869" x="10514013" y="3173413"/>
          <p14:tracePt t="11886" x="10337800" y="3140075"/>
          <p14:tracePt t="11902" x="10136188" y="3105150"/>
          <p14:tracePt t="11919" x="9967913" y="3081338"/>
          <p14:tracePt t="11919" x="9952038" y="3081338"/>
          <p14:tracePt t="11936" x="9825038" y="3063875"/>
          <p14:tracePt t="11936" x="9817100" y="3063875"/>
          <p14:tracePt t="11952" x="9691688" y="3055938"/>
          <p14:tracePt t="11969" x="9590088" y="3046413"/>
          <p14:tracePt t="11985" x="9498013" y="3046413"/>
          <p14:tracePt t="12002" x="9413875" y="3046413"/>
          <p14:tracePt t="12019" x="9331325" y="3046413"/>
          <p14:tracePt t="12035" x="9237663" y="3046413"/>
          <p14:tracePt t="12052" x="9145588" y="3055938"/>
          <p14:tracePt t="12069" x="9037638" y="3055938"/>
          <p14:tracePt t="12069" x="9028113" y="3055938"/>
          <p14:tracePt t="12086" x="8910638" y="3063875"/>
          <p14:tracePt t="12102" x="8785225" y="3081338"/>
          <p14:tracePt t="12119" x="8693150" y="3089275"/>
          <p14:tracePt t="12119" x="8685213" y="3097213"/>
          <p14:tracePt t="12136" x="8634413" y="3097213"/>
          <p14:tracePt t="12152" x="8616950" y="3097213"/>
          <p14:tracePt t="12271" x="8616950" y="3105150"/>
          <p14:tracePt t="12273" x="8609013" y="3105150"/>
          <p14:tracePt t="12285" x="8601075" y="3105150"/>
          <p14:tracePt t="12302" x="8558213" y="3114675"/>
          <p14:tracePt t="12319" x="8491538" y="3140075"/>
          <p14:tracePt t="12319" x="8483600" y="3140075"/>
          <p14:tracePt t="12320" x="8474075" y="3140075"/>
          <p14:tracePt t="12335" x="8366125" y="3181350"/>
          <p14:tracePt t="12336" x="8356600" y="3189288"/>
          <p14:tracePt t="12352" x="8180388" y="3257550"/>
          <p14:tracePt t="12369" x="8013700" y="3349625"/>
          <p14:tracePt t="12369" x="8004175" y="3357563"/>
          <p14:tracePt t="12386" x="7870825" y="3441700"/>
          <p14:tracePt t="12402" x="7778750" y="3508375"/>
          <p14:tracePt t="12419" x="7710488" y="3567113"/>
          <p14:tracePt t="12419" x="7702550" y="3576638"/>
          <p14:tracePt t="12436" x="7635875" y="3668713"/>
          <p14:tracePt t="12452" x="7534275" y="3827463"/>
          <p14:tracePt t="12469" x="7434263" y="4029075"/>
          <p14:tracePt t="12469" x="7426325" y="4037013"/>
          <p14:tracePt t="12485" x="7334250" y="4248150"/>
          <p14:tracePt t="12502" x="7258050" y="4457700"/>
          <p14:tracePt t="12519" x="7224713" y="4591050"/>
          <p14:tracePt t="12519" x="7224713" y="4608513"/>
          <p14:tracePt t="12535" x="7207250" y="4733925"/>
          <p14:tracePt t="12552" x="7199313" y="4884738"/>
          <p14:tracePt t="12569" x="7199313" y="5060950"/>
          <p14:tracePt t="12569" x="7199313" y="5070475"/>
          <p14:tracePt t="12591" x="7224713" y="5338763"/>
          <p14:tracePt t="12591" x="7224713" y="5346700"/>
          <p14:tracePt t="12602" x="7258050" y="5481638"/>
          <p14:tracePt t="12619" x="7316788" y="5665788"/>
          <p14:tracePt t="12636" x="7375525" y="5791200"/>
          <p14:tracePt t="12636" x="7375525" y="5800725"/>
          <p14:tracePt t="12652" x="7467600" y="5951538"/>
          <p14:tracePt t="12669" x="7610475" y="6119813"/>
          <p14:tracePt t="12669" x="7618413" y="6135688"/>
          <p14:tracePt t="12685" x="7794625" y="6321425"/>
          <p14:tracePt t="12702" x="7996238" y="6521450"/>
          <p14:tracePt t="12719" x="8156575" y="6673850"/>
          <p14:tracePt t="12719" x="8172450" y="6681788"/>
          <p14:tracePt t="12736" x="8348663" y="6807200"/>
          <p14:tracePt t="12736" x="8356600" y="6824663"/>
          <p14:tracePt t="13069" x="10656888" y="6824663"/>
          <p14:tracePt t="13086" x="10698163" y="6740525"/>
          <p14:tracePt t="13086" x="10706100" y="6732588"/>
          <p14:tracePt t="13102" x="10741025" y="6664325"/>
          <p14:tracePt t="13103" x="10741025" y="6656388"/>
          <p14:tracePt t="13119" x="10774363" y="6597650"/>
          <p14:tracePt t="13119" x="10774363" y="6589713"/>
          <p14:tracePt t="13135" x="10799763" y="6521450"/>
          <p14:tracePt t="13152" x="10815638" y="6446838"/>
          <p14:tracePt t="13169" x="10823575" y="6380163"/>
          <p14:tracePt t="13169" x="10823575" y="6370638"/>
          <p14:tracePt t="13186" x="10833100" y="6311900"/>
          <p14:tracePt t="13202" x="10833100" y="6270625"/>
          <p14:tracePt t="13219" x="10841038" y="6237288"/>
          <p14:tracePt t="13219" x="10841038" y="6227763"/>
          <p14:tracePt t="13235" x="10848975" y="6194425"/>
          <p14:tracePt t="13252" x="10858500" y="6145213"/>
          <p14:tracePt t="13269" x="10858500" y="6094413"/>
          <p14:tracePt t="13286" x="10858500" y="6043613"/>
          <p14:tracePt t="13302" x="10858500" y="6027738"/>
          <p14:tracePt t="13319" x="10858500" y="6010275"/>
          <p14:tracePt t="13335" x="10858500" y="6002338"/>
          <p14:tracePt t="13428" x="10866438" y="6002338"/>
          <p14:tracePt t="13440" x="10866438" y="5992813"/>
          <p14:tracePt t="13452" x="10874375" y="5992813"/>
          <p14:tracePt t="13469" x="10891838" y="5984875"/>
          <p14:tracePt t="13469" x="10899775" y="5984875"/>
          <p14:tracePt t="13485" x="10933113" y="5976938"/>
          <p14:tracePt t="13502" x="11009313" y="5969000"/>
          <p14:tracePt t="13519" x="11109325" y="5969000"/>
          <p14:tracePt t="13519" x="11117263" y="5969000"/>
          <p14:tracePt t="13535" x="11218863" y="5969000"/>
          <p14:tracePt t="13552" x="11293475" y="5969000"/>
          <p14:tracePt t="13569" x="11352213" y="5969000"/>
          <p14:tracePt t="13585" x="11377613" y="5969000"/>
          <p14:tracePt t="13684" x="11387138" y="5969000"/>
          <p14:tracePt t="13699" x="11395075" y="5969000"/>
          <p14:tracePt t="13719" x="11395075" y="5959475"/>
          <p14:tracePt t="13814" x="11387138" y="5959475"/>
          <p14:tracePt t="13822" x="11377613" y="5959475"/>
          <p14:tracePt t="13825" x="11369675" y="5959475"/>
          <p14:tracePt t="13835" x="11352213" y="5943600"/>
          <p14:tracePt t="13852" x="11328400" y="5943600"/>
          <p14:tracePt t="13869" x="11293475" y="5934075"/>
          <p14:tracePt t="13885" x="11277600" y="5926138"/>
          <p14:tracePt t="13902" x="11269663" y="5926138"/>
          <p14:tracePt t="13919" x="11260138" y="5926138"/>
          <p14:tracePt t="13919" x="11252200" y="5926138"/>
          <p14:tracePt t="13935" x="11244263" y="5926138"/>
          <p14:tracePt t="13952" x="11234738" y="5926138"/>
          <p14:tracePt t="13969" x="11226800" y="5926138"/>
          <p14:tracePt t="13985" x="11210925" y="5926138"/>
          <p14:tracePt t="14002" x="11193463" y="5926138"/>
          <p14:tracePt t="14019" x="11176000" y="5918200"/>
          <p14:tracePt t="14035" x="11160125" y="5918200"/>
          <p14:tracePt t="14052" x="11142663" y="5908675"/>
          <p14:tracePt t="14069" x="11126788" y="5908675"/>
          <p14:tracePt t="14085" x="11101388" y="5908675"/>
          <p14:tracePt t="14102" x="11075988" y="5900738"/>
          <p14:tracePt t="14119" x="11068050" y="5900738"/>
          <p14:tracePt t="14136" x="11058525" y="5900738"/>
          <p14:tracePt t="14152" x="11050588" y="5900738"/>
          <p14:tracePt t="14169" x="11034713" y="5900738"/>
          <p14:tracePt t="14169" x="11025188" y="5900738"/>
          <p14:tracePt t="14185" x="11017250" y="5900738"/>
          <p14:tracePt t="14202" x="11009313" y="5892800"/>
          <p14:tracePt t="14332" x="11017250" y="5892800"/>
          <p14:tracePt t="14338" x="11025188" y="5892800"/>
          <p14:tracePt t="14352" x="11050588" y="5892800"/>
          <p14:tracePt t="14369" x="11075988" y="5892800"/>
          <p14:tracePt t="14369" x="11083925" y="5892800"/>
          <p14:tracePt t="14385" x="11109325" y="5892800"/>
          <p14:tracePt t="14402" x="11134725" y="5892800"/>
          <p14:tracePt t="14419" x="11152188" y="5892800"/>
          <p14:tracePt t="14436" x="11168063" y="5892800"/>
          <p14:tracePt t="14452" x="11176000" y="5892800"/>
          <p14:tracePt t="14469" x="11185525" y="5892800"/>
          <p14:tracePt t="14485" x="11193463" y="5892800"/>
          <p14:tracePt t="14502" x="11201400" y="5892800"/>
          <p14:tracePt t="14519" x="11210925" y="5892800"/>
          <p14:tracePt t="14535" x="11226800" y="5892800"/>
          <p14:tracePt t="14552" x="11234738" y="5892800"/>
          <p14:tracePt t="14569" x="11244263" y="5892800"/>
          <p14:tracePt t="14585" x="11260138" y="5892800"/>
          <p14:tracePt t="14602" x="11285538" y="5892800"/>
          <p14:tracePt t="14619" x="11303000" y="5892800"/>
          <p14:tracePt t="14635" x="11318875" y="5892800"/>
          <p14:tracePt t="14652" x="11344275" y="5892800"/>
          <p14:tracePt t="14669" x="11361738" y="5892800"/>
          <p14:tracePt t="14686" x="11387138" y="5892800"/>
          <p14:tracePt t="14702" x="11403013" y="5892800"/>
          <p14:tracePt t="14719" x="11428413" y="5892800"/>
          <p14:tracePt t="14735" x="11453813" y="5892800"/>
          <p14:tracePt t="14752" x="11479213" y="5892800"/>
          <p14:tracePt t="14769" x="11504613" y="5892800"/>
          <p14:tracePt t="14785" x="11528425" y="5892800"/>
          <p14:tracePt t="14803" x="11553825" y="5892800"/>
          <p14:tracePt t="14819" x="11563350" y="5892800"/>
          <p14:tracePt t="14835" x="11571288" y="5892800"/>
          <p14:tracePt t="15048" x="11563350" y="5892800"/>
          <p14:tracePt t="15055" x="11553825" y="5892800"/>
          <p14:tracePt t="15069" x="11537950" y="5892800"/>
          <p14:tracePt t="15085" x="11512550" y="5892800"/>
          <p14:tracePt t="15102" x="11479213" y="5892800"/>
          <p14:tracePt t="15119" x="11453813" y="5884863"/>
          <p14:tracePt t="15135" x="11428413" y="5884863"/>
          <p14:tracePt t="15152" x="11403013" y="5884863"/>
          <p14:tracePt t="15169" x="11395075" y="5884863"/>
          <p14:tracePt t="15186" x="11387138" y="5884863"/>
          <p14:tracePt t="15202" x="11369675" y="5884863"/>
          <p14:tracePt t="15235" x="11361738" y="5884863"/>
          <p14:tracePt t="15269" x="11352213" y="5884863"/>
          <p14:tracePt t="15285" x="11344275" y="5884863"/>
          <p14:tracePt t="15302" x="11336338" y="5884863"/>
          <p14:tracePt t="15440" x="11328400" y="5884863"/>
          <p14:tracePt t="15512" x="11318875" y="5884863"/>
          <p14:tracePt t="16116" x="11328400" y="5884863"/>
          <p14:tracePt t="16169" x="11336338" y="5884863"/>
          <p14:tracePt t="16191" x="11344275" y="5884863"/>
          <p14:tracePt t="16272" x="11352213" y="5884863"/>
          <p14:tracePt t="16315" x="11361738" y="5884863"/>
          <p14:tracePt t="16374" x="11369675" y="5884863"/>
          <p14:tracePt t="16407" x="11377613" y="5884863"/>
          <p14:tracePt t="16592" x="11387138" y="5884863"/>
          <p14:tracePt t="18486" x="11387138" y="5892800"/>
          <p14:tracePt t="18502" x="11395075" y="5892800"/>
          <p14:tracePt t="18518" x="11403013" y="5900738"/>
          <p14:tracePt t="18535" x="11410950" y="5900738"/>
          <p14:tracePt t="19570" x="11410950" y="5908675"/>
          <p14:tracePt t="19576" x="11410950" y="5918200"/>
          <p14:tracePt t="19585" x="11420475" y="5926138"/>
          <p14:tracePt t="19602" x="11436350" y="5951538"/>
          <p14:tracePt t="19618" x="11453813" y="5969000"/>
          <p14:tracePt t="19635" x="11469688" y="5992813"/>
          <p14:tracePt t="19652" x="11469688" y="6002338"/>
          <p14:tracePt t="20002" x="11469688" y="5992813"/>
          <p14:tracePt t="20018" x="11469688" y="5943600"/>
          <p14:tracePt t="20035" x="11461750" y="5875338"/>
          <p14:tracePt t="20052" x="11436350" y="5800725"/>
          <p14:tracePt t="20069" x="11420475" y="5724525"/>
          <p14:tracePt t="20085" x="11395075" y="5665788"/>
          <p14:tracePt t="20102" x="11387138" y="5632450"/>
          <p14:tracePt t="20102" x="11387138" y="5624513"/>
          <p14:tracePt t="20118" x="11369675" y="5599113"/>
          <p14:tracePt t="20135" x="11369675" y="5581650"/>
          <p14:tracePt t="20152" x="11361738" y="5573713"/>
          <p14:tracePt t="20168" x="11352213" y="5565775"/>
          <p14:tracePt t="20185" x="11352213" y="5556250"/>
          <p14:tracePt t="20203" x="11352213" y="5548313"/>
          <p14:tracePt t="20219" x="11344275" y="5548313"/>
          <p14:tracePt t="20257" x="11344275" y="5540375"/>
          <p14:tracePt t="20621" x="11344275" y="5532438"/>
          <p14:tracePt t="20624" x="11344275" y="5522913"/>
          <p14:tracePt t="20635" x="11344275" y="5481638"/>
          <p14:tracePt t="20652" x="11344275" y="5338763"/>
          <p14:tracePt t="20652" x="11344275" y="5330825"/>
          <p14:tracePt t="20668" x="11328400" y="5103813"/>
          <p14:tracePt t="20685" x="11260138" y="4776788"/>
          <p14:tracePt t="20702" x="11134725" y="4356100"/>
          <p14:tracePt t="20702" x="11117263" y="4322763"/>
          <p14:tracePt t="20719" x="10933113" y="3768725"/>
          <p14:tracePt t="20735" x="10682288" y="3122613"/>
          <p14:tracePt t="20736" x="10664825" y="3081338"/>
          <p14:tracePt t="20752" x="10412413" y="2576513"/>
          <p14:tracePt t="20752" x="10396538" y="2543175"/>
          <p14:tracePt t="20769" x="10136188" y="2098675"/>
          <p14:tracePt t="20770" x="10110788" y="2065338"/>
          <p14:tracePt t="20771" x="10110788" y="2055813"/>
          <p14:tracePt t="20785" x="9859963" y="1703388"/>
          <p14:tracePt t="20802" x="9615488" y="1452563"/>
          <p14:tracePt t="20802" x="9599613" y="1435100"/>
          <p14:tracePt t="20818" x="9398000" y="1258888"/>
          <p14:tracePt t="20819" x="9390063" y="1250950"/>
          <p14:tracePt t="20835" x="9188450" y="1108075"/>
          <p14:tracePt t="20852" x="8953500" y="973138"/>
          <p14:tracePt t="20852" x="8936038" y="965200"/>
          <p14:tracePt t="20868" x="8650288" y="839788"/>
          <p14:tracePt t="20885" x="8315325" y="712788"/>
          <p14:tracePt t="20902" x="8047038" y="620713"/>
          <p14:tracePt t="20902" x="8029575" y="620713"/>
          <p14:tracePt t="20918" x="7820025" y="546100"/>
          <p14:tracePt t="20935" x="7651750" y="461963"/>
          <p14:tracePt t="20936" x="7643813" y="454025"/>
          <p14:tracePt t="20952" x="7577138" y="403225"/>
          <p14:tracePt t="20952" x="7569200" y="403225"/>
          <p14:tracePt t="20968" x="7526338" y="360363"/>
          <p14:tracePt t="20985" x="7500938" y="336550"/>
          <p14:tracePt t="21002" x="7493000" y="311150"/>
          <p14:tracePt t="21018" x="7485063" y="301625"/>
          <p14:tracePt t="21035" x="7485063" y="293688"/>
          <p14:tracePt t="21052" x="7500938" y="252413"/>
          <p14:tracePt t="21068" x="7534275" y="168275"/>
          <p14:tracePt t="21069" x="7543800" y="158750"/>
          <p14:tracePt t="21085" x="7585075" y="50800"/>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C2AC11E-3162-4990-A36E-92B07ECF16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9073D962-D3D2-4A72-8593-65C213CBFF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4" y="633619"/>
            <a:ext cx="4520912"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667DFA-0969-C662-5232-56118A2D2051}"/>
              </a:ext>
            </a:extLst>
          </p:cNvPr>
          <p:cNvSpPr>
            <a:spLocks noGrp="1"/>
          </p:cNvSpPr>
          <p:nvPr>
            <p:ph type="title"/>
          </p:nvPr>
        </p:nvSpPr>
        <p:spPr>
          <a:xfrm>
            <a:off x="838200" y="978407"/>
            <a:ext cx="3721608" cy="2823803"/>
          </a:xfrm>
        </p:spPr>
        <p:txBody>
          <a:bodyPr>
            <a:normAutofit/>
          </a:bodyPr>
          <a:lstStyle/>
          <a:p>
            <a:r>
              <a:rPr lang="en-US" sz="4000" b="1" dirty="0">
                <a:latin typeface="Tenorite Display" panose="00000500000000000000" pitchFamily="2" charset="0"/>
              </a:rPr>
              <a:t>Results: </a:t>
            </a:r>
            <a:br>
              <a:rPr lang="en-US" sz="4000" b="1" dirty="0">
                <a:latin typeface="Tenorite Display" panose="00000500000000000000" pitchFamily="2" charset="0"/>
              </a:rPr>
            </a:br>
            <a:r>
              <a:rPr lang="en-US" sz="4000" b="1" dirty="0">
                <a:latin typeface="Tenorite Display" panose="00000500000000000000" pitchFamily="2" charset="0"/>
              </a:rPr>
              <a:t>Combined </a:t>
            </a:r>
            <a:br>
              <a:rPr lang="en-US" sz="4000" b="1" dirty="0">
                <a:latin typeface="Tenorite Display" panose="00000500000000000000" pitchFamily="2" charset="0"/>
              </a:rPr>
            </a:br>
            <a:r>
              <a:rPr lang="en-US" sz="4000" b="1" dirty="0">
                <a:latin typeface="Tenorite Display" panose="00000500000000000000" pitchFamily="2" charset="0"/>
              </a:rPr>
              <a:t>Post SMOTE</a:t>
            </a:r>
          </a:p>
        </p:txBody>
      </p:sp>
      <p:sp>
        <p:nvSpPr>
          <p:cNvPr id="25" name="Rectangle 24">
            <a:extLst>
              <a:ext uri="{FF2B5EF4-FFF2-40B4-BE49-F238E27FC236}">
                <a16:creationId xmlns:a16="http://schemas.microsoft.com/office/drawing/2014/main" id="{2387511B-F6E1-4929-AC90-94FB8B6B0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AA58F78C-27AB-465F-AA33-15E08AF267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6" y="2185416"/>
            <a:ext cx="3683187"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descr="A chart with different colored squares&#10;&#10;AI-generated content may be incorrect.">
            <a:extLst>
              <a:ext uri="{FF2B5EF4-FFF2-40B4-BE49-F238E27FC236}">
                <a16:creationId xmlns:a16="http://schemas.microsoft.com/office/drawing/2014/main" id="{84E406C2-4A22-543D-A300-03FAB57D1F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850" y="587041"/>
            <a:ext cx="3701379" cy="2794540"/>
          </a:xfrm>
          <a:prstGeom prst="rect">
            <a:avLst/>
          </a:prstGeom>
        </p:spPr>
      </p:pic>
      <p:pic>
        <p:nvPicPr>
          <p:cNvPr id="4" name="Content Placeholder 3" descr="A graph with a line&#10;&#10;AI-generated content may be incorrect.">
            <a:extLst>
              <a:ext uri="{FF2B5EF4-FFF2-40B4-BE49-F238E27FC236}">
                <a16:creationId xmlns:a16="http://schemas.microsoft.com/office/drawing/2014/main" id="{40A0075C-BBB3-834B-FE65-C5A0B9C5AE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9308" y="3552195"/>
            <a:ext cx="3891666" cy="2714436"/>
          </a:xfrm>
          <a:prstGeom prst="rect">
            <a:avLst/>
          </a:prstGeom>
        </p:spPr>
      </p:pic>
      <p:pic>
        <p:nvPicPr>
          <p:cNvPr id="3" name="Picture 2" descr="A graph with a line&#10;&#10;AI-generated content may be incorrect.">
            <a:extLst>
              <a:ext uri="{FF2B5EF4-FFF2-40B4-BE49-F238E27FC236}">
                <a16:creationId xmlns:a16="http://schemas.microsoft.com/office/drawing/2014/main" id="{16F409FA-EC68-87B6-7031-397DFE500F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2850" y="3552194"/>
            <a:ext cx="3701378" cy="2721523"/>
          </a:xfrm>
          <a:prstGeom prst="rect">
            <a:avLst/>
          </a:prstGeom>
        </p:spPr>
      </p:pic>
      <p:pic>
        <p:nvPicPr>
          <p:cNvPr id="14" name="Picture 13" descr="A graph of a graph with text&#10;&#10;AI-generated content may be incorrect.">
            <a:extLst>
              <a:ext uri="{FF2B5EF4-FFF2-40B4-BE49-F238E27FC236}">
                <a16:creationId xmlns:a16="http://schemas.microsoft.com/office/drawing/2014/main" id="{753FA082-AAD9-0F92-D7C9-709820B1C4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49308" y="587041"/>
            <a:ext cx="3882051" cy="2794540"/>
          </a:xfrm>
          <a:prstGeom prst="rect">
            <a:avLst/>
          </a:prstGeom>
        </p:spPr>
      </p:pic>
    </p:spTree>
    <p:extLst>
      <p:ext uri="{BB962C8B-B14F-4D97-AF65-F5344CB8AC3E}">
        <p14:creationId xmlns:p14="http://schemas.microsoft.com/office/powerpoint/2010/main" val="3673676713"/>
      </p:ext>
    </p:extLst>
  </p:cSld>
  <p:clrMapOvr>
    <a:masterClrMapping/>
  </p:clrMapOvr>
  <mc:AlternateContent xmlns:mc="http://schemas.openxmlformats.org/markup-compatibility/2006" xmlns:p14="http://schemas.microsoft.com/office/powerpoint/2010/main">
    <mc:Choice Requires="p14">
      <p:transition spd="slow" p14:dur="2000" advTm="17495"/>
    </mc:Choice>
    <mc:Fallback xmlns="">
      <p:transition spd="slow" advTm="17495"/>
    </mc:Fallback>
  </mc:AlternateContent>
  <p:extLst>
    <p:ext uri="{3A86A75C-4F4B-4683-9AE1-C65F6400EC91}">
      <p14:laserTraceLst xmlns:p14="http://schemas.microsoft.com/office/powerpoint/2010/main">
        <p14:tracePtLst>
          <p14:tracePt t="8828" x="4464050" y="6824663"/>
          <p14:tracePt t="8829" x="4464050" y="6807200"/>
          <p14:tracePt t="8830" x="4464050" y="6799263"/>
          <p14:tracePt t="8831" x="4464050" y="6781800"/>
          <p14:tracePt t="8833" x="4464050" y="6748463"/>
          <p14:tracePt t="8849" x="4405313" y="6429375"/>
          <p14:tracePt t="8850" x="4405313" y="6421438"/>
          <p14:tracePt t="8865" x="4295775" y="6102350"/>
          <p14:tracePt t="8866" x="4287838" y="6076950"/>
          <p14:tracePt t="8882" x="4137025" y="5708650"/>
          <p14:tracePt t="8883" x="4119563" y="5691188"/>
          <p14:tracePt t="8899" x="3943350" y="5372100"/>
          <p14:tracePt t="8915" x="3767138" y="5095875"/>
          <p14:tracePt t="8916" x="3751263" y="5078413"/>
          <p14:tracePt t="8932" x="3590925" y="4843463"/>
          <p14:tracePt t="8949" x="3457575" y="4667250"/>
          <p14:tracePt t="8966" x="3355975" y="4549775"/>
          <p14:tracePt t="8982" x="3306763" y="4483100"/>
          <p14:tracePt t="8983" x="3297238" y="4483100"/>
          <p14:tracePt t="8999" x="3263900" y="4424363"/>
          <p14:tracePt t="9016" x="3222625" y="4373563"/>
          <p14:tracePt t="9032" x="3163888" y="4314825"/>
          <p14:tracePt t="9049" x="3079750" y="4238625"/>
          <p14:tracePt t="9050" x="3079750" y="4230688"/>
          <p14:tracePt t="9065" x="2978150" y="4138613"/>
          <p14:tracePt t="9066" x="2970213" y="4138613"/>
          <p14:tracePt t="9082" x="2878138" y="4054475"/>
          <p14:tracePt t="9083" x="2870200" y="4046538"/>
          <p14:tracePt t="9099" x="2760663" y="3944938"/>
          <p14:tracePt t="9115" x="2660650" y="3844925"/>
          <p14:tracePt t="9116" x="2651125" y="3835400"/>
          <p14:tracePt t="9132" x="2559050" y="3743325"/>
          <p14:tracePt t="9149" x="2492375" y="3659188"/>
          <p14:tracePt t="9166" x="2425700" y="3592513"/>
          <p14:tracePt t="9182" x="2374900" y="3517900"/>
          <p14:tracePt t="9183" x="2366963" y="3517900"/>
          <p14:tracePt t="9199" x="2316163" y="3449638"/>
          <p14:tracePt t="9215" x="2308225" y="3382963"/>
          <p14:tracePt t="9232" x="2316163" y="3273425"/>
          <p14:tracePt t="9233" x="2324100" y="3257550"/>
          <p14:tracePt t="9249" x="2400300" y="3055938"/>
          <p14:tracePt t="9265" x="2508250" y="2786063"/>
          <p14:tracePt t="9266" x="2525713" y="2752725"/>
          <p14:tracePt t="9282" x="2676525" y="2425700"/>
          <p14:tracePt t="9283" x="2693988" y="2400300"/>
          <p14:tracePt t="9299" x="2903538" y="2032000"/>
          <p14:tracePt t="9315" x="3105150" y="1712913"/>
          <p14:tracePt t="9316" x="3121025" y="1687513"/>
          <p14:tracePt t="9332" x="3365500" y="1393825"/>
          <p14:tracePt t="9333" x="3373438" y="1384300"/>
          <p14:tracePt t="9349" x="3616325" y="1125538"/>
          <p14:tracePt t="9349" x="3633788" y="1116013"/>
          <p14:tracePt t="9365" x="3825875" y="949325"/>
          <p14:tracePt t="9366" x="3843338" y="931863"/>
          <p14:tracePt t="9382" x="4027488" y="806450"/>
          <p14:tracePt t="9399" x="4195763" y="704850"/>
          <p14:tracePt t="9415" x="4346575" y="638175"/>
          <p14:tracePt t="9416" x="4364038" y="630238"/>
          <p14:tracePt t="9432" x="4505325" y="579438"/>
          <p14:tracePt t="9449" x="4699000" y="528638"/>
          <p14:tracePt t="9465" x="4892675" y="487363"/>
          <p14:tracePt t="9466" x="4900613" y="477838"/>
          <p14:tracePt t="9482" x="5092700" y="454025"/>
          <p14:tracePt t="9499" x="5345113" y="411163"/>
          <p14:tracePt t="9515" x="5562600" y="377825"/>
          <p14:tracePt t="9516" x="5588000" y="377825"/>
          <p14:tracePt t="9532" x="5848350" y="352425"/>
          <p14:tracePt t="9549" x="6067425" y="336550"/>
          <p14:tracePt t="9565" x="6284913" y="319088"/>
          <p14:tracePt t="9566" x="6292850" y="319088"/>
          <p14:tracePt t="9582" x="6486525" y="311150"/>
          <p14:tracePt t="9599" x="6729413" y="327025"/>
          <p14:tracePt t="9615" x="6964363" y="377825"/>
          <p14:tracePt t="9616" x="6972300" y="377825"/>
          <p14:tracePt t="9632" x="7173913" y="436563"/>
          <p14:tracePt t="9649" x="7342188" y="512763"/>
          <p14:tracePt t="9665" x="7459663" y="579438"/>
          <p14:tracePt t="9666" x="7467600" y="579438"/>
          <p14:tracePt t="9682" x="7559675" y="646113"/>
          <p14:tracePt t="9699" x="7651750" y="730250"/>
          <p14:tracePt t="9715" x="7753350" y="822325"/>
          <p14:tracePt t="9716" x="7761288" y="830263"/>
          <p14:tracePt t="9732" x="7853363" y="931863"/>
          <p14:tracePt t="9749" x="7929563" y="1023938"/>
          <p14:tracePt t="9765" x="7980363" y="1116013"/>
          <p14:tracePt t="9766" x="7988300" y="1125538"/>
          <p14:tracePt t="9782" x="8021638" y="1208088"/>
          <p14:tracePt t="9799" x="8054975" y="1292225"/>
          <p14:tracePt t="9815" x="8072438" y="1376363"/>
          <p14:tracePt t="9816" x="8080375" y="1376363"/>
          <p14:tracePt t="9832" x="8088313" y="1460500"/>
          <p14:tracePt t="9849" x="8113713" y="1544638"/>
          <p14:tracePt t="9865" x="8121650" y="1636713"/>
          <p14:tracePt t="9882" x="8121650" y="1720850"/>
          <p14:tracePt t="9899" x="8121650" y="1797050"/>
          <p14:tracePt t="9915" x="8121650" y="1846263"/>
          <p14:tracePt t="9916" x="8121650" y="1855788"/>
          <p14:tracePt t="9932" x="8121650" y="1905000"/>
          <p14:tracePt t="9949" x="8113713" y="1955800"/>
          <p14:tracePt t="9965" x="8105775" y="1997075"/>
          <p14:tracePt t="9982" x="8105775" y="2032000"/>
          <p14:tracePt t="9999" x="8097838" y="2055813"/>
          <p14:tracePt t="10015" x="8088313" y="2081213"/>
          <p14:tracePt t="10032" x="8080375" y="2114550"/>
          <p14:tracePt t="10033" x="8080375" y="2124075"/>
          <p14:tracePt t="10049" x="8072438" y="2173288"/>
          <p14:tracePt t="10065" x="8062913" y="2233613"/>
          <p14:tracePt t="10066" x="8054975" y="2233613"/>
          <p14:tracePt t="10082" x="8039100" y="2300288"/>
          <p14:tracePt t="10099" x="8021638" y="2359025"/>
          <p14:tracePt t="10115" x="7996238" y="2417763"/>
          <p14:tracePt t="10116" x="7996238" y="2425700"/>
          <p14:tracePt t="10132" x="7970838" y="2492375"/>
          <p14:tracePt t="10149" x="7937500" y="2568575"/>
          <p14:tracePt t="10165" x="7904163" y="2644775"/>
          <p14:tracePt t="10182" x="7870825" y="2711450"/>
          <p14:tracePt t="10199" x="7827963" y="2786063"/>
          <p14:tracePt t="10215" x="7786688" y="2854325"/>
          <p14:tracePt t="10216" x="7778750" y="2862263"/>
          <p14:tracePt t="10232" x="7720013" y="2938463"/>
          <p14:tracePt t="10249" x="7651750" y="3022600"/>
          <p14:tracePt t="10265" x="7577138" y="3081338"/>
          <p14:tracePt t="10266" x="7569200" y="3089275"/>
          <p14:tracePt t="10282" x="7500938" y="3148013"/>
          <p14:tracePt t="10298" x="7400925" y="3206750"/>
          <p14:tracePt t="10299" x="7392988" y="3206750"/>
          <p14:tracePt t="10315" x="7250113" y="3290888"/>
          <p14:tracePt t="10316" x="7240588" y="3298825"/>
          <p14:tracePt t="10332" x="7056438" y="3390900"/>
          <p14:tracePt t="10349" x="6805613" y="3492500"/>
          <p14:tracePt t="10365" x="6561138" y="3584575"/>
          <p14:tracePt t="10366" x="6535738" y="3584575"/>
          <p14:tracePt t="10382" x="6284913" y="3668713"/>
          <p14:tracePt t="10399" x="6016625" y="3735388"/>
          <p14:tracePt t="10415" x="5807075" y="3776663"/>
          <p14:tracePt t="10416" x="5789613" y="3776663"/>
          <p14:tracePt t="10432" x="5605463" y="3802063"/>
          <p14:tracePt t="10449" x="5403850" y="3835400"/>
          <p14:tracePt t="10450" x="5395913" y="3835400"/>
          <p14:tracePt t="10465" x="5235575" y="3844925"/>
          <p14:tracePt t="10482" x="5076825" y="3844925"/>
          <p14:tracePt t="10499" x="4900613" y="3835400"/>
          <p14:tracePt t="10515" x="4691063" y="3794125"/>
          <p14:tracePt t="10516" x="4673600" y="3786188"/>
          <p14:tracePt t="10532" x="4387850" y="3727450"/>
          <p14:tracePt t="10549" x="4060825" y="3643313"/>
          <p14:tracePt t="10565" x="3717925" y="3533775"/>
          <p14:tracePt t="10582" x="3406775" y="3398838"/>
          <p14:tracePt t="10599" x="3113088" y="3189288"/>
          <p14:tracePt t="10615" x="2844800" y="2954338"/>
          <p14:tracePt t="10616" x="2836863" y="2946400"/>
          <p14:tracePt t="10632" x="2601913" y="2703513"/>
          <p14:tracePt t="10649" x="2449513" y="2517775"/>
          <p14:tracePt t="10665" x="2382838" y="2384425"/>
          <p14:tracePt t="10666" x="2382838" y="2374900"/>
          <p14:tracePt t="10682" x="2374900" y="2241550"/>
          <p14:tracePt t="10698" x="2408238" y="2073275"/>
          <p14:tracePt t="10699" x="2408238" y="2065338"/>
          <p14:tracePt t="10715" x="2459038" y="1897063"/>
          <p14:tracePt t="10716" x="2466975" y="1879600"/>
          <p14:tracePt t="10732" x="2517775" y="1728788"/>
          <p14:tracePt t="10733" x="2517775" y="1720850"/>
          <p14:tracePt t="10749" x="2551113" y="1603375"/>
          <p14:tracePt t="10750" x="2559050" y="1595438"/>
          <p14:tracePt t="10765" x="2584450" y="1501775"/>
          <p14:tracePt t="10766" x="2584450" y="1493838"/>
          <p14:tracePt t="10782" x="2617788" y="1409700"/>
          <p14:tracePt t="10799" x="2651125" y="1317625"/>
          <p14:tracePt t="10800" x="2651125" y="1309688"/>
          <p14:tracePt t="10815" x="2701925" y="1217613"/>
          <p14:tracePt t="10832" x="2786063" y="1090613"/>
          <p14:tracePt t="10849" x="2895600" y="957263"/>
          <p14:tracePt t="10849" x="2911475" y="957263"/>
          <p14:tracePt t="10850" x="2911475" y="939800"/>
          <p14:tracePt t="10865" x="3046413" y="830263"/>
          <p14:tracePt t="10866" x="3054350" y="822325"/>
          <p14:tracePt t="10882" x="3171825" y="730250"/>
          <p14:tracePt t="10898" x="3289300" y="654050"/>
          <p14:tracePt t="10899" x="3297238" y="646113"/>
          <p14:tracePt t="10915" x="3406775" y="579438"/>
          <p14:tracePt t="10916" x="3424238" y="571500"/>
          <p14:tracePt t="10932" x="3549650" y="512763"/>
          <p14:tracePt t="10933" x="3557588" y="503238"/>
          <p14:tracePt t="10948" x="3692525" y="454025"/>
          <p14:tracePt t="10949" x="3700463" y="454025"/>
          <p14:tracePt t="10949" x="3717925" y="444500"/>
          <p14:tracePt t="10965" x="3876675" y="395288"/>
          <p14:tracePt t="10966" x="3894138" y="395288"/>
          <p14:tracePt t="10982" x="4119563" y="336550"/>
          <p14:tracePt t="10998" x="4379913" y="293688"/>
          <p14:tracePt t="10999" x="4397375" y="293688"/>
          <p14:tracePt t="11000" x="4413250" y="293688"/>
          <p14:tracePt t="11015" x="4691063" y="293688"/>
          <p14:tracePt t="11016" x="4706938" y="293688"/>
          <p14:tracePt t="11032" x="5068888" y="311150"/>
          <p14:tracePt t="11049" x="5411788" y="395288"/>
          <p14:tracePt t="11065" x="5773738" y="503238"/>
          <p14:tracePt t="11066" x="5789613" y="512763"/>
          <p14:tracePt t="11082" x="6091238" y="630238"/>
          <p14:tracePt t="11098" x="6402388" y="781050"/>
          <p14:tracePt t="11099" x="6418263" y="788988"/>
          <p14:tracePt t="11099" x="6435725" y="806450"/>
          <p14:tracePt t="11115" x="6670675" y="965200"/>
          <p14:tracePt t="11116" x="6688138" y="965200"/>
          <p14:tracePt t="11132" x="6880225" y="1141413"/>
          <p14:tracePt t="11148" x="7073900" y="1317625"/>
          <p14:tracePt t="11149" x="7081838" y="1335088"/>
          <p14:tracePt t="11165" x="7240588" y="1511300"/>
          <p14:tracePt t="11166" x="7250113" y="1511300"/>
          <p14:tracePt t="11182" x="7375525" y="1679575"/>
          <p14:tracePt t="11198" x="7467600" y="1820863"/>
          <p14:tracePt t="11199" x="7467600" y="1830388"/>
          <p14:tracePt t="11215" x="7518400" y="1973263"/>
          <p14:tracePt t="11216" x="7526338" y="1973263"/>
          <p14:tracePt t="11232" x="7559675" y="2132013"/>
          <p14:tracePt t="11249" x="7593013" y="2333625"/>
          <p14:tracePt t="11265" x="7602538" y="2517775"/>
          <p14:tracePt t="11266" x="7602538" y="2527300"/>
          <p14:tracePt t="11282" x="7602538" y="2693988"/>
          <p14:tracePt t="11298" x="7602538" y="2836863"/>
          <p14:tracePt t="11299" x="7602538" y="2846388"/>
          <p14:tracePt t="11315" x="7585075" y="2971800"/>
          <p14:tracePt t="11316" x="7585075" y="2979738"/>
          <p14:tracePt t="11332" x="7569200" y="3114675"/>
          <p14:tracePt t="11349" x="7534275" y="3248025"/>
          <p14:tracePt t="11365" x="7510463" y="3365500"/>
          <p14:tracePt t="11366" x="7510463" y="3375025"/>
          <p14:tracePt t="11382" x="7493000" y="3449638"/>
          <p14:tracePt t="11398" x="7475538" y="3517900"/>
          <p14:tracePt t="11415" x="7467600" y="3559175"/>
          <p14:tracePt t="11432" x="7459663" y="3600450"/>
          <p14:tracePt t="11448" x="7442200" y="3635375"/>
          <p14:tracePt t="11449" x="7442200" y="3643313"/>
          <p14:tracePt t="11465" x="7434263" y="3668713"/>
          <p14:tracePt t="11466" x="7434263" y="3676650"/>
          <p14:tracePt t="11482" x="7426325" y="3694113"/>
          <p14:tracePt t="11499" x="7426325" y="3709988"/>
          <p14:tracePt t="11515" x="7426325" y="3717925"/>
          <p14:tracePt t="11516" x="7416800" y="3717925"/>
          <p14:tracePt t="11532" x="7416800" y="3735388"/>
          <p14:tracePt t="11549" x="7408863" y="3752850"/>
          <p14:tracePt t="11565" x="7400925" y="3760788"/>
          <p14:tracePt t="11582" x="7400925" y="3786188"/>
          <p14:tracePt t="11599" x="7400925" y="3794125"/>
          <p14:tracePt t="11705" x="7392988" y="3786188"/>
          <p14:tracePt t="11708" x="7392988" y="3776663"/>
          <p14:tracePt t="11715" x="7392988" y="3768725"/>
          <p14:tracePt t="11716" x="7392988" y="3760788"/>
          <p14:tracePt t="11732" x="7367588" y="3727450"/>
          <p14:tracePt t="11748" x="7342188" y="3684588"/>
          <p14:tracePt t="11765" x="7308850" y="3651250"/>
          <p14:tracePt t="11782" x="7275513" y="3625850"/>
          <p14:tracePt t="11798" x="7258050" y="3600450"/>
          <p14:tracePt t="11799" x="7250113" y="3600450"/>
          <p14:tracePt t="11816" x="7224713" y="3576638"/>
          <p14:tracePt t="11832" x="7199313" y="3559175"/>
          <p14:tracePt t="11848" x="7165975" y="3551238"/>
          <p14:tracePt t="11849" x="7158038" y="3541713"/>
          <p14:tracePt t="11865" x="7123113" y="3533775"/>
          <p14:tracePt t="11866" x="7123113" y="3525838"/>
          <p14:tracePt t="11882" x="7081838" y="3517900"/>
          <p14:tracePt t="11898" x="7023100" y="3500438"/>
          <p14:tracePt t="11915" x="6964363" y="3500438"/>
          <p14:tracePt t="11932" x="6880225" y="3492500"/>
          <p14:tracePt t="11948" x="6770688" y="3482975"/>
          <p14:tracePt t="11965" x="6619875" y="3467100"/>
          <p14:tracePt t="11982" x="6469063" y="3459163"/>
          <p14:tracePt t="11983" x="6461125" y="3459163"/>
          <p14:tracePt t="11998" x="6292850" y="3459163"/>
          <p14:tracePt t="11999" x="6284913" y="3459163"/>
          <p14:tracePt t="12015" x="6124575" y="3459163"/>
          <p14:tracePt t="12032" x="5940425" y="3459163"/>
          <p14:tracePt t="12048" x="5764213" y="3467100"/>
          <p14:tracePt t="12049" x="5756275" y="3467100"/>
          <p14:tracePt t="12066" x="5588000" y="3482975"/>
          <p14:tracePt t="12082" x="5429250" y="3500438"/>
          <p14:tracePt t="12099" x="5260975" y="3525838"/>
          <p14:tracePt t="12115" x="5084763" y="3541713"/>
          <p14:tracePt t="12132" x="4926013" y="3567113"/>
          <p14:tracePt t="12148" x="4791075" y="3584575"/>
          <p14:tracePt t="12149" x="4783138" y="3584575"/>
          <p14:tracePt t="12165" x="4648200" y="3600450"/>
          <p14:tracePt t="12166" x="4640263" y="3600450"/>
          <p14:tracePt t="12182" x="4514850" y="3617913"/>
          <p14:tracePt t="12198" x="4387850" y="3625850"/>
          <p14:tracePt t="12199" x="4387850" y="3635375"/>
          <p14:tracePt t="12215" x="4279900" y="3651250"/>
          <p14:tracePt t="12232" x="4187825" y="3676650"/>
          <p14:tracePt t="12248" x="4119563" y="3694113"/>
          <p14:tracePt t="12265" x="4086225" y="3709988"/>
          <p14:tracePt t="12266" x="4078288" y="3709988"/>
          <p14:tracePt t="12282" x="4052888" y="3727450"/>
          <p14:tracePt t="12298" x="4019550" y="3743325"/>
          <p14:tracePt t="12315" x="3986213" y="3760788"/>
          <p14:tracePt t="12332" x="3960813" y="3786188"/>
          <p14:tracePt t="12349" x="3935413" y="3811588"/>
          <p14:tracePt t="12365" x="3917950" y="3827463"/>
          <p14:tracePt t="12398" x="3917950" y="3835400"/>
          <p14:tracePt t="12415" x="3910013" y="3844925"/>
          <p14:tracePt t="12416" x="3910013" y="3852863"/>
          <p14:tracePt t="12432" x="3894138" y="3870325"/>
          <p14:tracePt t="12448" x="3876675" y="3886200"/>
          <p14:tracePt t="12449" x="3876675" y="3894138"/>
          <p14:tracePt t="12465" x="3868738" y="3911600"/>
          <p14:tracePt t="12466" x="3859213" y="3911600"/>
          <p14:tracePt t="12482" x="3851275" y="3929063"/>
          <p14:tracePt t="12499" x="3835400" y="3962400"/>
          <p14:tracePt t="12515" x="3817938" y="4003675"/>
          <p14:tracePt t="12516" x="3810000" y="4003675"/>
          <p14:tracePt t="12532" x="3792538" y="4054475"/>
          <p14:tracePt t="12548" x="3767138" y="4095750"/>
          <p14:tracePt t="12565" x="3751263" y="4138613"/>
          <p14:tracePt t="12582" x="3733800" y="4179888"/>
          <p14:tracePt t="12598" x="3733800" y="4222750"/>
          <p14:tracePt t="12599" x="3733800" y="4230688"/>
          <p14:tracePt t="12615" x="3717925" y="4271963"/>
          <p14:tracePt t="12632" x="3717925" y="4314825"/>
          <p14:tracePt t="12648" x="3708400" y="4348163"/>
          <p14:tracePt t="12665" x="3708400" y="4381500"/>
          <p14:tracePt t="12666" x="3708400" y="4389438"/>
          <p14:tracePt t="12682" x="3708400" y="4424363"/>
          <p14:tracePt t="12698" x="3708400" y="4473575"/>
          <p14:tracePt t="12715" x="3708400" y="4516438"/>
          <p14:tracePt t="12732" x="3700463" y="4557713"/>
          <p14:tracePt t="12748" x="3700463" y="4608513"/>
          <p14:tracePt t="12765" x="3700463" y="4675188"/>
          <p14:tracePt t="12782" x="3700463" y="4743450"/>
          <p14:tracePt t="12783" x="3700463" y="4751388"/>
          <p14:tracePt t="12798" x="3708400" y="4810125"/>
          <p14:tracePt t="12799" x="3708400" y="4818063"/>
          <p14:tracePt t="12815" x="3717925" y="4876800"/>
          <p14:tracePt t="12832" x="3725863" y="4919663"/>
          <p14:tracePt t="12848" x="3733800" y="4953000"/>
          <p14:tracePt t="12849" x="3733800" y="4960938"/>
          <p14:tracePt t="12865" x="3733800" y="4994275"/>
          <p14:tracePt t="12882" x="3741738" y="5027613"/>
          <p14:tracePt t="12898" x="3741738" y="5060950"/>
          <p14:tracePt t="12915" x="3759200" y="5095875"/>
          <p14:tracePt t="12932" x="3776663" y="5137150"/>
          <p14:tracePt t="12949" x="3784600" y="5187950"/>
          <p14:tracePt t="12965" x="3800475" y="5229225"/>
          <p14:tracePt t="12982" x="3817938" y="5262563"/>
          <p14:tracePt t="12998" x="3825875" y="5295900"/>
          <p14:tracePt t="13015" x="3835400" y="5330825"/>
          <p14:tracePt t="13032" x="3843338" y="5364163"/>
          <p14:tracePt t="13048" x="3859213" y="5414963"/>
          <p14:tracePt t="13049" x="3868738" y="5414963"/>
          <p14:tracePt t="13065" x="3884613" y="5473700"/>
          <p14:tracePt t="13082" x="3910013" y="5532438"/>
          <p14:tracePt t="13098" x="3935413" y="5581650"/>
          <p14:tracePt t="13099" x="3935413" y="5591175"/>
          <p14:tracePt t="13115" x="3968750" y="5649913"/>
          <p14:tracePt t="13132" x="4002088" y="5716588"/>
          <p14:tracePt t="13149" x="4044950" y="5791200"/>
          <p14:tracePt t="13165" x="4078288" y="5884863"/>
          <p14:tracePt t="13182" x="4129088" y="5984875"/>
          <p14:tracePt t="13183" x="4129088" y="5992813"/>
          <p14:tracePt t="13198" x="4178300" y="6076950"/>
          <p14:tracePt t="13199" x="4187825" y="6086475"/>
          <p14:tracePt t="13215" x="4246563" y="6178550"/>
          <p14:tracePt t="13232" x="4313238" y="6270625"/>
          <p14:tracePt t="13233" x="4313238" y="6278563"/>
          <p14:tracePt t="13248" x="4379913" y="6354763"/>
          <p14:tracePt t="13249" x="4379913" y="6362700"/>
          <p14:tracePt t="13265" x="4446588" y="6421438"/>
          <p14:tracePt t="13282" x="4514850" y="6488113"/>
          <p14:tracePt t="13298" x="4573588" y="6546850"/>
          <p14:tracePt t="13299" x="4581525" y="6546850"/>
          <p14:tracePt t="13315" x="4657725" y="6615113"/>
          <p14:tracePt t="13316" x="4665663" y="6623050"/>
          <p14:tracePt t="13332" x="4749800" y="6681788"/>
          <p14:tracePt t="13333" x="4765675" y="6689725"/>
          <p14:tracePt t="13348" x="4867275" y="6748463"/>
          <p14:tracePt t="13349" x="4875213" y="6748463"/>
          <p14:tracePt t="13365" x="4992688" y="6799263"/>
          <p14:tracePt t="13366" x="4992688" y="6807200"/>
          <p14:tracePt t="13382" x="5110163" y="6850063"/>
          <p14:tracePt t="13520" x="6729413" y="6850063"/>
          <p14:tracePt t="13521" x="6737350" y="6840538"/>
          <p14:tracePt t="13522" x="6754813" y="6832600"/>
          <p14:tracePt t="13523" x="6762750" y="6832600"/>
          <p14:tracePt t="13524" x="6770688" y="6824663"/>
          <p14:tracePt t="13532" x="6872288" y="6791325"/>
          <p14:tracePt t="13533" x="6872288" y="6781800"/>
          <p14:tracePt t="13534" x="6888163" y="6773863"/>
          <p14:tracePt t="13548" x="7031038" y="6689725"/>
          <p14:tracePt t="13549" x="7040563" y="6681788"/>
          <p14:tracePt t="13565" x="7199313" y="6556375"/>
          <p14:tracePt t="13566" x="7216775" y="6546850"/>
          <p14:tracePt t="13582" x="7367588" y="6362700"/>
          <p14:tracePt t="13598" x="7510463" y="6145213"/>
          <p14:tracePt t="13599" x="7518400" y="6127750"/>
          <p14:tracePt t="13615" x="7635875" y="5892800"/>
          <p14:tracePt t="13616" x="7643813" y="5875338"/>
          <p14:tracePt t="13632" x="7745413" y="5632450"/>
          <p14:tracePt t="13648" x="7827963" y="5422900"/>
          <p14:tracePt t="13649" x="7827963" y="5414963"/>
          <p14:tracePt t="13665" x="7878763" y="5246688"/>
          <p14:tracePt t="13682" x="7904163" y="5119688"/>
          <p14:tracePt t="13699" x="7921625" y="5019675"/>
          <p14:tracePt t="13715" x="7937500" y="4919663"/>
          <p14:tracePt t="13716" x="7937500" y="4910138"/>
          <p14:tracePt t="13732" x="7954963" y="4802188"/>
          <p14:tracePt t="13751" x="7962900" y="4667250"/>
          <p14:tracePt t="13765" x="7962900" y="4575175"/>
          <p14:tracePt t="13766" x="7962900" y="4565650"/>
          <p14:tracePt t="13782" x="7962900" y="4457700"/>
          <p14:tracePt t="13798" x="7937500" y="4330700"/>
          <p14:tracePt t="13799" x="7937500" y="4322763"/>
          <p14:tracePt t="13815" x="7862888" y="4154488"/>
          <p14:tracePt t="13832" x="7727950" y="3937000"/>
          <p14:tracePt t="13848" x="7593013" y="3752850"/>
          <p14:tracePt t="13849" x="7577138" y="3727450"/>
          <p14:tracePt t="13865" x="7416800" y="3559175"/>
          <p14:tracePt t="13866" x="7416800" y="3551238"/>
          <p14:tracePt t="13882" x="7240588" y="3390900"/>
          <p14:tracePt t="13898" x="7056438" y="3265488"/>
          <p14:tracePt t="13899" x="7040563" y="3248025"/>
          <p14:tracePt t="13899" x="7031038" y="3240088"/>
          <p14:tracePt t="13915" x="6805613" y="3114675"/>
          <p14:tracePt t="13932" x="6578600" y="2997200"/>
          <p14:tracePt t="13948" x="6326188" y="2895600"/>
          <p14:tracePt t="13949" x="6318250" y="2895600"/>
          <p14:tracePt t="13965" x="6142038" y="2836863"/>
          <p14:tracePt t="13982" x="5973763" y="2795588"/>
          <p14:tracePt t="14000" x="5856288" y="2778125"/>
          <p14:tracePt t="14015" x="5781675" y="2762250"/>
          <p14:tracePt t="14016" x="5773738" y="2762250"/>
          <p14:tracePt t="14032" x="5697538" y="2762250"/>
          <p14:tracePt t="14033" x="5689600" y="2762250"/>
          <p14:tracePt t="14049" x="5605463" y="2762250"/>
          <p14:tracePt t="14066" x="5513388" y="2762250"/>
          <p14:tracePt t="14082" x="5429250" y="2770188"/>
          <p14:tracePt t="14099" x="5353050" y="2786063"/>
          <p14:tracePt t="14099" x="5345113" y="2786063"/>
          <p14:tracePt t="14100" x="5337175" y="2795588"/>
          <p14:tracePt t="14115" x="5260975" y="2803525"/>
          <p14:tracePt t="14132" x="5143500" y="2820988"/>
          <p14:tracePt t="14148" x="5000625" y="2846388"/>
          <p14:tracePt t="14149" x="4992688" y="2846388"/>
          <p14:tracePt t="14165" x="4808538" y="2887663"/>
          <p14:tracePt t="14182" x="4598988" y="2946400"/>
          <p14:tracePt t="14182" x="4589463" y="2954338"/>
          <p14:tracePt t="14198" x="4413250" y="3013075"/>
          <p14:tracePt t="14199" x="4397375" y="3013075"/>
          <p14:tracePt t="14215" x="4237038" y="3063875"/>
          <p14:tracePt t="14232" x="4103688" y="3105150"/>
          <p14:tracePt t="14248" x="4011613" y="3148013"/>
          <p14:tracePt t="14249" x="3994150" y="3155950"/>
          <p14:tracePt t="14265" x="3884613" y="3198813"/>
          <p14:tracePt t="14282" x="3776663" y="3257550"/>
          <p14:tracePt t="14299" x="3659188" y="3316288"/>
          <p14:tracePt t="14316" x="3565525" y="3357563"/>
          <p14:tracePt t="14332" x="3498850" y="3398838"/>
          <p14:tracePt t="14333" x="3490913" y="3408363"/>
          <p14:tracePt t="14349" x="3432175" y="3441700"/>
          <p14:tracePt t="14349" x="3432175" y="3449638"/>
          <p14:tracePt t="14366" x="3381375" y="3482975"/>
          <p14:tracePt t="14382" x="3330575" y="3517900"/>
          <p14:tracePt t="14399" x="3271838" y="3567113"/>
          <p14:tracePt t="14415" x="3230563" y="3609975"/>
          <p14:tracePt t="14432" x="3197225" y="3651250"/>
          <p14:tracePt t="14433" x="3189288" y="3651250"/>
          <p14:tracePt t="14449" x="3154363" y="3702050"/>
          <p14:tracePt t="14450" x="3146425" y="3702050"/>
          <p14:tracePt t="14465" x="3095625" y="3768725"/>
          <p14:tracePt t="14466" x="3095625" y="3776663"/>
          <p14:tracePt t="14467" x="3095625" y="3786188"/>
          <p14:tracePt t="14482" x="3046413" y="3852863"/>
          <p14:tracePt t="14499" x="2995613" y="3937000"/>
          <p14:tracePt t="14515" x="2962275" y="4021138"/>
          <p14:tracePt t="14532" x="2928938" y="4087813"/>
          <p14:tracePt t="14548" x="2911475" y="4146550"/>
          <p14:tracePt t="14549" x="2903538" y="4164013"/>
          <p14:tracePt t="14566" x="2895600" y="4213225"/>
          <p14:tracePt t="14582" x="2886075" y="4271963"/>
          <p14:tracePt t="14599" x="2878138" y="4322763"/>
          <p14:tracePt t="14615" x="2878138" y="4356100"/>
          <p14:tracePt t="14632" x="2878138" y="4398963"/>
          <p14:tracePt t="14633" x="2878138" y="4406900"/>
          <p14:tracePt t="14648" x="2878138" y="4448175"/>
          <p14:tracePt t="14665" x="2886075" y="4506913"/>
          <p14:tracePt t="14666" x="2895600" y="4506913"/>
          <p14:tracePt t="14682" x="2895600" y="4575175"/>
          <p14:tracePt t="14683" x="2903538" y="4575175"/>
          <p14:tracePt t="14698" x="2911475" y="4641850"/>
          <p14:tracePt t="14715" x="2928938" y="4718050"/>
          <p14:tracePt t="14732" x="2944813" y="4792663"/>
          <p14:tracePt t="14733" x="2944813" y="4802188"/>
          <p14:tracePt t="14748" x="2962275" y="4876800"/>
          <p14:tracePt t="14765" x="2987675" y="4953000"/>
          <p14:tracePt t="14766" x="2987675" y="4960938"/>
          <p14:tracePt t="14782" x="3003550" y="5027613"/>
          <p14:tracePt t="14798" x="3028950" y="5095875"/>
          <p14:tracePt t="14815" x="3046413" y="5154613"/>
          <p14:tracePt t="14832" x="3071813" y="5213350"/>
          <p14:tracePt t="14848" x="3095625" y="5272088"/>
          <p14:tracePt t="14865" x="3121025" y="5330825"/>
          <p14:tracePt t="14866" x="3130550" y="5330825"/>
          <p14:tracePt t="14882" x="3146425" y="5380038"/>
          <p14:tracePt t="14898" x="3171825" y="5422900"/>
          <p14:tracePt t="14915" x="3189288" y="5464175"/>
          <p14:tracePt t="14932" x="3205163" y="5497513"/>
          <p14:tracePt t="14948" x="3222625" y="5522913"/>
          <p14:tracePt t="14965" x="3230563" y="5548313"/>
          <p14:tracePt t="14982" x="3248025" y="5581650"/>
          <p14:tracePt t="14998" x="3263900" y="5607050"/>
          <p14:tracePt t="14999" x="3263900" y="5614988"/>
          <p14:tracePt t="15015" x="3271838" y="5649913"/>
          <p14:tracePt t="15032" x="3289300" y="5691188"/>
          <p14:tracePt t="15048" x="3314700" y="5732463"/>
          <p14:tracePt t="15049" x="3314700" y="5741988"/>
          <p14:tracePt t="15065" x="3340100" y="5775325"/>
          <p14:tracePt t="15082" x="3355975" y="5826125"/>
          <p14:tracePt t="15098" x="3381375" y="5867400"/>
          <p14:tracePt t="15115" x="3414713" y="5918200"/>
          <p14:tracePt t="15116" x="3414713" y="5926138"/>
          <p14:tracePt t="15132" x="3448050" y="5969000"/>
          <p14:tracePt t="15148" x="3482975" y="6018213"/>
          <p14:tracePt t="15149" x="3490913" y="6027738"/>
          <p14:tracePt t="15165" x="3541713" y="6076950"/>
          <p14:tracePt t="15182" x="3600450" y="6135688"/>
          <p14:tracePt t="15198" x="3659188" y="6203950"/>
          <p14:tracePt t="15199" x="3667125" y="6203950"/>
          <p14:tracePt t="15215" x="3741738" y="6262688"/>
          <p14:tracePt t="15232" x="3817938" y="6329363"/>
          <p14:tracePt t="15248" x="3910013" y="6396038"/>
          <p14:tracePt t="15249" x="3917950" y="6396038"/>
          <p14:tracePt t="15265" x="4011613" y="6454775"/>
          <p14:tracePt t="15266" x="4019550" y="6454775"/>
          <p14:tracePt t="15282" x="4111625" y="6505575"/>
          <p14:tracePt t="15298" x="4211638" y="6546850"/>
          <p14:tracePt t="15299" x="4221163" y="6546850"/>
          <p14:tracePt t="15315" x="4313238" y="6581775"/>
          <p14:tracePt t="15332" x="4413250" y="6605588"/>
          <p14:tracePt t="15348" x="4489450" y="6630988"/>
          <p14:tracePt t="15365" x="4573588" y="6648450"/>
          <p14:tracePt t="15366" x="4581525" y="6648450"/>
          <p14:tracePt t="15382" x="4640263" y="6664325"/>
          <p14:tracePt t="15398" x="4681538" y="6673850"/>
          <p14:tracePt t="15415" x="4724400" y="6681788"/>
          <p14:tracePt t="15432" x="4757738" y="6689725"/>
          <p14:tracePt t="15448" x="4799013" y="6699250"/>
          <p14:tracePt t="15449" x="4799013" y="6707188"/>
          <p14:tracePt t="15465" x="4841875" y="6707188"/>
          <p14:tracePt t="15482" x="4875213" y="6715125"/>
          <p14:tracePt t="15498" x="4916488" y="6723063"/>
          <p14:tracePt t="15515" x="4951413" y="6723063"/>
          <p14:tracePt t="15516" x="4951413" y="6732588"/>
          <p14:tracePt t="15532" x="4984750" y="6740525"/>
          <p14:tracePt t="15548" x="5018088" y="6740525"/>
          <p14:tracePt t="15565" x="5043488" y="6748463"/>
          <p14:tracePt t="15582" x="5059363" y="6748463"/>
          <p14:tracePt t="15598" x="5076825" y="6748463"/>
          <p14:tracePt t="15615" x="5092700" y="6748463"/>
          <p14:tracePt t="15632" x="5102225" y="6757988"/>
          <p14:tracePt t="15648" x="5135563" y="6757988"/>
          <p14:tracePt t="15665" x="5176838" y="6757988"/>
          <p14:tracePt t="15665" x="5186363" y="6757988"/>
          <p14:tracePt t="15682" x="5227638" y="6765925"/>
          <p14:tracePt t="15698" x="5268913" y="6773863"/>
          <p14:tracePt t="15715" x="5311775" y="6781800"/>
          <p14:tracePt t="15732" x="5345113" y="6781800"/>
          <p14:tracePt t="15748" x="5395913" y="6791325"/>
          <p14:tracePt t="15749" x="5403850" y="6791325"/>
          <p14:tracePt t="15765" x="5462588" y="6807200"/>
          <p14:tracePt t="15766" x="5470525" y="6807200"/>
          <p14:tracePt t="15782" x="5554663" y="6824663"/>
          <p14:tracePt t="15798" x="5646738" y="6840538"/>
          <p14:tracePt t="15815" x="5756275" y="6850063"/>
          <p14:tracePt t="15832" x="5881688" y="6850063"/>
          <p14:tracePt t="15848" x="6016625" y="6850063"/>
          <p14:tracePt t="15849" x="6024563" y="6850063"/>
          <p14:tracePt t="15865" x="6167438" y="6850063"/>
          <p14:tracePt t="15866" x="6175375" y="6850063"/>
          <p14:tracePt t="15882" x="6343650" y="6832600"/>
          <p14:tracePt t="15898" x="6553200" y="6791325"/>
          <p14:tracePt t="15899" x="6586538" y="6781800"/>
          <p14:tracePt t="15915" x="6864350" y="6699250"/>
          <p14:tracePt t="15932" x="7199313" y="6521450"/>
          <p14:tracePt t="15948" x="7593013" y="6227763"/>
          <p14:tracePt t="15949" x="7627938" y="6211888"/>
          <p14:tracePt t="15965" x="8097838" y="5732463"/>
          <p14:tracePt t="15982" x="8667750" y="5070475"/>
          <p14:tracePt t="15998" x="9196388" y="4424363"/>
          <p14:tracePt t="15999" x="9247188" y="4365625"/>
          <p14:tracePt t="16015" x="9691688" y="3768725"/>
          <p14:tracePt t="16032" x="10036175" y="3148013"/>
          <p14:tracePt t="16048" x="10212388" y="2568575"/>
          <p14:tracePt t="16049" x="10212388" y="2543175"/>
          <p14:tracePt t="16065" x="10261600" y="1947863"/>
          <p14:tracePt t="16082" x="10236200" y="1360488"/>
          <p14:tracePt t="16083" x="10236200" y="1317625"/>
          <p14:tracePt t="16098" x="10161588" y="931863"/>
          <p14:tracePt t="16099" x="10153650" y="906463"/>
          <p14:tracePt t="16115" x="10059988" y="579438"/>
          <p14:tracePt t="16132" x="9967913" y="293688"/>
          <p14:tracePt t="16148" x="9901238" y="117475"/>
          <p14:tracePt t="16149" x="9893300" y="100013"/>
        </p14:tracePtLst>
      </p14:laserTraceLst>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B8A3DCF-4F81-9FFA-DD6B-042A15D2A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92935-ADAA-A3BC-D4FD-422F2E2EEBE1}"/>
              </a:ext>
            </a:extLst>
          </p:cNvPr>
          <p:cNvSpPr>
            <a:spLocks noGrp="1"/>
          </p:cNvSpPr>
          <p:nvPr>
            <p:ph type="title"/>
          </p:nvPr>
        </p:nvSpPr>
        <p:spPr>
          <a:xfrm>
            <a:off x="9527454" y="132844"/>
            <a:ext cx="10515600" cy="1325563"/>
          </a:xfrm>
        </p:spPr>
        <p:txBody>
          <a:bodyPr/>
          <a:lstStyle/>
          <a:p>
            <a:r>
              <a:rPr lang="en-US" b="1" dirty="0">
                <a:latin typeface="Tenorite Display" panose="00000500000000000000" pitchFamily="2" charset="0"/>
              </a:rPr>
              <a:t>Results: </a:t>
            </a:r>
            <a:br>
              <a:rPr lang="en-US" b="1" dirty="0">
                <a:latin typeface="Tenorite Display" panose="00000500000000000000" pitchFamily="2" charset="0"/>
              </a:rPr>
            </a:br>
            <a:r>
              <a:rPr lang="en-US" b="1" dirty="0">
                <a:latin typeface="Tenorite Display" panose="00000500000000000000" pitchFamily="2" charset="0"/>
              </a:rPr>
              <a:t>Combined</a:t>
            </a:r>
          </a:p>
        </p:txBody>
      </p:sp>
      <p:pic>
        <p:nvPicPr>
          <p:cNvPr id="11" name="Picture 10" descr="A chart with text and numbers&#10;&#10;AI-generated content may be incorrect.">
            <a:extLst>
              <a:ext uri="{FF2B5EF4-FFF2-40B4-BE49-F238E27FC236}">
                <a16:creationId xmlns:a16="http://schemas.microsoft.com/office/drawing/2014/main" id="{9148F6C9-FC44-5678-FAF8-A62C523134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8294" y="277947"/>
            <a:ext cx="4587164" cy="3029133"/>
          </a:xfrm>
          <a:prstGeom prst="rect">
            <a:avLst/>
          </a:prstGeom>
        </p:spPr>
      </p:pic>
      <p:pic>
        <p:nvPicPr>
          <p:cNvPr id="15" name="Picture 14" descr="A graph with a line&#10;&#10;AI-generated content may be incorrect.">
            <a:extLst>
              <a:ext uri="{FF2B5EF4-FFF2-40B4-BE49-F238E27FC236}">
                <a16:creationId xmlns:a16="http://schemas.microsoft.com/office/drawing/2014/main" id="{71968B59-5538-EB7E-2918-E8409016FC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8294" y="3539360"/>
            <a:ext cx="4587164" cy="3029133"/>
          </a:xfrm>
          <a:prstGeom prst="rect">
            <a:avLst/>
          </a:prstGeom>
        </p:spPr>
      </p:pic>
      <p:pic>
        <p:nvPicPr>
          <p:cNvPr id="18" name="Picture 17" descr="A green squares with white text&#10;&#10;AI-generated content may be incorrect.">
            <a:extLst>
              <a:ext uri="{FF2B5EF4-FFF2-40B4-BE49-F238E27FC236}">
                <a16:creationId xmlns:a16="http://schemas.microsoft.com/office/drawing/2014/main" id="{D75320C4-BFEA-51CC-A208-B951102639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8471" y="277947"/>
            <a:ext cx="3587827" cy="3040694"/>
          </a:xfrm>
          <a:prstGeom prst="rect">
            <a:avLst/>
          </a:prstGeom>
        </p:spPr>
      </p:pic>
      <p:pic>
        <p:nvPicPr>
          <p:cNvPr id="20" name="Picture 19" descr="A graph of a line graph&#10;&#10;AI-generated content may be incorrect.">
            <a:extLst>
              <a:ext uri="{FF2B5EF4-FFF2-40B4-BE49-F238E27FC236}">
                <a16:creationId xmlns:a16="http://schemas.microsoft.com/office/drawing/2014/main" id="{98539643-8914-26ED-D84E-51C8435242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8471" y="3539360"/>
            <a:ext cx="3587827" cy="2739520"/>
          </a:xfrm>
          <a:prstGeom prst="rect">
            <a:avLst/>
          </a:prstGeom>
        </p:spPr>
      </p:pic>
    </p:spTree>
    <p:extLst>
      <p:ext uri="{BB962C8B-B14F-4D97-AF65-F5344CB8AC3E}">
        <p14:creationId xmlns:p14="http://schemas.microsoft.com/office/powerpoint/2010/main" val="4208153083"/>
      </p:ext>
    </p:extLst>
  </p:cSld>
  <p:clrMapOvr>
    <a:masterClrMapping/>
  </p:clrMapOvr>
  <mc:AlternateContent xmlns:mc="http://schemas.openxmlformats.org/markup-compatibility/2006" xmlns:p14="http://schemas.microsoft.com/office/powerpoint/2010/main">
    <mc:Choice Requires="p14">
      <p:transition spd="slow" p14:dur="2000" advTm="24108"/>
    </mc:Choice>
    <mc:Fallback xmlns="">
      <p:transition spd="slow" advTm="2410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457F56-426B-C558-64E6-75EA207E3D29}"/>
              </a:ext>
            </a:extLst>
          </p:cNvPr>
          <p:cNvSpPr>
            <a:spLocks noGrp="1"/>
          </p:cNvSpPr>
          <p:nvPr>
            <p:ph type="title"/>
          </p:nvPr>
        </p:nvSpPr>
        <p:spPr>
          <a:xfrm>
            <a:off x="1100249" y="137127"/>
            <a:ext cx="4443154" cy="1087819"/>
          </a:xfrm>
        </p:spPr>
        <p:txBody>
          <a:bodyPr vert="horz" lIns="91440" tIns="45720" rIns="91440" bIns="45720" rtlCol="0" anchor="b">
            <a:normAutofit/>
          </a:bodyPr>
          <a:lstStyle/>
          <a:p>
            <a:r>
              <a:rPr lang="en-US" sz="4000" b="1" kern="1200" dirty="0">
                <a:solidFill>
                  <a:schemeClr val="tx1"/>
                </a:solidFill>
                <a:latin typeface="Tenorite Display" panose="00000500000000000000" pitchFamily="2" charset="0"/>
              </a:rPr>
              <a:t>Conclusion</a:t>
            </a:r>
          </a:p>
        </p:txBody>
      </p:sp>
      <p:sp>
        <p:nvSpPr>
          <p:cNvPr id="25" name="Rectangle 24">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Content Placeholder 4" descr="A graph with blue bars&#10;&#10;AI-generated content may be incorrect.">
            <a:extLst>
              <a:ext uri="{FF2B5EF4-FFF2-40B4-BE49-F238E27FC236}">
                <a16:creationId xmlns:a16="http://schemas.microsoft.com/office/drawing/2014/main" id="{B7B5BF26-2DE1-99F7-20DE-FA90A00F5D9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65182" y="1582340"/>
            <a:ext cx="6440424" cy="3188009"/>
          </a:xfrm>
          <a:prstGeom prst="rect">
            <a:avLst/>
          </a:prstGeom>
        </p:spPr>
      </p:pic>
      <p:sp>
        <p:nvSpPr>
          <p:cNvPr id="19" name="TextBox 18">
            <a:extLst>
              <a:ext uri="{FF2B5EF4-FFF2-40B4-BE49-F238E27FC236}">
                <a16:creationId xmlns:a16="http://schemas.microsoft.com/office/drawing/2014/main" id="{F8678021-5E0E-89CE-4D88-D2709C588187}"/>
              </a:ext>
            </a:extLst>
          </p:cNvPr>
          <p:cNvSpPr txBox="1"/>
          <p:nvPr/>
        </p:nvSpPr>
        <p:spPr>
          <a:xfrm>
            <a:off x="338031" y="1582340"/>
            <a:ext cx="4389120" cy="313932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enorite" panose="00000500000000000000" pitchFamily="2" charset="0"/>
              </a:rPr>
              <a:t>Merging structured data with </a:t>
            </a:r>
            <a:r>
              <a:rPr lang="en-US" dirty="0" err="1">
                <a:latin typeface="Tenorite" panose="00000500000000000000" pitchFamily="2" charset="0"/>
              </a:rPr>
              <a:t>ClinicalBERT</a:t>
            </a:r>
            <a:r>
              <a:rPr lang="en-US" dirty="0">
                <a:latin typeface="Tenorite" panose="00000500000000000000" pitchFamily="2" charset="0"/>
              </a:rPr>
              <a:t>-based unstructured text greatly enhances prediction.</a:t>
            </a:r>
          </a:p>
          <a:p>
            <a:pPr marL="285750" indent="-285750">
              <a:buFont typeface="Arial" panose="020B0604020202020204" pitchFamily="34" charset="0"/>
              <a:buChar char="•"/>
            </a:pPr>
            <a:r>
              <a:rPr lang="en-US" dirty="0">
                <a:latin typeface="Tenorite" panose="00000500000000000000" pitchFamily="2" charset="0"/>
              </a:rPr>
              <a:t>Discharge summaries capture nuanced clinical risk factors missed in vitals/labs.</a:t>
            </a:r>
          </a:p>
          <a:p>
            <a:pPr marL="285750" indent="-285750">
              <a:buFont typeface="Arial" panose="020B0604020202020204" pitchFamily="34" charset="0"/>
              <a:buChar char="•"/>
            </a:pPr>
            <a:r>
              <a:rPr lang="en-US" dirty="0">
                <a:latin typeface="Tenorite" panose="00000500000000000000" pitchFamily="2" charset="0"/>
              </a:rPr>
              <a:t>SMOTE addressed class imbalance, improving minority class recall.</a:t>
            </a:r>
          </a:p>
          <a:p>
            <a:pPr marL="285750" indent="-285750">
              <a:buFont typeface="Arial" panose="020B0604020202020204" pitchFamily="34" charset="0"/>
              <a:buChar char="•"/>
            </a:pPr>
            <a:r>
              <a:rPr lang="en-US" dirty="0">
                <a:latin typeface="Tenorite" panose="00000500000000000000" pitchFamily="2" charset="0"/>
              </a:rPr>
              <a:t>Best performance: Narrowed </a:t>
            </a:r>
            <a:r>
              <a:rPr lang="en-US" dirty="0" err="1">
                <a:latin typeface="Tenorite" panose="00000500000000000000" pitchFamily="2" charset="0"/>
              </a:rPr>
              <a:t>XGBoost</a:t>
            </a:r>
            <a:r>
              <a:rPr lang="en-US" dirty="0">
                <a:latin typeface="Tenorite" panose="00000500000000000000" pitchFamily="2" charset="0"/>
              </a:rPr>
              <a:t> on combined data</a:t>
            </a:r>
          </a:p>
          <a:p>
            <a:pPr marL="742950" lvl="1" indent="-285750">
              <a:buFont typeface="Arial" panose="020B0604020202020204" pitchFamily="34" charset="0"/>
              <a:buChar char="•"/>
            </a:pPr>
            <a:r>
              <a:rPr lang="en-US" dirty="0">
                <a:latin typeface="Tenorite" panose="00000500000000000000" pitchFamily="2" charset="0"/>
              </a:rPr>
              <a:t>AUROC = 0.98</a:t>
            </a:r>
          </a:p>
        </p:txBody>
      </p:sp>
    </p:spTree>
    <p:extLst>
      <p:ext uri="{BB962C8B-B14F-4D97-AF65-F5344CB8AC3E}">
        <p14:creationId xmlns:p14="http://schemas.microsoft.com/office/powerpoint/2010/main" val="2716316684"/>
      </p:ext>
    </p:extLst>
  </p:cSld>
  <p:clrMapOvr>
    <a:masterClrMapping/>
  </p:clrMapOvr>
  <mc:AlternateContent xmlns:mc="http://schemas.openxmlformats.org/markup-compatibility/2006" xmlns:p14="http://schemas.microsoft.com/office/powerpoint/2010/main">
    <mc:Choice Requires="p14">
      <p:transition spd="slow" p14:dur="2000" advTm="47049"/>
    </mc:Choice>
    <mc:Fallback xmlns="">
      <p:transition spd="slow" advTm="47049"/>
    </mc:Fallback>
  </mc:AlternateContent>
  <p:extLst>
    <p:ext uri="{3A86A75C-4F4B-4683-9AE1-C65F6400EC91}">
      <p14:laserTraceLst xmlns:p14="http://schemas.microsoft.com/office/powerpoint/2010/main">
        <p14:tracePtLst>
          <p14:tracePt t="318" x="7635875" y="5254625"/>
          <p14:tracePt t="323" x="7635875" y="5246688"/>
          <p14:tracePt t="341" x="7610475" y="5203825"/>
          <p14:tracePt t="358" x="7577138" y="5154613"/>
          <p14:tracePt t="358" x="7577138" y="5145088"/>
          <p14:tracePt t="375" x="7526338" y="5086350"/>
          <p14:tracePt t="391" x="7442200" y="5011738"/>
          <p14:tracePt t="408" x="7350125" y="4919663"/>
          <p14:tracePt t="408" x="7342188" y="4910138"/>
          <p14:tracePt t="425" x="7224713" y="4802188"/>
          <p14:tracePt t="425" x="7207250" y="4802188"/>
          <p14:tracePt t="441" x="7081838" y="4684713"/>
          <p14:tracePt t="458" x="6938963" y="4557713"/>
          <p14:tracePt t="458" x="6938963" y="4549775"/>
          <p14:tracePt t="475" x="6813550" y="4432300"/>
          <p14:tracePt t="491" x="6704013" y="4340225"/>
          <p14:tracePt t="508" x="6637338" y="4281488"/>
          <p14:tracePt t="508" x="6637338" y="4271963"/>
          <p14:tracePt t="525" x="6594475" y="4238625"/>
          <p14:tracePt t="542" x="6553200" y="4205288"/>
          <p14:tracePt t="558" x="6527800" y="4189413"/>
          <p14:tracePt t="559" x="6519863" y="4189413"/>
          <p14:tracePt t="575" x="6494463" y="4171950"/>
          <p14:tracePt t="592" x="6469063" y="4154488"/>
          <p14:tracePt t="608" x="6443663" y="4146550"/>
          <p14:tracePt t="625" x="6410325" y="4130675"/>
          <p14:tracePt t="641" x="6384925" y="4121150"/>
          <p14:tracePt t="658" x="6351588" y="4105275"/>
          <p14:tracePt t="675" x="6335713" y="4105275"/>
          <p14:tracePt t="691" x="6318250" y="4095750"/>
          <p14:tracePt t="708" x="6310313" y="4095750"/>
          <p14:tracePt t="725" x="6292850" y="4095750"/>
          <p14:tracePt t="975" x="6292850" y="4105275"/>
          <p14:tracePt t="979" x="6292850" y="4113213"/>
          <p14:tracePt t="991" x="6284913" y="4121150"/>
          <p14:tracePt t="1008" x="6284913" y="4138613"/>
          <p14:tracePt t="1009" x="6284913" y="4146550"/>
          <p14:tracePt t="1025" x="6276975" y="4154488"/>
          <p14:tracePt t="1058" x="6276975" y="4164013"/>
          <p14:tracePt t="1099" x="6267450" y="4164013"/>
          <p14:tracePt t="1108" x="6259513" y="4171950"/>
          <p14:tracePt t="1125" x="6251575" y="4179888"/>
          <p14:tracePt t="1141" x="6242050" y="4189413"/>
          <p14:tracePt t="1158" x="6218238" y="4197350"/>
          <p14:tracePt t="1175" x="6183313" y="4213225"/>
          <p14:tracePt t="1191" x="6142038" y="4222750"/>
          <p14:tracePt t="1208" x="6083300" y="4230688"/>
          <p14:tracePt t="1208" x="6075363" y="4238625"/>
          <p14:tracePt t="1225" x="6024563" y="4256088"/>
          <p14:tracePt t="1241" x="5973763" y="4271963"/>
          <p14:tracePt t="1258" x="5932488" y="4281488"/>
          <p14:tracePt t="1259" x="5924550" y="4281488"/>
          <p14:tracePt t="1275" x="5907088" y="4289425"/>
          <p14:tracePt t="1291" x="5873750" y="4289425"/>
          <p14:tracePt t="1292" x="5873750" y="4297363"/>
          <p14:tracePt t="1308" x="5840413" y="4297363"/>
          <p14:tracePt t="1325" x="5789613" y="4297363"/>
          <p14:tracePt t="1341" x="5738813" y="4297363"/>
          <p14:tracePt t="1358" x="5680075" y="4297363"/>
          <p14:tracePt t="1375" x="5621338" y="4289425"/>
          <p14:tracePt t="1391" x="5572125" y="4289425"/>
          <p14:tracePt t="1392" x="5562600" y="4281488"/>
          <p14:tracePt t="1408" x="5503863" y="4271963"/>
          <p14:tracePt t="1425" x="5454650" y="4264025"/>
          <p14:tracePt t="1442" x="5403850" y="4256088"/>
          <p14:tracePt t="1458" x="5353050" y="4238625"/>
          <p14:tracePt t="1475" x="5303838" y="4222750"/>
          <p14:tracePt t="1491" x="5268913" y="4205288"/>
          <p14:tracePt t="1508" x="5245100" y="4197350"/>
          <p14:tracePt t="1525" x="5219700" y="4189413"/>
          <p14:tracePt t="1541" x="5194300" y="4179888"/>
          <p14:tracePt t="1558" x="5186363" y="4171950"/>
          <p14:tracePt t="1575" x="5176838" y="4171950"/>
          <p14:tracePt t="1591" x="5160963" y="4164013"/>
          <p14:tracePt t="1608" x="5151438" y="4154488"/>
          <p14:tracePt t="1608" x="5151438" y="4146550"/>
          <p14:tracePt t="1625" x="5135563" y="4138613"/>
          <p14:tracePt t="1641" x="5118100" y="4130675"/>
          <p14:tracePt t="1658" x="5118100" y="4121150"/>
          <p14:tracePt t="1675" x="5110163" y="4121150"/>
          <p14:tracePt t="1691" x="5110163" y="4105275"/>
          <p14:tracePt t="1708" x="5092700" y="4095750"/>
          <p14:tracePt t="1725" x="5084763" y="4079875"/>
          <p14:tracePt t="1741" x="5076825" y="4062413"/>
          <p14:tracePt t="1742" x="5076825" y="4054475"/>
          <p14:tracePt t="1758" x="5076825" y="4046538"/>
          <p14:tracePt t="1775" x="5068888" y="4029075"/>
          <p14:tracePt t="1791" x="5068888" y="4011613"/>
          <p14:tracePt t="1808" x="5059363" y="3995738"/>
          <p14:tracePt t="1825" x="5059363" y="3978275"/>
          <p14:tracePt t="1841" x="5059363" y="3962400"/>
          <p14:tracePt t="1859" x="5059363" y="3952875"/>
          <p14:tracePt t="1875" x="5059363" y="3937000"/>
          <p14:tracePt t="1891" x="5068888" y="3919538"/>
          <p14:tracePt t="1892" x="5076825" y="3919538"/>
          <p14:tracePt t="1908" x="5084763" y="3903663"/>
          <p14:tracePt t="1925" x="5092700" y="3894138"/>
          <p14:tracePt t="1941" x="5102225" y="3886200"/>
          <p14:tracePt t="1958" x="5102225" y="3878263"/>
          <p14:tracePt t="1975" x="5110163" y="3870325"/>
          <p14:tracePt t="1991" x="5118100" y="3860800"/>
          <p14:tracePt t="2008" x="5127625" y="3860800"/>
          <p14:tracePt t="2025" x="5143500" y="3852863"/>
          <p14:tracePt t="2041" x="5151438" y="3844925"/>
          <p14:tracePt t="2058" x="5160963" y="3835400"/>
          <p14:tracePt t="2075" x="5168900" y="3835400"/>
          <p14:tracePt t="2091" x="5176838" y="3827463"/>
          <p14:tracePt t="2108" x="5186363" y="3819525"/>
          <p14:tracePt t="2125" x="5194300" y="3819525"/>
          <p14:tracePt t="2173" x="5194300" y="3811588"/>
          <p14:tracePt t="2253" x="5202238" y="3811588"/>
          <p14:tracePt t="2267" x="5210175" y="3811588"/>
          <p14:tracePt t="2305" x="5210175" y="3802063"/>
          <p14:tracePt t="2374" x="5219700" y="3802063"/>
          <p14:tracePt t="2408" x="5219700" y="3794125"/>
          <p14:tracePt t="2428" x="5227638" y="3794125"/>
          <p14:tracePt t="2482" x="5227638" y="3786188"/>
          <p14:tracePt t="2497" x="5235575" y="3786188"/>
          <p14:tracePt t="2511" x="5245100" y="3786188"/>
          <p14:tracePt t="2532" x="5245100" y="3776663"/>
          <p14:tracePt t="2541" x="5253038" y="3776663"/>
          <p14:tracePt t="2575" x="5260975" y="3768725"/>
          <p14:tracePt t="2608" x="5268913" y="3768725"/>
          <p14:tracePt t="2625" x="5278438" y="3760788"/>
          <p14:tracePt t="2645" x="5286375" y="3760788"/>
          <p14:tracePt t="2658" x="5286375" y="3752850"/>
          <p14:tracePt t="2684" x="5294313" y="3752850"/>
          <p14:tracePt t="2703" x="5294313" y="3743325"/>
          <p14:tracePt t="2725" x="5303838" y="3743325"/>
          <p14:tracePt t="2741" x="5311775" y="3743325"/>
          <p14:tracePt t="2782" x="5311775" y="3735388"/>
          <p14:tracePt t="2832" x="5319713" y="3735388"/>
          <p14:tracePt t="2891" x="5327650" y="3735388"/>
          <p14:tracePt t="2907" x="5327650" y="3727450"/>
          <p14:tracePt t="2925" x="5337175" y="3727450"/>
          <p14:tracePt t="2942" x="5337175" y="3717925"/>
          <p14:tracePt t="2958" x="5345113" y="3717925"/>
          <p14:tracePt t="2991" x="5353050" y="3717925"/>
          <p14:tracePt t="3028" x="5362575" y="3717925"/>
          <p14:tracePt t="3041" x="5362575" y="3709988"/>
          <p14:tracePt t="3075" x="5370513" y="3709988"/>
          <p14:tracePt t="3100" x="5378450" y="3709988"/>
          <p14:tracePt t="3125" x="5386388" y="3702050"/>
          <p14:tracePt t="3151" x="5395913" y="3702050"/>
          <p14:tracePt t="3165" x="5395913" y="3694113"/>
          <p14:tracePt t="3175" x="5403850" y="3694113"/>
          <p14:tracePt t="3208" x="5403850" y="3684588"/>
          <p14:tracePt t="3225" x="5421313" y="3684588"/>
          <p14:tracePt t="3258" x="5429250" y="3684588"/>
          <p14:tracePt t="3281" x="5437188" y="3684588"/>
          <p14:tracePt t="3291" x="5437188" y="3676650"/>
          <p14:tracePt t="3325" x="5445125" y="3676650"/>
          <p14:tracePt t="3341" x="5454650" y="3676650"/>
          <p14:tracePt t="3392" x="5454650" y="3668713"/>
          <p14:tracePt t="3401" x="5462588" y="3668713"/>
          <p14:tracePt t="3613" x="5470525" y="3668713"/>
          <p14:tracePt t="3641" x="5480050" y="3668713"/>
          <p14:tracePt t="3652" x="5487988" y="3668713"/>
          <p14:tracePt t="3658" x="5487988" y="3659188"/>
          <p14:tracePt t="3691" x="5495925" y="3659188"/>
          <p14:tracePt t="3711" x="5495925" y="3651250"/>
          <p14:tracePt t="3741" x="5503863" y="3651250"/>
          <p14:tracePt t="3758" x="5513388" y="3651250"/>
          <p14:tracePt t="3775" x="5521325" y="3651250"/>
          <p14:tracePt t="3791" x="5529263" y="3643313"/>
          <p14:tracePt t="3808" x="5554663" y="3643313"/>
          <p14:tracePt t="3825" x="5580063" y="3643313"/>
          <p14:tracePt t="3826" x="5588000" y="3643313"/>
          <p14:tracePt t="3841" x="5613400" y="3643313"/>
          <p14:tracePt t="3858" x="5646738" y="3643313"/>
          <p14:tracePt t="3875" x="5680075" y="3643313"/>
          <p14:tracePt t="3891" x="5722938" y="3643313"/>
          <p14:tracePt t="3892" x="5730875" y="3643313"/>
          <p14:tracePt t="3908" x="5773738" y="3643313"/>
          <p14:tracePt t="3925" x="5822950" y="3643313"/>
          <p14:tracePt t="3941" x="5865813" y="3643313"/>
          <p14:tracePt t="3942" x="5873750" y="3643313"/>
          <p14:tracePt t="3958" x="5940425" y="3643313"/>
          <p14:tracePt t="3975" x="6008688" y="3643313"/>
          <p14:tracePt t="3991" x="6083300" y="3643313"/>
          <p14:tracePt t="3992" x="6091238" y="3643313"/>
          <p14:tracePt t="4008" x="6175375" y="3643313"/>
          <p14:tracePt t="4025" x="6259513" y="3651250"/>
          <p14:tracePt t="4041" x="6343650" y="3659188"/>
          <p14:tracePt t="4058" x="6427788" y="3659188"/>
          <p14:tracePt t="4059" x="6435725" y="3659188"/>
          <p14:tracePt t="4075" x="6527800" y="3668713"/>
          <p14:tracePt t="4091" x="6619875" y="3668713"/>
          <p14:tracePt t="4108" x="6704013" y="3668713"/>
          <p14:tracePt t="4125" x="6788150" y="3676650"/>
          <p14:tracePt t="4141" x="6854825" y="3676650"/>
          <p14:tracePt t="4158" x="6923088" y="3676650"/>
          <p14:tracePt t="4175" x="6981825" y="3676650"/>
          <p14:tracePt t="4191" x="7048500" y="3684588"/>
          <p14:tracePt t="4192" x="7056438" y="3684588"/>
          <p14:tracePt t="4208" x="7123113" y="3694113"/>
          <p14:tracePt t="4225" x="7216775" y="3694113"/>
          <p14:tracePt t="4241" x="7299325" y="3694113"/>
          <p14:tracePt t="4242" x="7308850" y="3694113"/>
          <p14:tracePt t="4258" x="7392988" y="3694113"/>
          <p14:tracePt t="4275" x="7485063" y="3702050"/>
          <p14:tracePt t="4291" x="7585075" y="3702050"/>
          <p14:tracePt t="4308" x="7677150" y="3717925"/>
          <p14:tracePt t="4325" x="7761288" y="3717925"/>
          <p14:tracePt t="4341" x="7827963" y="3717925"/>
          <p14:tracePt t="4342" x="7837488" y="3717925"/>
          <p14:tracePt t="4358" x="7904163" y="3727450"/>
          <p14:tracePt t="4374" x="7970838" y="3727450"/>
          <p14:tracePt t="4391" x="8039100" y="3727450"/>
          <p14:tracePt t="4392" x="8054975" y="3727450"/>
          <p14:tracePt t="4408" x="8139113" y="3727450"/>
          <p14:tracePt t="4425" x="8256588" y="3727450"/>
          <p14:tracePt t="4441" x="8374063" y="3743325"/>
          <p14:tracePt t="4442" x="8382000" y="3743325"/>
          <p14:tracePt t="4458" x="8516938" y="3743325"/>
          <p14:tracePt t="4474" x="8650288" y="3752850"/>
          <p14:tracePt t="4491" x="8802688" y="3760788"/>
          <p14:tracePt t="4508" x="8969375" y="3760788"/>
          <p14:tracePt t="4525" x="9155113" y="3752850"/>
          <p14:tracePt t="4541" x="9372600" y="3752850"/>
          <p14:tracePt t="4558" x="9566275" y="3752850"/>
          <p14:tracePt t="4575" x="9766300" y="3735388"/>
          <p14:tracePt t="4575" x="9783763" y="3735388"/>
          <p14:tracePt t="4591" x="9959975" y="3727450"/>
          <p14:tracePt t="4592" x="9967913" y="3727450"/>
          <p14:tracePt t="4608" x="10136188" y="3717925"/>
          <p14:tracePt t="4625" x="10320338" y="3717925"/>
          <p14:tracePt t="4625" x="10329863" y="3717925"/>
          <p14:tracePt t="4641" x="10463213" y="3717925"/>
          <p14:tracePt t="4642" x="10471150" y="3717925"/>
          <p14:tracePt t="4658" x="10580688" y="3717925"/>
          <p14:tracePt t="4675" x="10682288" y="3717925"/>
          <p14:tracePt t="4691" x="10748963" y="3709988"/>
          <p14:tracePt t="4692" x="10756900" y="3709988"/>
          <p14:tracePt t="4708" x="10807700" y="3709988"/>
          <p14:tracePt t="4725" x="10841038" y="3702050"/>
          <p14:tracePt t="4741" x="10874375" y="3702050"/>
          <p14:tracePt t="4741" x="10882313" y="3702050"/>
          <p14:tracePt t="4758" x="10917238" y="3702050"/>
          <p14:tracePt t="4775" x="10958513" y="3694113"/>
          <p14:tracePt t="4791" x="10991850" y="3694113"/>
          <p14:tracePt t="4792" x="10999788" y="3694113"/>
          <p14:tracePt t="4808" x="11058525" y="3694113"/>
          <p14:tracePt t="4824" x="11142663" y="3694113"/>
          <p14:tracePt t="4841" x="11234738" y="3694113"/>
          <p14:tracePt t="4842" x="11244263" y="3694113"/>
          <p14:tracePt t="4858" x="11344275" y="3694113"/>
          <p14:tracePt t="4876" x="11453813" y="3694113"/>
          <p14:tracePt t="4877" x="11461750" y="3694113"/>
          <p14:tracePt t="4891" x="11520488" y="3694113"/>
          <p14:tracePt t="4892" x="11528425" y="3694113"/>
          <p14:tracePt t="4908" x="11587163" y="3702050"/>
          <p14:tracePt t="4924" x="11612563" y="3709988"/>
          <p14:tracePt t="4941" x="11622088" y="3709988"/>
          <p14:tracePt t="5018" x="11622088" y="3717925"/>
          <p14:tracePt t="5030" x="11630025" y="3717925"/>
          <p14:tracePt t="5033" x="11630025" y="3727450"/>
          <p14:tracePt t="5041" x="11630025" y="3735388"/>
          <p14:tracePt t="5058" x="11645900" y="3743325"/>
          <p14:tracePt t="5075" x="11655425" y="3760788"/>
          <p14:tracePt t="5091" x="11663363" y="3768725"/>
          <p14:tracePt t="5108" x="11663363" y="3776663"/>
          <p14:tracePt t="5124" x="11671300" y="3786188"/>
          <p14:tracePt t="5141" x="11671300" y="3802063"/>
          <p14:tracePt t="5159" x="11671300" y="3811588"/>
          <p14:tracePt t="5174" x="11680825" y="3811588"/>
          <p14:tracePt t="5191" x="11680825" y="3819525"/>
          <p14:tracePt t="5208" x="11680825" y="3835400"/>
          <p14:tracePt t="5227" x="11680825" y="3844925"/>
          <p14:tracePt t="5258" x="11680825" y="3852863"/>
          <p14:tracePt t="5275" x="11680825" y="3870325"/>
          <p14:tracePt t="5291" x="11680825" y="3886200"/>
          <p14:tracePt t="5308" x="11680825" y="3903663"/>
          <p14:tracePt t="5324" x="11671300" y="3929063"/>
          <p14:tracePt t="5341" x="11663363" y="3944938"/>
          <p14:tracePt t="5358" x="11645900" y="3970338"/>
          <p14:tracePt t="5375" x="11630025" y="3987800"/>
          <p14:tracePt t="5391" x="11622088" y="3995738"/>
          <p14:tracePt t="5408" x="11604625" y="4011613"/>
          <p14:tracePt t="5424" x="11571288" y="4029075"/>
          <p14:tracePt t="5441" x="11537950" y="4046538"/>
          <p14:tracePt t="5458" x="11487150" y="4062413"/>
          <p14:tracePt t="5474" x="11428413" y="4087813"/>
          <p14:tracePt t="5491" x="11377613" y="4095750"/>
          <p14:tracePt t="5492" x="11369675" y="4095750"/>
          <p14:tracePt t="5508" x="11303000" y="4113213"/>
          <p14:tracePt t="5525" x="11234738" y="4121150"/>
          <p14:tracePt t="5541" x="11152188" y="4121150"/>
          <p14:tracePt t="5541" x="11142663" y="4121150"/>
          <p14:tracePt t="5558" x="11068050" y="4121150"/>
          <p14:tracePt t="5574" x="10983913" y="4121150"/>
          <p14:tracePt t="5591" x="10907713" y="4121150"/>
          <p14:tracePt t="5608" x="10833100" y="4130675"/>
          <p14:tracePt t="5624" x="10756900" y="4130675"/>
          <p14:tracePt t="5641" x="10690225" y="4130675"/>
          <p14:tracePt t="5658" x="10614025" y="4130675"/>
          <p14:tracePt t="5675" x="10521950" y="4138613"/>
          <p14:tracePt t="5691" x="10421938" y="4146550"/>
          <p14:tracePt t="5691" x="10412413" y="4146550"/>
          <p14:tracePt t="5708" x="10312400" y="4154488"/>
          <p14:tracePt t="5725" x="10220325" y="4171950"/>
          <p14:tracePt t="5741" x="10118725" y="4179888"/>
          <p14:tracePt t="5758" x="10010775" y="4189413"/>
          <p14:tracePt t="5774" x="9901238" y="4197350"/>
          <p14:tracePt t="5791" x="9801225" y="4205288"/>
          <p14:tracePt t="5808" x="9699625" y="4205288"/>
          <p14:tracePt t="5824" x="9607550" y="4222750"/>
          <p14:tracePt t="5841" x="9515475" y="4222750"/>
          <p14:tracePt t="5842" x="9507538" y="4222750"/>
          <p14:tracePt t="5858" x="9423400" y="4230688"/>
          <p14:tracePt t="5875" x="9331325" y="4230688"/>
          <p14:tracePt t="5891" x="9237663" y="4238625"/>
          <p14:tracePt t="5908" x="9155113" y="4248150"/>
          <p14:tracePt t="5925" x="9061450" y="4264025"/>
          <p14:tracePt t="5941" x="8978900" y="4271963"/>
          <p14:tracePt t="5942" x="8969375" y="4271963"/>
          <p14:tracePt t="5958" x="8885238" y="4281488"/>
          <p14:tracePt t="5974" x="8802688" y="4289425"/>
          <p14:tracePt t="5991" x="8718550" y="4297363"/>
          <p14:tracePt t="6008" x="8634413" y="4306888"/>
          <p14:tracePt t="6024" x="8542338" y="4314825"/>
          <p14:tracePt t="6041" x="8450263" y="4322763"/>
          <p14:tracePt t="6058" x="8374063" y="4330700"/>
          <p14:tracePt t="6058" x="8366125" y="4330700"/>
          <p14:tracePt t="6074" x="8281988" y="4340225"/>
          <p14:tracePt t="6091" x="8205788" y="4356100"/>
          <p14:tracePt t="6108" x="8113713" y="4373563"/>
          <p14:tracePt t="6124" x="8029575" y="4389438"/>
          <p14:tracePt t="6141" x="7929563" y="4398963"/>
          <p14:tracePt t="6142" x="7921625" y="4398963"/>
          <p14:tracePt t="6158" x="7837488" y="4414838"/>
          <p14:tracePt t="6175" x="7753350" y="4432300"/>
          <p14:tracePt t="6191" x="7677150" y="4440238"/>
          <p14:tracePt t="6192" x="7669213" y="4440238"/>
          <p14:tracePt t="6208" x="7585075" y="4448175"/>
          <p14:tracePt t="6225" x="7493000" y="4465638"/>
          <p14:tracePt t="6241" x="7408863" y="4483100"/>
          <p14:tracePt t="6242" x="7400925" y="4483100"/>
          <p14:tracePt t="6258" x="7308850" y="4491038"/>
          <p14:tracePt t="6275" x="7216775" y="4491038"/>
          <p14:tracePt t="6291" x="7132638" y="4498975"/>
          <p14:tracePt t="6308" x="7048500" y="4498975"/>
          <p14:tracePt t="6325" x="6946900" y="4506913"/>
          <p14:tracePt t="6326" x="6938963" y="4506913"/>
          <p14:tracePt t="6341" x="6846888" y="4516438"/>
          <p14:tracePt t="6358" x="6737350" y="4516438"/>
          <p14:tracePt t="6374" x="6629400" y="4516438"/>
          <p14:tracePt t="6391" x="6553200" y="4516438"/>
          <p14:tracePt t="6408" x="6477000" y="4516438"/>
          <p14:tracePt t="6424" x="6410325" y="4516438"/>
          <p14:tracePt t="6441" x="6359525" y="4516438"/>
          <p14:tracePt t="6441" x="6351588" y="4516438"/>
          <p14:tracePt t="6458" x="6300788" y="4506913"/>
          <p14:tracePt t="6474" x="6251575" y="4506913"/>
          <p14:tracePt t="6491" x="6208713" y="4498975"/>
          <p14:tracePt t="6508" x="6175375" y="4498975"/>
          <p14:tracePt t="6525" x="6134100" y="4498975"/>
          <p14:tracePt t="6541" x="6091238" y="4491038"/>
          <p14:tracePt t="6558" x="6032500" y="4491038"/>
          <p14:tracePt t="6575" x="5983288" y="4491038"/>
          <p14:tracePt t="6591" x="5932488" y="4491038"/>
          <p14:tracePt t="6608" x="5873750" y="4491038"/>
          <p14:tracePt t="6624" x="5822950" y="4483100"/>
          <p14:tracePt t="6641" x="5756275" y="4483100"/>
          <p14:tracePt t="6641" x="5748338" y="4483100"/>
          <p14:tracePt t="6658" x="5680075" y="4473575"/>
          <p14:tracePt t="6674" x="5613400" y="4473575"/>
          <p14:tracePt t="6691" x="5562600" y="4473575"/>
          <p14:tracePt t="6692" x="5554663" y="4473575"/>
          <p14:tracePt t="6708" x="5521325" y="4473575"/>
          <p14:tracePt t="6724" x="5487988" y="4465638"/>
          <p14:tracePt t="6741" x="5470525" y="4465638"/>
          <p14:tracePt t="6758" x="5445125" y="4457700"/>
          <p14:tracePt t="6774" x="5437188" y="4457700"/>
          <p14:tracePt t="6791" x="5421313" y="4457700"/>
          <p14:tracePt t="6808" x="5411788" y="4440238"/>
          <p14:tracePt t="6824" x="5370513" y="4432300"/>
          <p14:tracePt t="6841" x="5337175" y="4424363"/>
          <p14:tracePt t="6841" x="5327650" y="4414838"/>
          <p14:tracePt t="6858" x="5278438" y="4406900"/>
          <p14:tracePt t="6874" x="5245100" y="4389438"/>
          <p14:tracePt t="6891" x="5210175" y="4373563"/>
          <p14:tracePt t="6908" x="5186363" y="4365625"/>
          <p14:tracePt t="6924" x="5168900" y="4348163"/>
          <p14:tracePt t="6941" x="5151438" y="4340225"/>
          <p14:tracePt t="6958" x="5143500" y="4330700"/>
          <p14:tracePt t="6974" x="5135563" y="4330700"/>
          <p14:tracePt t="6991" x="5127625" y="4322763"/>
          <p14:tracePt t="7024" x="5127625" y="4314825"/>
          <p14:tracePt t="7041" x="5118100" y="4306888"/>
          <p14:tracePt t="7042" x="5118100" y="4297363"/>
          <p14:tracePt t="7058" x="5110163" y="4289425"/>
          <p14:tracePt t="7074" x="5110163" y="4264025"/>
          <p14:tracePt t="7091" x="5110163" y="4256088"/>
          <p14:tracePt t="7108" x="5110163" y="4238625"/>
          <p14:tracePt t="7124" x="5110163" y="4222750"/>
          <p14:tracePt t="7141" x="5110163" y="4205288"/>
          <p14:tracePt t="7141" x="5110163" y="4197350"/>
          <p14:tracePt t="7158" x="5110163" y="4189413"/>
          <p14:tracePt t="7174" x="5118100" y="4171950"/>
          <p14:tracePt t="7191" x="5118100" y="4164013"/>
          <p14:tracePt t="7192" x="5118100" y="4154488"/>
          <p14:tracePt t="7208" x="5127625" y="4146550"/>
          <p14:tracePt t="7224" x="5135563" y="4130675"/>
          <p14:tracePt t="7241" x="5135563" y="4121150"/>
          <p14:tracePt t="7258" x="5143500" y="4105275"/>
          <p14:tracePt t="7274" x="5151438" y="4087813"/>
          <p14:tracePt t="7291" x="5160963" y="4079875"/>
          <p14:tracePt t="7308" x="5168900" y="4062413"/>
          <p14:tracePt t="7325" x="5176838" y="4054475"/>
          <p14:tracePt t="7341" x="5194300" y="4037013"/>
          <p14:tracePt t="7342" x="5194300" y="4029075"/>
          <p14:tracePt t="7358" x="5202238" y="4021138"/>
          <p14:tracePt t="7374" x="5210175" y="4011613"/>
          <p14:tracePt t="7375" x="5219700" y="4003675"/>
          <p14:tracePt t="7391" x="5227638" y="3995738"/>
          <p14:tracePt t="7408" x="5235575" y="3987800"/>
          <p14:tracePt t="7424" x="5245100" y="3978275"/>
          <p14:tracePt t="7425" x="5253038" y="3978275"/>
          <p14:tracePt t="7441" x="5260975" y="3970338"/>
          <p14:tracePt t="7458" x="5268913" y="3952875"/>
          <p14:tracePt t="7474" x="5278438" y="3944938"/>
          <p14:tracePt t="7491" x="5294313" y="3937000"/>
          <p14:tracePt t="7508" x="5303838" y="3929063"/>
          <p14:tracePt t="7524" x="5319713" y="3911600"/>
          <p14:tracePt t="7541" x="5337175" y="3911600"/>
          <p14:tracePt t="7558" x="5345113" y="3903663"/>
          <p14:tracePt t="7574" x="5353050" y="3886200"/>
          <p14:tracePt t="7591" x="5370513" y="3878263"/>
          <p14:tracePt t="7608" x="5378450" y="3870325"/>
          <p14:tracePt t="7624" x="5386388" y="3860800"/>
          <p14:tracePt t="7641" x="5403850" y="3852863"/>
          <p14:tracePt t="7658" x="5421313" y="3844925"/>
          <p14:tracePt t="7674" x="5437188" y="3835400"/>
          <p14:tracePt t="7691" x="5462588" y="3819525"/>
          <p14:tracePt t="7708" x="5470525" y="3811588"/>
          <p14:tracePt t="7724" x="5487988" y="3802063"/>
          <p14:tracePt t="7741" x="5503863" y="3794125"/>
          <p14:tracePt t="7758" x="5521325" y="3776663"/>
          <p14:tracePt t="7775" x="5538788" y="3776663"/>
          <p14:tracePt t="7791" x="5562600" y="3768725"/>
          <p14:tracePt t="7808" x="5588000" y="3752850"/>
          <p14:tracePt t="7824" x="5621338" y="3743325"/>
          <p14:tracePt t="7841" x="5656263" y="3727450"/>
          <p14:tracePt t="7858" x="5689600" y="3717925"/>
          <p14:tracePt t="7874" x="5738813" y="3709988"/>
          <p14:tracePt t="7891" x="5781675" y="3702050"/>
          <p14:tracePt t="7891" x="5789613" y="3702050"/>
          <p14:tracePt t="7910" x="5848350" y="3694113"/>
          <p14:tracePt t="7925" x="5907088" y="3694113"/>
          <p14:tracePt t="7941" x="5983288" y="3684588"/>
          <p14:tracePt t="7958" x="6075363" y="3676650"/>
          <p14:tracePt t="7974" x="6167438" y="3676650"/>
          <p14:tracePt t="7975" x="6175375" y="3676650"/>
          <p14:tracePt t="7991" x="6276975" y="3676650"/>
          <p14:tracePt t="7991" x="6284913" y="3676650"/>
          <p14:tracePt t="8008" x="6394450" y="3676650"/>
          <p14:tracePt t="8024" x="6494463" y="3676650"/>
          <p14:tracePt t="8041" x="6604000" y="3676650"/>
          <p14:tracePt t="8058" x="6711950" y="3684588"/>
          <p14:tracePt t="8074" x="6829425" y="3684588"/>
          <p14:tracePt t="8091" x="6956425" y="3684588"/>
          <p14:tracePt t="8091" x="6964363" y="3684588"/>
          <p14:tracePt t="8108" x="7081838" y="3684588"/>
          <p14:tracePt t="8124" x="7207250" y="3694113"/>
          <p14:tracePt t="8125" x="7216775" y="3694113"/>
          <p14:tracePt t="8141" x="7334250" y="3694113"/>
          <p14:tracePt t="8158" x="7467600" y="3702050"/>
          <p14:tracePt t="8174" x="7602538" y="3702050"/>
          <p14:tracePt t="8175" x="7610475" y="3702050"/>
          <p14:tracePt t="8191" x="7735888" y="3702050"/>
          <p14:tracePt t="8191" x="7745413" y="3702050"/>
          <p14:tracePt t="8208" x="7853363" y="3702050"/>
          <p14:tracePt t="8224" x="7954963" y="3702050"/>
          <p14:tracePt t="8241" x="8039100" y="3702050"/>
          <p14:tracePt t="8258" x="8113713" y="3702050"/>
          <p14:tracePt t="8274" x="8197850" y="3702050"/>
          <p14:tracePt t="8275" x="8205788" y="3702050"/>
          <p14:tracePt t="8291" x="8289925" y="3702050"/>
          <p14:tracePt t="8292" x="8297863" y="3702050"/>
          <p14:tracePt t="8308" x="8391525" y="3702050"/>
          <p14:tracePt t="8325" x="8483600" y="3694113"/>
          <p14:tracePt t="8341" x="8591550" y="3694113"/>
          <p14:tracePt t="8358" x="8701088" y="3694113"/>
          <p14:tracePt t="8374" x="8818563" y="3694113"/>
          <p14:tracePt t="8391" x="8936038" y="3694113"/>
          <p14:tracePt t="8392" x="8943975" y="3694113"/>
          <p14:tracePt t="8408" x="9061450" y="3694113"/>
          <p14:tracePt t="8424" x="9213850" y="3694113"/>
          <p14:tracePt t="8441" x="9339263" y="3694113"/>
          <p14:tracePt t="8458" x="9490075" y="3702050"/>
          <p14:tracePt t="8474" x="9625013" y="3709988"/>
          <p14:tracePt t="8475" x="9640888" y="3709988"/>
          <p14:tracePt t="8491" x="9750425" y="3709988"/>
          <p14:tracePt t="8491" x="9758363" y="3709988"/>
          <p14:tracePt t="8508" x="9875838" y="3717925"/>
          <p14:tracePt t="8524" x="9985375" y="3717925"/>
          <p14:tracePt t="8541" x="10085388" y="3717925"/>
          <p14:tracePt t="8542" x="10094913" y="3717925"/>
          <p14:tracePt t="8558" x="10186988" y="3717925"/>
          <p14:tracePt t="8574" x="10279063" y="3717925"/>
          <p14:tracePt t="8591" x="10371138" y="3717925"/>
          <p14:tracePt t="8591" x="10379075" y="3717925"/>
          <p14:tracePt t="8608" x="10471150" y="3717925"/>
          <p14:tracePt t="8624" x="10547350" y="3727450"/>
          <p14:tracePt t="8641" x="10623550" y="3727450"/>
          <p14:tracePt t="8658" x="10682288" y="3727450"/>
          <p14:tracePt t="8674" x="10748963" y="3727450"/>
          <p14:tracePt t="8691" x="10799763" y="3735388"/>
          <p14:tracePt t="8708" x="10866438" y="3735388"/>
          <p14:tracePt t="8724" x="10941050" y="3743325"/>
          <p14:tracePt t="8741" x="11017250" y="3743325"/>
          <p14:tracePt t="8742" x="11025188" y="3743325"/>
          <p14:tracePt t="8758" x="11101388" y="3743325"/>
          <p14:tracePt t="8775" x="11185525" y="3743325"/>
          <p14:tracePt t="8791" x="11260138" y="3743325"/>
          <p14:tracePt t="8792" x="11269663" y="3743325"/>
          <p14:tracePt t="8808" x="11352213" y="3743325"/>
          <p14:tracePt t="8824" x="11436350" y="3735388"/>
          <p14:tracePt t="8841" x="11512550" y="3735388"/>
          <p14:tracePt t="8858" x="11571288" y="3735388"/>
          <p14:tracePt t="8874" x="11604625" y="3735388"/>
          <p14:tracePt t="8891" x="11622088" y="3735388"/>
          <p14:tracePt t="8928" x="11630025" y="3735388"/>
          <p14:tracePt t="8997" x="11637963" y="3735388"/>
          <p14:tracePt t="9041" x="11645900" y="3735388"/>
          <p14:tracePt t="9046" x="11645900" y="3743325"/>
          <p14:tracePt t="9058" x="11655425" y="3752850"/>
          <p14:tracePt t="9074" x="11663363" y="3768725"/>
          <p14:tracePt t="9091" x="11680825" y="3794125"/>
          <p14:tracePt t="9108" x="11688763" y="3819525"/>
          <p14:tracePt t="9124" x="11704638" y="3852863"/>
          <p14:tracePt t="9141" x="11704638" y="3870325"/>
          <p14:tracePt t="9158" x="11714163" y="3894138"/>
          <p14:tracePt t="9174" x="11714163" y="3903663"/>
          <p14:tracePt t="9191" x="11714163" y="3919538"/>
          <p14:tracePt t="9208" x="11714163" y="3937000"/>
          <p14:tracePt t="9224" x="11714163" y="3952875"/>
          <p14:tracePt t="9241" x="11696700" y="3970338"/>
          <p14:tracePt t="9258" x="11680825" y="3995738"/>
          <p14:tracePt t="9274" x="11655425" y="4021138"/>
          <p14:tracePt t="9291" x="11630025" y="4037013"/>
          <p14:tracePt t="9308" x="11604625" y="4062413"/>
          <p14:tracePt t="9324" x="11571288" y="4079875"/>
          <p14:tracePt t="9341" x="11537950" y="4095750"/>
          <p14:tracePt t="9341" x="11528425" y="4095750"/>
          <p14:tracePt t="9358" x="11495088" y="4113213"/>
          <p14:tracePt t="9374" x="11453813" y="4130675"/>
          <p14:tracePt t="9391" x="11410950" y="4138613"/>
          <p14:tracePt t="9408" x="11369675" y="4146550"/>
          <p14:tracePt t="9424" x="11318875" y="4154488"/>
          <p14:tracePt t="9425" x="11310938" y="4154488"/>
          <p14:tracePt t="9441" x="11252200" y="4164013"/>
          <p14:tracePt t="9458" x="11185525" y="4171950"/>
          <p14:tracePt t="9474" x="11117263" y="4179888"/>
          <p14:tracePt t="9491" x="11042650" y="4189413"/>
          <p14:tracePt t="9492" x="11034713" y="4189413"/>
          <p14:tracePt t="9508" x="10966450" y="4197350"/>
          <p14:tracePt t="9524" x="10882313" y="4197350"/>
          <p14:tracePt t="9525" x="10874375" y="4197350"/>
          <p14:tracePt t="9541" x="10782300" y="4205288"/>
          <p14:tracePt t="9558" x="10690225" y="4205288"/>
          <p14:tracePt t="9574" x="10580688" y="4205288"/>
          <p14:tracePt t="9591" x="10480675" y="4205288"/>
          <p14:tracePt t="9608" x="10379075" y="4205288"/>
          <p14:tracePt t="9624" x="10271125" y="4205288"/>
          <p14:tracePt t="9641" x="10161588" y="4197350"/>
          <p14:tracePt t="9641" x="10153650" y="4197350"/>
          <p14:tracePt t="9658" x="10044113" y="4197350"/>
          <p14:tracePt t="9674" x="9926638" y="4197350"/>
          <p14:tracePt t="9691" x="9809163" y="4189413"/>
          <p14:tracePt t="9708" x="9691688" y="4189413"/>
          <p14:tracePt t="9724" x="9590088" y="4189413"/>
          <p14:tracePt t="9725" x="9582150" y="4189413"/>
          <p14:tracePt t="9741" x="9498013" y="4189413"/>
          <p14:tracePt t="9741" x="9490075" y="4189413"/>
          <p14:tracePt t="9758" x="9405938" y="4189413"/>
          <p14:tracePt t="9774" x="9321800" y="4189413"/>
          <p14:tracePt t="9775" x="9321800" y="4197350"/>
          <p14:tracePt t="9791" x="9221788" y="4205288"/>
          <p14:tracePt t="9808" x="9137650" y="4205288"/>
          <p14:tracePt t="9824" x="9078913" y="4205288"/>
          <p14:tracePt t="9825" x="9070975" y="4205288"/>
          <p14:tracePt t="9841" x="9020175" y="4213225"/>
          <p14:tracePt t="9858" x="8978900" y="4213225"/>
          <p14:tracePt t="9874" x="8943975" y="4213225"/>
          <p14:tracePt t="9891" x="8902700" y="4222750"/>
          <p14:tracePt t="9908" x="8843963" y="4222750"/>
          <p14:tracePt t="9924" x="8802688" y="4238625"/>
          <p14:tracePt t="9925" x="8793163" y="4238625"/>
          <p14:tracePt t="9941" x="8726488" y="4238625"/>
          <p14:tracePt t="9958" x="8667750" y="4248150"/>
          <p14:tracePt t="9974" x="8583613" y="4256088"/>
          <p14:tracePt t="9975" x="8575675" y="4256088"/>
          <p14:tracePt t="9991" x="8491538" y="4264025"/>
          <p14:tracePt t="10008" x="8366125" y="4271963"/>
          <p14:tracePt t="10024" x="8248650" y="4281488"/>
          <p14:tracePt t="10025" x="8239125" y="4281488"/>
          <p14:tracePt t="10041" x="8113713" y="4297363"/>
          <p14:tracePt t="10058" x="7996238" y="4297363"/>
          <p14:tracePt t="10074" x="7878763" y="4306888"/>
          <p14:tracePt t="10091" x="7778750" y="4306888"/>
          <p14:tracePt t="10108" x="7686675" y="4314825"/>
          <p14:tracePt t="10124" x="7610475" y="4314825"/>
          <p14:tracePt t="10141" x="7551738" y="4314825"/>
          <p14:tracePt t="10158" x="7518400" y="4322763"/>
          <p14:tracePt t="10174" x="7493000" y="4322763"/>
          <p14:tracePt t="10191" x="7475538" y="4322763"/>
          <p14:tracePt t="10208" x="7459663" y="4330700"/>
          <p14:tracePt t="10224" x="7442200" y="4330700"/>
          <p14:tracePt t="10225" x="7434263" y="4330700"/>
          <p14:tracePt t="10241" x="7408863" y="4330700"/>
          <p14:tracePt t="10242" x="7400925" y="4340225"/>
          <p14:tracePt t="10257" x="7350125" y="4340225"/>
          <p14:tracePt t="10274" x="7299325" y="4340225"/>
          <p14:tracePt t="10291" x="7240588" y="4348163"/>
          <p14:tracePt t="10291" x="7232650" y="4348163"/>
          <p14:tracePt t="10308" x="7181850" y="4348163"/>
          <p14:tracePt t="10324" x="7123113" y="4356100"/>
          <p14:tracePt t="10341" x="7048500" y="4365625"/>
          <p14:tracePt t="10341" x="7040563" y="4365625"/>
          <p14:tracePt t="10358" x="6956425" y="4381500"/>
          <p14:tracePt t="10374" x="6880225" y="4398963"/>
          <p14:tracePt t="10391" x="6796088" y="4406900"/>
          <p14:tracePt t="10408" x="6729413" y="4414838"/>
          <p14:tracePt t="10424" x="6678613" y="4414838"/>
          <p14:tracePt t="10441" x="6637338" y="4432300"/>
          <p14:tracePt t="10458" x="6594475" y="4432300"/>
          <p14:tracePt t="10474" x="6553200" y="4432300"/>
          <p14:tracePt t="10491" x="6527800" y="4440238"/>
          <p14:tracePt t="10508" x="6502400" y="4440238"/>
          <p14:tracePt t="10524" x="6486525" y="4440238"/>
          <p14:tracePt t="10541" x="6477000" y="4440238"/>
          <p14:tracePt t="10558" x="6469063" y="4440238"/>
          <p14:tracePt t="10574" x="6461125" y="4440238"/>
          <p14:tracePt t="12903" x="6453188" y="4440238"/>
          <p14:tracePt t="12909" x="6443663" y="4440238"/>
          <p14:tracePt t="12913" x="6435725" y="4440238"/>
          <p14:tracePt t="12924" x="6402388" y="4424363"/>
          <p14:tracePt t="12941" x="6343650" y="4381500"/>
          <p14:tracePt t="12957" x="6284913" y="4330700"/>
          <p14:tracePt t="12974" x="6208713" y="4281488"/>
          <p14:tracePt t="12991" x="6142038" y="4222750"/>
          <p14:tracePt t="13008" x="6083300" y="4171950"/>
          <p14:tracePt t="13024" x="6042025" y="4138613"/>
          <p14:tracePt t="13041" x="6024563" y="4105275"/>
          <p14:tracePt t="13058" x="6008688" y="4071938"/>
          <p14:tracePt t="13074" x="5973763" y="4021138"/>
          <p14:tracePt t="13091" x="5932488" y="3952875"/>
          <p14:tracePt t="13108" x="5899150" y="3894138"/>
          <p14:tracePt t="13124" x="5873750" y="3844925"/>
          <p14:tracePt t="13124" x="5873750" y="3835400"/>
          <p14:tracePt t="13141" x="5865813" y="3776663"/>
          <p14:tracePt t="13158" x="5865813" y="3702050"/>
          <p14:tracePt t="13174" x="5865813" y="3625850"/>
          <p14:tracePt t="13174" x="5865813" y="3609975"/>
          <p14:tracePt t="13191" x="5865813" y="3517900"/>
          <p14:tracePt t="13207" x="5865813" y="3441700"/>
          <p14:tracePt t="13224" x="5881688" y="3365500"/>
          <p14:tracePt t="13224" x="5881688" y="3357563"/>
          <p14:tracePt t="13241" x="5924550" y="3281363"/>
          <p14:tracePt t="13257" x="5999163" y="3181350"/>
          <p14:tracePt t="13274" x="6083300" y="3097213"/>
          <p14:tracePt t="13275" x="6100763" y="3081338"/>
          <p14:tracePt t="13291" x="6200775" y="3005138"/>
          <p14:tracePt t="13308" x="6335713" y="2928938"/>
          <p14:tracePt t="13324" x="6477000" y="2879725"/>
          <p14:tracePt t="13324" x="6486525" y="2870200"/>
          <p14:tracePt t="13341" x="6662738" y="2836863"/>
          <p14:tracePt t="13341" x="6670675" y="2828925"/>
          <p14:tracePt t="13357" x="6864350" y="2811463"/>
          <p14:tracePt t="13374" x="7048500" y="2803525"/>
          <p14:tracePt t="13374" x="7064375" y="2803525"/>
          <p14:tracePt t="13391" x="7258050" y="2803525"/>
          <p14:tracePt t="13407" x="7467600" y="2803525"/>
          <p14:tracePt t="13424" x="7643813" y="2803525"/>
          <p14:tracePt t="13424" x="7651750" y="2811463"/>
          <p14:tracePt t="13441" x="7827963" y="2828925"/>
          <p14:tracePt t="13457" x="8013700" y="2870200"/>
          <p14:tracePt t="13474" x="8197850" y="2905125"/>
          <p14:tracePt t="13474" x="8215313" y="2905125"/>
          <p14:tracePt t="13491" x="8399463" y="2954338"/>
          <p14:tracePt t="13507" x="8650288" y="3022600"/>
          <p14:tracePt t="13524" x="8894763" y="3071813"/>
          <p14:tracePt t="13525" x="8910638" y="3071813"/>
          <p14:tracePt t="13541" x="9170988" y="3130550"/>
          <p14:tracePt t="13558" x="9431338" y="3189288"/>
          <p14:tracePt t="13574" x="9707563" y="3248025"/>
          <p14:tracePt t="13575" x="9725025" y="3257550"/>
          <p14:tracePt t="13591" x="10010775" y="3332163"/>
          <p14:tracePt t="13607" x="10287000" y="3408363"/>
          <p14:tracePt t="13624" x="10547350" y="3475038"/>
          <p14:tracePt t="13625" x="10564813" y="3482975"/>
          <p14:tracePt t="13645" x="10848975" y="3567113"/>
          <p14:tracePt t="13646" x="10858500" y="3576638"/>
          <p14:tracePt t="13657" x="10991850" y="3625850"/>
          <p14:tracePt t="13658" x="10999788" y="3635375"/>
          <p14:tracePt t="13674" x="11152188" y="3709988"/>
          <p14:tracePt t="13674" x="11160125" y="3709988"/>
          <p14:tracePt t="13691" x="11260138" y="3776663"/>
          <p14:tracePt t="13707" x="11328400" y="3827463"/>
          <p14:tracePt t="13724" x="11369675" y="3878263"/>
          <p14:tracePt t="13741" x="11395075" y="3929063"/>
          <p14:tracePt t="13757" x="11420475" y="3987800"/>
          <p14:tracePt t="13774" x="11436350" y="4046538"/>
          <p14:tracePt t="13774" x="11445875" y="4046538"/>
          <p14:tracePt t="13791" x="11461750" y="4130675"/>
          <p14:tracePt t="13808" x="11487150" y="4222750"/>
          <p14:tracePt t="13824" x="11495088" y="4314825"/>
          <p14:tracePt t="13841" x="11495088" y="4406900"/>
          <p14:tracePt t="13857" x="11479213" y="4516438"/>
          <p14:tracePt t="13874" x="11453813" y="4608513"/>
          <p14:tracePt t="13891" x="11420475" y="4725988"/>
          <p14:tracePt t="13907" x="11369675" y="4835525"/>
          <p14:tracePt t="13924" x="11310938" y="4927600"/>
          <p14:tracePt t="13924" x="11303000" y="4935538"/>
          <p14:tracePt t="13942" x="11226800" y="5027613"/>
          <p14:tracePt t="13974" x="11050588" y="5178425"/>
          <p14:tracePt t="13991" x="10941050" y="5246688"/>
          <p14:tracePt t="14007" x="10807700" y="5313363"/>
          <p14:tracePt t="14024" x="10664825" y="5372100"/>
          <p14:tracePt t="14025" x="10656888" y="5380038"/>
          <p14:tracePt t="14041" x="10471150" y="5438775"/>
          <p14:tracePt t="14058" x="10271125" y="5489575"/>
          <p14:tracePt t="14074" x="10069513" y="5522913"/>
          <p14:tracePt t="14074" x="10052050" y="5532438"/>
          <p14:tracePt t="14091" x="9850438" y="5565775"/>
          <p14:tracePt t="14107" x="9632950" y="5599113"/>
          <p14:tracePt t="14124" x="9448800" y="5624513"/>
          <p14:tracePt t="14124" x="9431338" y="5624513"/>
          <p14:tracePt t="14141" x="9255125" y="5657850"/>
          <p14:tracePt t="14157" x="9086850" y="5673725"/>
          <p14:tracePt t="14158" x="9078913" y="5673725"/>
          <p14:tracePt t="14174" x="8920163" y="5683250"/>
          <p14:tracePt t="14174" x="8910638" y="5683250"/>
          <p14:tracePt t="14191" x="8743950" y="5691188"/>
          <p14:tracePt t="14207" x="8558213" y="5691188"/>
          <p14:tracePt t="14224" x="8399463" y="5699125"/>
          <p14:tracePt t="14241" x="8239125" y="5699125"/>
          <p14:tracePt t="14257" x="8105775" y="5699125"/>
          <p14:tracePt t="14258" x="8097838" y="5699125"/>
          <p14:tracePt t="14274" x="7962900" y="5699125"/>
          <p14:tracePt t="14274" x="7954963" y="5699125"/>
          <p14:tracePt t="14291" x="7837488" y="5691188"/>
          <p14:tracePt t="14292" x="7827963" y="5691188"/>
          <p14:tracePt t="14307" x="7702550" y="5673725"/>
          <p14:tracePt t="14324" x="7577138" y="5665788"/>
          <p14:tracePt t="14325" x="7569200" y="5665788"/>
          <p14:tracePt t="14341" x="7408863" y="5649913"/>
          <p14:tracePt t="14358" x="7250113" y="5632450"/>
          <p14:tracePt t="14374" x="7099300" y="5624513"/>
          <p14:tracePt t="14374" x="7089775" y="5614988"/>
          <p14:tracePt t="14391" x="6972300" y="5607050"/>
          <p14:tracePt t="14407" x="6880225" y="5591175"/>
          <p14:tracePt t="14424" x="6805613" y="5573713"/>
          <p14:tracePt t="14441" x="6729413" y="5556250"/>
          <p14:tracePt t="14457" x="6670675" y="5540375"/>
          <p14:tracePt t="14474" x="6604000" y="5514975"/>
          <p14:tracePt t="14475" x="6594475" y="5514975"/>
          <p14:tracePt t="14491" x="6527800" y="5489575"/>
          <p14:tracePt t="14508" x="6461125" y="5464175"/>
          <p14:tracePt t="14508" x="6461125" y="5456238"/>
          <p14:tracePt t="14524" x="6410325" y="5438775"/>
          <p14:tracePt t="14524" x="6410325" y="5430838"/>
          <p14:tracePt t="14541" x="6335713" y="5405438"/>
          <p14:tracePt t="14558" x="6251575" y="5364163"/>
          <p14:tracePt t="14574" x="6167438" y="5321300"/>
          <p14:tracePt t="14574" x="6159500" y="5321300"/>
          <p14:tracePt t="14591" x="6075363" y="5280025"/>
          <p14:tracePt t="14607" x="5991225" y="5237163"/>
          <p14:tracePt t="14624" x="5915025" y="5187950"/>
          <p14:tracePt t="14624" x="5915025" y="5178425"/>
          <p14:tracePt t="14641" x="5832475" y="5119688"/>
          <p14:tracePt t="14657" x="5738813" y="5053013"/>
          <p14:tracePt t="14674" x="5646738" y="4978400"/>
          <p14:tracePt t="14675" x="5638800" y="4978400"/>
          <p14:tracePt t="14691" x="5546725" y="4910138"/>
          <p14:tracePt t="14708" x="5487988" y="4843463"/>
          <p14:tracePt t="14724" x="5437188" y="4776788"/>
          <p14:tracePt t="14724" x="5437188" y="4767263"/>
          <p14:tracePt t="14741" x="5403850" y="4700588"/>
          <p14:tracePt t="14758" x="5362575" y="4616450"/>
          <p14:tracePt t="14774" x="5327650" y="4541838"/>
          <p14:tracePt t="14774" x="5327650" y="4524375"/>
          <p14:tracePt t="14791" x="5311775" y="4457700"/>
          <p14:tracePt t="14808" x="5303838" y="4398963"/>
          <p14:tracePt t="14824" x="5294313" y="4356100"/>
          <p14:tracePt t="14841" x="5294313" y="4322763"/>
          <p14:tracePt t="14857" x="5294313" y="4289425"/>
          <p14:tracePt t="14874" x="5294313" y="4256088"/>
          <p14:tracePt t="14891" x="5294313" y="4230688"/>
          <p14:tracePt t="14907" x="5294313" y="4205288"/>
          <p14:tracePt t="14924" x="5294313" y="4189413"/>
          <p14:tracePt t="14941" x="5303838" y="4171950"/>
          <p14:tracePt t="14957" x="5303838" y="4146550"/>
          <p14:tracePt t="14974" x="5311775" y="4121150"/>
          <p14:tracePt t="14991" x="5319713" y="4105275"/>
          <p14:tracePt t="15007" x="5327650" y="4071938"/>
          <p14:tracePt t="15024" x="5353050" y="4037013"/>
          <p14:tracePt t="15041" x="5378450" y="4003675"/>
          <p14:tracePt t="15058" x="5411788" y="3962400"/>
          <p14:tracePt t="15074" x="5454650" y="3911600"/>
          <p14:tracePt t="15091" x="5513388" y="3870325"/>
          <p14:tracePt t="15107" x="5572125" y="3827463"/>
          <p14:tracePt t="15124" x="5638800" y="3776663"/>
          <p14:tracePt t="15124" x="5646738" y="3768725"/>
          <p14:tracePt t="15141" x="5715000" y="3727450"/>
          <p14:tracePt t="15157" x="5807075" y="3668713"/>
          <p14:tracePt t="15174" x="5899150" y="3625850"/>
          <p14:tracePt t="15175" x="5907088" y="3617913"/>
          <p14:tracePt t="15191" x="6016625" y="3584575"/>
          <p14:tracePt t="15207" x="6124575" y="3559175"/>
          <p14:tracePt t="15208" x="6124575" y="3551238"/>
          <p14:tracePt t="15224" x="6226175" y="3533775"/>
          <p14:tracePt t="15241" x="6310313" y="3525838"/>
          <p14:tracePt t="15257" x="6369050" y="3517900"/>
          <p14:tracePt t="15258" x="6376988" y="3517900"/>
          <p14:tracePt t="15274" x="6435725" y="3508375"/>
          <p14:tracePt t="15275" x="6443663" y="3508375"/>
          <p14:tracePt t="15291" x="6502400" y="3500438"/>
          <p14:tracePt t="15307" x="6578600" y="3492500"/>
          <p14:tracePt t="15324" x="6611938" y="3482975"/>
          <p14:tracePt t="28327" x="6619875" y="3482975"/>
          <p14:tracePt t="28340" x="6670675" y="3482975"/>
          <p14:tracePt t="28357" x="6762750" y="3482975"/>
          <p14:tracePt t="28373" x="6872288" y="3467100"/>
          <p14:tracePt t="28390" x="6956425" y="3441700"/>
          <p14:tracePt t="28391" x="6964363" y="3441700"/>
          <p14:tracePt t="28407" x="7005638" y="3433763"/>
          <p14:tracePt t="28423" x="7040563" y="3433763"/>
          <p14:tracePt t="28440" x="7073900" y="3424238"/>
          <p14:tracePt t="28440" x="7081838" y="3424238"/>
          <p14:tracePt t="28457" x="7132638" y="3408363"/>
          <p14:tracePt t="28473" x="7181850" y="3390900"/>
          <p14:tracePt t="28490" x="7232650" y="3382963"/>
          <p14:tracePt t="28507" x="7291388" y="3375025"/>
          <p14:tracePt t="28523" x="7383463" y="3357563"/>
          <p14:tracePt t="28540" x="7493000" y="3340100"/>
          <p14:tracePt t="28541" x="7500938" y="3340100"/>
          <p14:tracePt t="28557" x="7602538" y="3340100"/>
          <p14:tracePt t="28574" x="7702550" y="3332163"/>
          <p14:tracePt t="28590" x="7812088" y="3332163"/>
          <p14:tracePt t="28607" x="7945438" y="3324225"/>
          <p14:tracePt t="28607" x="7954963" y="3324225"/>
          <p14:tracePt t="28623" x="8062913" y="3316288"/>
          <p14:tracePt t="28624" x="8080375" y="3316288"/>
          <p14:tracePt t="28640" x="8197850" y="3298825"/>
          <p14:tracePt t="28657" x="8356600" y="3290888"/>
          <p14:tracePt t="28673" x="8532813" y="3273425"/>
          <p14:tracePt t="28690" x="8734425" y="3273425"/>
          <p14:tracePt t="28707" x="8961438" y="3273425"/>
          <p14:tracePt t="28723" x="9145588" y="3273425"/>
          <p14:tracePt t="28724" x="9163050" y="3273425"/>
          <p14:tracePt t="28740" x="9305925" y="3273425"/>
          <p14:tracePt t="28740" x="9321800" y="3273425"/>
          <p14:tracePt t="28757" x="9439275" y="3290888"/>
          <p14:tracePt t="28773" x="9556750" y="3298825"/>
          <p14:tracePt t="28790" x="9683750" y="3316288"/>
          <p14:tracePt t="28790" x="9691688" y="3316288"/>
          <p14:tracePt t="28807" x="9801225" y="3324225"/>
          <p14:tracePt t="28824" x="9926638" y="3332163"/>
          <p14:tracePt t="28840" x="10018713" y="3332163"/>
          <p14:tracePt t="28857" x="10102850" y="3340100"/>
          <p14:tracePt t="28873" x="10177463" y="3357563"/>
          <p14:tracePt t="28874" x="10194925" y="3357563"/>
          <p14:tracePt t="28890" x="10279063" y="3365500"/>
          <p14:tracePt t="28907" x="10371138" y="3375025"/>
          <p14:tracePt t="28923" x="10480675" y="3382963"/>
          <p14:tracePt t="28924" x="10480675" y="3390900"/>
          <p14:tracePt t="28940" x="10588625" y="3398838"/>
          <p14:tracePt t="28940" x="10598150" y="3398838"/>
          <p14:tracePt t="28957" x="10698163" y="3416300"/>
          <p14:tracePt t="28973" x="10782300" y="3433763"/>
          <p14:tracePt t="28974" x="10790238" y="3433763"/>
          <p14:tracePt t="28990" x="10882313" y="3449638"/>
          <p14:tracePt t="29007" x="10983913" y="3467100"/>
          <p14:tracePt t="29024" x="11093450" y="3482975"/>
          <p14:tracePt t="29040" x="11185525" y="3508375"/>
          <p14:tracePt t="29040" x="11193463" y="3508375"/>
          <p14:tracePt t="29057" x="11269663" y="3533775"/>
          <p14:tracePt t="29073" x="11344275" y="3551238"/>
          <p14:tracePt t="29090" x="11403013" y="3567113"/>
          <p14:tracePt t="29107" x="11453813" y="3584575"/>
          <p14:tracePt t="29123" x="11479213" y="3600450"/>
          <p14:tracePt t="29140" x="11512550" y="3617913"/>
          <p14:tracePt t="29157" x="11537950" y="3643313"/>
          <p14:tracePt t="29173" x="11553825" y="3651250"/>
          <p14:tracePt t="29174" x="11553825" y="3659188"/>
          <p14:tracePt t="29190" x="11571288" y="3676650"/>
          <p14:tracePt t="29207" x="11587163" y="3702050"/>
          <p14:tracePt t="29223" x="11612563" y="3727450"/>
          <p14:tracePt t="29224" x="11612563" y="3735388"/>
          <p14:tracePt t="29240" x="11637963" y="3768725"/>
          <p14:tracePt t="29257" x="11655425" y="3811588"/>
          <p14:tracePt t="29273" x="11680825" y="3852863"/>
          <p14:tracePt t="29290" x="11696700" y="3894138"/>
          <p14:tracePt t="29291" x="11696700" y="3903663"/>
          <p14:tracePt t="29307" x="11714163" y="3944938"/>
          <p14:tracePt t="29323" x="11722100" y="3987800"/>
          <p14:tracePt t="29340" x="11730038" y="4021138"/>
          <p14:tracePt t="29341" x="11730038" y="4029075"/>
          <p14:tracePt t="29357" x="11730038" y="4054475"/>
          <p14:tracePt t="29373" x="11730038" y="4087813"/>
          <p14:tracePt t="29390" x="11730038" y="4105275"/>
          <p14:tracePt t="29407" x="11730038" y="4130675"/>
          <p14:tracePt t="29423" x="11722100" y="4146550"/>
          <p14:tracePt t="29440" x="11704638" y="4164013"/>
          <p14:tracePt t="29457" x="11704638" y="4179888"/>
          <p14:tracePt t="29473" x="11688763" y="4197350"/>
          <p14:tracePt t="29490" x="11671300" y="4213225"/>
          <p14:tracePt t="29507" x="11630025" y="4238625"/>
          <p14:tracePt t="29523" x="11587163" y="4271963"/>
          <p14:tracePt t="29524" x="11579225" y="4271963"/>
          <p14:tracePt t="29540" x="11545888" y="4297363"/>
          <p14:tracePt t="29557" x="11495088" y="4330700"/>
          <p14:tracePt t="29557" x="11487150" y="4330700"/>
          <p14:tracePt t="29573" x="11453813" y="4348163"/>
          <p14:tracePt t="29574" x="11445875" y="4348163"/>
          <p14:tracePt t="29590" x="11403013" y="4365625"/>
          <p14:tracePt t="29590" x="11403013" y="4373563"/>
          <p14:tracePt t="29607" x="11344275" y="4389438"/>
          <p14:tracePt t="29623" x="11285538" y="4406900"/>
          <p14:tracePt t="29624" x="11277600" y="4406900"/>
          <p14:tracePt t="29640" x="11234738" y="4414838"/>
          <p14:tracePt t="29657" x="11176000" y="4424363"/>
          <p14:tracePt t="29673" x="11134725" y="4432300"/>
          <p14:tracePt t="29690" x="11101388" y="4432300"/>
          <p14:tracePt t="29707" x="11093450" y="4432300"/>
          <p14:tracePt t="29723" x="11075988" y="4432300"/>
          <p14:tracePt t="29742" x="11068050" y="4432300"/>
          <p14:tracePt t="29757" x="11058525" y="4432300"/>
          <p14:tracePt t="29773" x="11034713" y="4414838"/>
          <p14:tracePt t="29790" x="11009313" y="4406900"/>
          <p14:tracePt t="29807" x="10975975" y="4381500"/>
          <p14:tracePt t="29827" x="10941050" y="4356100"/>
          <p14:tracePt t="29840" x="10933113" y="4340225"/>
          <p14:tracePt t="29857" x="10899775" y="4314825"/>
          <p14:tracePt t="29873" x="10882313" y="4306888"/>
          <p14:tracePt t="29874" x="10882313" y="4297363"/>
          <p14:tracePt t="29890" x="10858500" y="4281488"/>
          <p14:tracePt t="29907" x="10841038" y="4256088"/>
          <p14:tracePt t="29923" x="10823575" y="4248150"/>
          <p14:tracePt t="29940" x="10815638" y="4222750"/>
          <p14:tracePt t="29957" x="10799763" y="4213225"/>
          <p14:tracePt t="29973" x="10790238" y="4197350"/>
          <p14:tracePt t="29990" x="10782300" y="4179888"/>
          <p14:tracePt t="29990" x="10782300" y="4171950"/>
          <p14:tracePt t="30007" x="10774363" y="4154488"/>
          <p14:tracePt t="30023" x="10764838" y="4138613"/>
          <p14:tracePt t="30040" x="10764838" y="4121150"/>
          <p14:tracePt t="30057" x="10764838" y="4105275"/>
          <p14:tracePt t="30073" x="10764838" y="4095750"/>
          <p14:tracePt t="30090" x="10764838" y="4071938"/>
          <p14:tracePt t="30106" x="10764838" y="4062413"/>
          <p14:tracePt t="30123" x="10764838" y="4037013"/>
          <p14:tracePt t="30140" x="10774363" y="4011613"/>
          <p14:tracePt t="30157" x="10790238" y="3995738"/>
          <p14:tracePt t="30173" x="10799763" y="3970338"/>
          <p14:tracePt t="30190" x="10815638" y="3952875"/>
          <p14:tracePt t="30207" x="10833100" y="3929063"/>
          <p14:tracePt t="30223" x="10848975" y="3894138"/>
          <p14:tracePt t="30224" x="10858500" y="3894138"/>
          <p14:tracePt t="30240" x="10874375" y="3870325"/>
          <p14:tracePt t="30256" x="10899775" y="3844925"/>
          <p14:tracePt t="30273" x="10917238" y="3827463"/>
          <p14:tracePt t="30290" x="10941050" y="3811588"/>
          <p14:tracePt t="30307" x="10966450" y="3794125"/>
          <p14:tracePt t="30323" x="10999788" y="3776663"/>
          <p14:tracePt t="30340" x="11034713" y="3760788"/>
          <p14:tracePt t="30357" x="11083925" y="3752850"/>
          <p14:tracePt t="30373" x="11134725" y="3735388"/>
          <p14:tracePt t="30390" x="11193463" y="3735388"/>
          <p14:tracePt t="30390" x="11193463" y="3727450"/>
          <p14:tracePt t="30406" x="11252200" y="3727450"/>
          <p14:tracePt t="30423" x="11303000" y="3727450"/>
          <p14:tracePt t="30424" x="11310938" y="3727450"/>
          <p14:tracePt t="30440" x="11344275" y="3727450"/>
          <p14:tracePt t="30457" x="11377613" y="3727450"/>
          <p14:tracePt t="30473" x="11403013" y="3727450"/>
          <p14:tracePt t="30490" x="11428413" y="3743325"/>
          <p14:tracePt t="30490" x="11436350" y="3743325"/>
          <p14:tracePt t="30506" x="11461750" y="3743325"/>
          <p14:tracePt t="30523" x="11487150" y="3752850"/>
          <p14:tracePt t="30524" x="11487150" y="3760788"/>
          <p14:tracePt t="30540" x="11504613" y="3760788"/>
          <p14:tracePt t="30557" x="11520488" y="3776663"/>
          <p14:tracePt t="30573" x="11537950" y="3786188"/>
          <p14:tracePt t="30590" x="11553825" y="3794125"/>
          <p14:tracePt t="30607" x="11571288" y="3811588"/>
          <p14:tracePt t="30623" x="11579225" y="3827463"/>
          <p14:tracePt t="30640" x="11587163" y="3844925"/>
          <p14:tracePt t="30657" x="11604625" y="3852863"/>
          <p14:tracePt t="30673" x="11612563" y="3860800"/>
          <p14:tracePt t="30690" x="11622088" y="3878263"/>
          <p14:tracePt t="30706" x="11622088" y="3886200"/>
          <p14:tracePt t="30723" x="11630025" y="3894138"/>
          <p14:tracePt t="30744" x="11630025" y="3903663"/>
          <p14:tracePt t="30756" x="11637963" y="3903663"/>
          <p14:tracePt t="30773" x="11637963" y="3911600"/>
          <p14:tracePt t="30807" x="11637963" y="3919538"/>
          <p14:tracePt t="30823" x="11637963" y="3929063"/>
          <p14:tracePt t="30840" x="11637963" y="3937000"/>
          <p14:tracePt t="30857" x="11645900" y="3952875"/>
          <p14:tracePt t="30873" x="11645900" y="3962400"/>
          <p14:tracePt t="30874" x="11645900" y="3970338"/>
          <p14:tracePt t="30890" x="11645900" y="3978275"/>
          <p14:tracePt t="30906" x="11645900" y="3995738"/>
          <p14:tracePt t="30923" x="11645900" y="4003675"/>
          <p14:tracePt t="30940" x="11645900" y="4021138"/>
          <p14:tracePt t="30957" x="11645900" y="4029075"/>
          <p14:tracePt t="30973" x="11645900" y="4037013"/>
          <p14:tracePt t="30990" x="11645900" y="4054475"/>
          <p14:tracePt t="31006" x="11637963" y="4062413"/>
          <p14:tracePt t="31023" x="11630025" y="4071938"/>
          <p14:tracePt t="31040" x="11630025" y="4087813"/>
          <p14:tracePt t="31057" x="11622088" y="4095750"/>
          <p14:tracePt t="31073" x="11612563" y="4105275"/>
          <p14:tracePt t="31090" x="11596688" y="4121150"/>
          <p14:tracePt t="31106" x="11587163" y="4130675"/>
          <p14:tracePt t="31123" x="11579225" y="4138613"/>
          <p14:tracePt t="31140" x="11563350" y="4154488"/>
          <p14:tracePt t="31156" x="11553825" y="4164013"/>
          <p14:tracePt t="31173" x="11545888" y="4171950"/>
          <p14:tracePt t="31190" x="11537950" y="4171950"/>
          <p14:tracePt t="31223" x="11520488" y="4179888"/>
          <p14:tracePt t="31243" x="11520488" y="4189413"/>
          <p14:tracePt t="31256" x="11512550" y="4189413"/>
          <p14:tracePt t="31422" x="11504613" y="4189413"/>
          <p14:tracePt t="31448" x="11495088" y="4189413"/>
          <p14:tracePt t="31459" x="11495088" y="4197350"/>
          <p14:tracePt t="31650" x="11495088" y="4205288"/>
          <p14:tracePt t="31655" x="11495088" y="4213225"/>
          <p14:tracePt t="31660" x="11495088" y="4222750"/>
          <p14:tracePt t="31673" x="11512550" y="4248150"/>
          <p14:tracePt t="31674" x="11520488" y="4256088"/>
          <p14:tracePt t="31690" x="11571288" y="4306888"/>
          <p14:tracePt t="31707" x="11655425" y="4381500"/>
          <p14:tracePt t="31723" x="11780838" y="4465638"/>
          <p14:tracePt t="31723" x="11788775" y="4473575"/>
          <p14:tracePt t="31740" x="11939588" y="4575175"/>
          <p14:tracePt t="31756" x="12115800" y="4684713"/>
          <p14:tracePt t="45851" x="12166600" y="3063875"/>
          <p14:tracePt t="45851" x="12158663" y="3055938"/>
          <p14:tracePt t="45856" x="12125325" y="2971800"/>
          <p14:tracePt t="45872" x="11957050" y="2627313"/>
          <p14:tracePt t="45889" x="11806238" y="2341563"/>
          <p14:tracePt t="45891" x="11780838" y="2274888"/>
          <p14:tracePt t="45906" x="11612563" y="2006600"/>
          <p14:tracePt t="45922" x="11410950" y="1703388"/>
          <p14:tracePt t="45923" x="11403013" y="1679575"/>
          <p14:tracePt t="45939" x="11185525" y="1384300"/>
          <p14:tracePt t="45940" x="11176000" y="1376363"/>
          <p14:tracePt t="45956" x="10966450" y="1133475"/>
          <p14:tracePt t="45972" x="10731500" y="914400"/>
          <p14:tracePt t="45989" x="10480675" y="722313"/>
          <p14:tracePt t="46006" x="10220325" y="546100"/>
          <p14:tracePt t="46022" x="9952038" y="385763"/>
          <p14:tracePt t="46023" x="9942513" y="377825"/>
          <p14:tracePt t="46039" x="9750425" y="268288"/>
          <p14:tracePt t="46039" x="9742488" y="260350"/>
          <p14:tracePt t="46056" x="9574213" y="158750"/>
          <p14:tracePt t="46073" x="9448800" y="66675"/>
          <p14:tracePt t="46089" x="9347200" y="7938"/>
          <p14:tracePt t="46089" x="9339263" y="0"/>
        </p14:tracePtLst>
      </p14:laserTraceLst>
    </p:ext>
  </p:extLs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5DFC9C6A-5F6D-5A5E-676A-EC3E93D8235A}"/>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AB5A60D-28FF-BBFB-C6C3-6927CD612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E7AC44-75E4-5121-37F3-983EB4ACCC05}"/>
              </a:ext>
            </a:extLst>
          </p:cNvPr>
          <p:cNvSpPr>
            <a:spLocks noGrp="1"/>
          </p:cNvSpPr>
          <p:nvPr>
            <p:ph type="title"/>
          </p:nvPr>
        </p:nvSpPr>
        <p:spPr>
          <a:xfrm>
            <a:off x="1100249" y="137127"/>
            <a:ext cx="4443154" cy="1087819"/>
          </a:xfrm>
        </p:spPr>
        <p:txBody>
          <a:bodyPr vert="horz" lIns="91440" tIns="45720" rIns="91440" bIns="45720" rtlCol="0" anchor="b">
            <a:normAutofit/>
          </a:bodyPr>
          <a:lstStyle/>
          <a:p>
            <a:r>
              <a:rPr lang="en-US" sz="4000" b="1" kern="1200" dirty="0">
                <a:solidFill>
                  <a:schemeClr val="tx1"/>
                </a:solidFill>
                <a:latin typeface="Tenorite Display" panose="00000500000000000000" pitchFamily="2" charset="0"/>
              </a:rPr>
              <a:t>Conclusion</a:t>
            </a:r>
          </a:p>
        </p:txBody>
      </p:sp>
      <p:sp>
        <p:nvSpPr>
          <p:cNvPr id="25" name="Rectangle 24">
            <a:extLst>
              <a:ext uri="{FF2B5EF4-FFF2-40B4-BE49-F238E27FC236}">
                <a16:creationId xmlns:a16="http://schemas.microsoft.com/office/drawing/2014/main" id="{91B000F7-6598-F8C2-C54B-D74B328E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8FA76022-00A6-45ED-2AF4-8E17E81F9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Content Placeholder 3">
            <a:extLst>
              <a:ext uri="{FF2B5EF4-FFF2-40B4-BE49-F238E27FC236}">
                <a16:creationId xmlns:a16="http://schemas.microsoft.com/office/drawing/2014/main" id="{AD7DFC3F-B849-9869-9D3C-631443494DA5}"/>
              </a:ext>
            </a:extLst>
          </p:cNvPr>
          <p:cNvSpPr>
            <a:spLocks noGrp="1"/>
          </p:cNvSpPr>
          <p:nvPr>
            <p:ph idx="1"/>
          </p:nvPr>
        </p:nvSpPr>
        <p:spPr>
          <a:xfrm>
            <a:off x="685799" y="1602748"/>
            <a:ext cx="10515600" cy="4351338"/>
          </a:xfrm>
        </p:spPr>
        <p:txBody>
          <a:bodyPr>
            <a:normAutofit fontScale="70000" lnSpcReduction="20000"/>
          </a:bodyPr>
          <a:lstStyle/>
          <a:p>
            <a:pPr>
              <a:buNone/>
            </a:pPr>
            <a:r>
              <a:rPr lang="en-US" b="1" dirty="0">
                <a:latin typeface="Tenorite" panose="00000500000000000000" pitchFamily="2" charset="0"/>
              </a:rPr>
              <a:t>Limitations</a:t>
            </a:r>
          </a:p>
          <a:p>
            <a:pPr>
              <a:buFont typeface="Arial" panose="020B0604020202020204" pitchFamily="34" charset="0"/>
              <a:buChar char="•"/>
            </a:pPr>
            <a:r>
              <a:rPr lang="en-US" dirty="0">
                <a:latin typeface="Tenorite" panose="00000500000000000000" pitchFamily="2" charset="0"/>
              </a:rPr>
              <a:t>Small sample size in final test evaluations may limit generalizability.</a:t>
            </a:r>
          </a:p>
          <a:p>
            <a:pPr>
              <a:buFont typeface="Arial" panose="020B0604020202020204" pitchFamily="34" charset="0"/>
              <a:buChar char="•"/>
            </a:pPr>
            <a:r>
              <a:rPr lang="en-US" dirty="0" err="1">
                <a:latin typeface="Tenorite" panose="00000500000000000000" pitchFamily="2" charset="0"/>
              </a:rPr>
              <a:t>ClinicalBERT</a:t>
            </a:r>
            <a:r>
              <a:rPr lang="en-US" dirty="0">
                <a:latin typeface="Tenorite" panose="00000500000000000000" pitchFamily="2" charset="0"/>
              </a:rPr>
              <a:t> embeddings were only taken from the first 2500 notes (due to compute constraints).</a:t>
            </a:r>
          </a:p>
          <a:p>
            <a:pPr>
              <a:buFont typeface="Arial" panose="020B0604020202020204" pitchFamily="34" charset="0"/>
              <a:buChar char="•"/>
            </a:pPr>
            <a:r>
              <a:rPr lang="en-US" dirty="0">
                <a:latin typeface="Tenorite" panose="00000500000000000000" pitchFamily="2" charset="0"/>
              </a:rPr>
              <a:t>SMOTE generates synthetic data, which may not fully capture real patient complexity.</a:t>
            </a:r>
          </a:p>
          <a:p>
            <a:pPr>
              <a:buFont typeface="Arial" panose="020B0604020202020204" pitchFamily="34" charset="0"/>
              <a:buChar char="•"/>
            </a:pPr>
            <a:r>
              <a:rPr lang="en-US" dirty="0">
                <a:latin typeface="Tenorite" panose="00000500000000000000" pitchFamily="2" charset="0"/>
              </a:rPr>
              <a:t>Lack of external validation on non-MIMIC datasets.</a:t>
            </a:r>
          </a:p>
          <a:p>
            <a:pPr>
              <a:buNone/>
            </a:pPr>
            <a:endParaRPr lang="en-US" b="1" dirty="0">
              <a:latin typeface="Tenorite" panose="00000500000000000000" pitchFamily="2" charset="0"/>
            </a:endParaRPr>
          </a:p>
          <a:p>
            <a:pPr>
              <a:buNone/>
            </a:pPr>
            <a:r>
              <a:rPr lang="en-US" b="1" dirty="0">
                <a:latin typeface="Tenorite" panose="00000500000000000000" pitchFamily="2" charset="0"/>
              </a:rPr>
              <a:t> Future Work</a:t>
            </a:r>
          </a:p>
          <a:p>
            <a:pPr>
              <a:buFont typeface="Arial" panose="020B0604020202020204" pitchFamily="34" charset="0"/>
              <a:buChar char="•"/>
            </a:pPr>
            <a:r>
              <a:rPr lang="en-US" dirty="0">
                <a:latin typeface="Tenorite" panose="00000500000000000000" pitchFamily="2" charset="0"/>
              </a:rPr>
              <a:t>Scale </a:t>
            </a:r>
            <a:r>
              <a:rPr lang="en-US" dirty="0" err="1">
                <a:latin typeface="Tenorite" panose="00000500000000000000" pitchFamily="2" charset="0"/>
              </a:rPr>
              <a:t>ClinicalBERT</a:t>
            </a:r>
            <a:r>
              <a:rPr lang="en-US" dirty="0">
                <a:latin typeface="Tenorite" panose="00000500000000000000" pitchFamily="2" charset="0"/>
              </a:rPr>
              <a:t> embedding to full dataset for stronger representation.</a:t>
            </a:r>
          </a:p>
          <a:p>
            <a:pPr>
              <a:buFont typeface="Arial" panose="020B0604020202020204" pitchFamily="34" charset="0"/>
              <a:buChar char="•"/>
            </a:pPr>
            <a:r>
              <a:rPr lang="en-US" dirty="0">
                <a:latin typeface="Tenorite" panose="00000500000000000000" pitchFamily="2" charset="0"/>
              </a:rPr>
              <a:t>Explore additional NLP models like </a:t>
            </a:r>
            <a:r>
              <a:rPr lang="en-US" dirty="0" err="1">
                <a:latin typeface="Tenorite" panose="00000500000000000000" pitchFamily="2" charset="0"/>
              </a:rPr>
              <a:t>BioBERT</a:t>
            </a:r>
            <a:r>
              <a:rPr lang="en-US" dirty="0">
                <a:latin typeface="Tenorite" panose="00000500000000000000" pitchFamily="2" charset="0"/>
              </a:rPr>
              <a:t> or </a:t>
            </a:r>
            <a:r>
              <a:rPr lang="en-US" dirty="0" err="1">
                <a:latin typeface="Tenorite" panose="00000500000000000000" pitchFamily="2" charset="0"/>
              </a:rPr>
              <a:t>Longformer</a:t>
            </a:r>
            <a:r>
              <a:rPr lang="en-US" dirty="0">
                <a:latin typeface="Tenorite" panose="00000500000000000000" pitchFamily="2" charset="0"/>
              </a:rPr>
              <a:t> for longer notes.</a:t>
            </a:r>
          </a:p>
          <a:p>
            <a:pPr>
              <a:buFont typeface="Arial" panose="020B0604020202020204" pitchFamily="34" charset="0"/>
              <a:buChar char="•"/>
            </a:pPr>
            <a:r>
              <a:rPr lang="en-US" dirty="0">
                <a:latin typeface="Tenorite" panose="00000500000000000000" pitchFamily="2" charset="0"/>
              </a:rPr>
              <a:t>Incorporate time-series vitals and medications to enrich structured features.</a:t>
            </a:r>
          </a:p>
          <a:p>
            <a:pPr>
              <a:buFont typeface="Arial" panose="020B0604020202020204" pitchFamily="34" charset="0"/>
              <a:buChar char="•"/>
            </a:pPr>
            <a:r>
              <a:rPr lang="en-US" dirty="0">
                <a:latin typeface="Tenorite" panose="00000500000000000000" pitchFamily="2" charset="0"/>
              </a:rPr>
              <a:t>Test models on real-time or external hospital data to assess generalizability.</a:t>
            </a:r>
          </a:p>
          <a:p>
            <a:pPr>
              <a:buFont typeface="Arial" panose="020B0604020202020204" pitchFamily="34" charset="0"/>
              <a:buChar char="•"/>
            </a:pPr>
            <a:r>
              <a:rPr lang="en-US" dirty="0">
                <a:latin typeface="Tenorite" panose="00000500000000000000" pitchFamily="2" charset="0"/>
              </a:rPr>
              <a:t>Apply SHAP or LIME for explainability and model transparency in clinical settings.</a:t>
            </a:r>
          </a:p>
          <a:p>
            <a:endParaRPr lang="en-US" dirty="0"/>
          </a:p>
        </p:txBody>
      </p:sp>
    </p:spTree>
    <p:extLst>
      <p:ext uri="{BB962C8B-B14F-4D97-AF65-F5344CB8AC3E}">
        <p14:creationId xmlns:p14="http://schemas.microsoft.com/office/powerpoint/2010/main" val="1575826102"/>
      </p:ext>
    </p:extLst>
  </p:cSld>
  <p:clrMapOvr>
    <a:masterClrMapping/>
  </p:clrMapOvr>
  <mc:AlternateContent xmlns:mc="http://schemas.openxmlformats.org/markup-compatibility/2006" xmlns:p14="http://schemas.microsoft.com/office/powerpoint/2010/main">
    <mc:Choice Requires="p14">
      <p:transition spd="slow" p14:dur="2000" advTm="26107"/>
    </mc:Choice>
    <mc:Fallback xmlns="">
      <p:transition spd="slow" advTm="2610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9DF2260D-F2C7-A497-CA08-4533E0F083CE}"/>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E538FFE-73C7-526D-A35E-9EFEA0EE3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68A027-5C90-9BF4-E56D-6E04D978ADA4}"/>
              </a:ext>
            </a:extLst>
          </p:cNvPr>
          <p:cNvSpPr>
            <a:spLocks noGrp="1"/>
          </p:cNvSpPr>
          <p:nvPr>
            <p:ph type="title"/>
          </p:nvPr>
        </p:nvSpPr>
        <p:spPr>
          <a:xfrm>
            <a:off x="1100249" y="137127"/>
            <a:ext cx="4443154" cy="1087819"/>
          </a:xfrm>
        </p:spPr>
        <p:txBody>
          <a:bodyPr vert="horz" lIns="91440" tIns="45720" rIns="91440" bIns="45720" rtlCol="0" anchor="b">
            <a:normAutofit/>
          </a:bodyPr>
          <a:lstStyle/>
          <a:p>
            <a:r>
              <a:rPr lang="en-US" sz="4000" b="1" kern="1200" dirty="0">
                <a:solidFill>
                  <a:schemeClr val="tx1"/>
                </a:solidFill>
                <a:latin typeface="Tenorite Display" panose="00000500000000000000" pitchFamily="2" charset="0"/>
              </a:rPr>
              <a:t>References</a:t>
            </a:r>
          </a:p>
        </p:txBody>
      </p:sp>
      <p:sp>
        <p:nvSpPr>
          <p:cNvPr id="25" name="Rectangle 24">
            <a:extLst>
              <a:ext uri="{FF2B5EF4-FFF2-40B4-BE49-F238E27FC236}">
                <a16:creationId xmlns:a16="http://schemas.microsoft.com/office/drawing/2014/main" id="{A8CB6F7B-68BF-8541-65C0-0E14DD090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D932F4CA-76AD-00A7-BE02-67C143807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E5637F37-EE94-F9A5-3E9B-EF57DA0FE837}"/>
              </a:ext>
            </a:extLst>
          </p:cNvPr>
          <p:cNvSpPr>
            <a:spLocks noGrp="1"/>
          </p:cNvSpPr>
          <p:nvPr>
            <p:ph idx="1"/>
          </p:nvPr>
        </p:nvSpPr>
        <p:spPr>
          <a:xfrm>
            <a:off x="411479" y="1575071"/>
            <a:ext cx="10515600" cy="4406692"/>
          </a:xfrm>
        </p:spPr>
        <p:txBody>
          <a:bodyPr>
            <a:normAutofit fontScale="40000" lnSpcReduction="20000"/>
          </a:bodyPr>
          <a:lstStyle/>
          <a:p>
            <a:pPr marL="514350" indent="-514350">
              <a:buFont typeface="+mj-lt"/>
              <a:buAutoNum type="arabicPeriod"/>
            </a:pPr>
            <a:r>
              <a:rPr lang="en-US" sz="3000" dirty="0" err="1">
                <a:latin typeface="Tenorite" panose="00000500000000000000" pitchFamily="2" charset="0"/>
              </a:rPr>
              <a:t>Alsentzer</a:t>
            </a:r>
            <a:r>
              <a:rPr lang="en-US" sz="3000" dirty="0">
                <a:latin typeface="Tenorite" panose="00000500000000000000" pitchFamily="2" charset="0"/>
              </a:rPr>
              <a:t>, E., Murphy, J. R., Boag, W., Weng, W.-H., Jin, D., Naumann, T., &amp; McDermott, M. B. A. (2019). Publicly available clinical BERT embeddings [Preprint]. </a:t>
            </a:r>
            <a:r>
              <a:rPr lang="en-US" sz="3000" dirty="0" err="1">
                <a:latin typeface="Tenorite" panose="00000500000000000000" pitchFamily="2" charset="0"/>
              </a:rPr>
              <a:t>arXiv</a:t>
            </a:r>
            <a:r>
              <a:rPr lang="en-US" sz="3000" dirty="0">
                <a:latin typeface="Tenorite" panose="00000500000000000000" pitchFamily="2" charset="0"/>
              </a:rPr>
              <a:t>. </a:t>
            </a:r>
            <a:r>
              <a:rPr lang="en-US" sz="3000" dirty="0">
                <a:latin typeface="Tenorite" panose="00000500000000000000" pitchFamily="2" charset="0"/>
                <a:hlinkClick r:id="rId3"/>
              </a:rPr>
              <a:t>https://arxiv.org/abs/1904.03323</a:t>
            </a:r>
            <a:endParaRPr lang="en-US" sz="3000" dirty="0">
              <a:latin typeface="Tenorite" panose="00000500000000000000" pitchFamily="2" charset="0"/>
            </a:endParaRPr>
          </a:p>
          <a:p>
            <a:pPr marL="514350" indent="-514350">
              <a:buFont typeface="+mj-lt"/>
              <a:buAutoNum type="arabicPeriod"/>
            </a:pPr>
            <a:r>
              <a:rPr lang="en-US" sz="3000" dirty="0">
                <a:latin typeface="Tenorite" panose="00000500000000000000" pitchFamily="2" charset="0"/>
              </a:rPr>
              <a:t>Chiu, C.-C., Wu, C.-M., Chien, T.-N., Kao, L.-J., &amp; Li, C. (2024). Predicting ICU readmission from electronic health records via </a:t>
            </a:r>
            <a:r>
              <a:rPr lang="en-US" sz="3000" dirty="0" err="1">
                <a:latin typeface="Tenorite" panose="00000500000000000000" pitchFamily="2" charset="0"/>
              </a:rPr>
              <a:t>BERTopic</a:t>
            </a:r>
            <a:r>
              <a:rPr lang="en-US" sz="3000" dirty="0">
                <a:latin typeface="Tenorite" panose="00000500000000000000" pitchFamily="2" charset="0"/>
              </a:rPr>
              <a:t> with long short-term memory network approach. Journal of Clinical Medicine, 13(5503). https://doi.org/10.3390/jcm13185503</a:t>
            </a:r>
          </a:p>
          <a:p>
            <a:pPr marL="514350" indent="-514350">
              <a:buFont typeface="+mj-lt"/>
              <a:buAutoNum type="arabicPeriod"/>
            </a:pPr>
            <a:r>
              <a:rPr lang="en-US" sz="3000" dirty="0">
                <a:latin typeface="Tenorite" panose="00000500000000000000" pitchFamily="2" charset="0"/>
              </a:rPr>
              <a:t>González-Nóvoa, J. A., Campanioni, S., Busto, L., Fariña, J., Rodríguez-Andina, J. J., Vila, D., Íñiguez, A., &amp; Veiga, C. (2023). Improving intensive care unit early readmission prediction using optimized and explainable machine learning. International Journal of Environmental Research and Public Health, 20(3455). </a:t>
            </a:r>
            <a:r>
              <a:rPr lang="en-US" sz="3000" dirty="0">
                <a:latin typeface="Tenorite" panose="00000500000000000000" pitchFamily="2" charset="0"/>
                <a:hlinkClick r:id="rId4"/>
              </a:rPr>
              <a:t>https://doi.org/10.3390/ijerph20043455</a:t>
            </a:r>
            <a:endParaRPr lang="en-US" sz="3000" dirty="0">
              <a:latin typeface="Tenorite" panose="00000500000000000000" pitchFamily="2" charset="0"/>
            </a:endParaRPr>
          </a:p>
          <a:p>
            <a:pPr marL="514350" indent="-514350">
              <a:buFont typeface="+mj-lt"/>
              <a:buAutoNum type="arabicPeriod"/>
            </a:pPr>
            <a:r>
              <a:rPr lang="en-US" sz="3000" dirty="0">
                <a:latin typeface="Tenorite" panose="00000500000000000000" pitchFamily="2" charset="0"/>
              </a:rPr>
              <a:t>Johnson, A. E. W., Pollard, T. J., Shen, L., Li-</a:t>
            </a:r>
            <a:r>
              <a:rPr lang="en-US" sz="3000" dirty="0" err="1">
                <a:latin typeface="Tenorite" panose="00000500000000000000" pitchFamily="2" charset="0"/>
              </a:rPr>
              <a:t>wei</a:t>
            </a:r>
            <a:r>
              <a:rPr lang="en-US" sz="3000" dirty="0">
                <a:latin typeface="Tenorite" panose="00000500000000000000" pitchFamily="2" charset="0"/>
              </a:rPr>
              <a:t> Lehman, L., Feng, M., Ghassemi, M., Moody, B., </a:t>
            </a:r>
            <a:r>
              <a:rPr lang="en-US" sz="3000" dirty="0" err="1">
                <a:latin typeface="Tenorite" panose="00000500000000000000" pitchFamily="2" charset="0"/>
              </a:rPr>
              <a:t>Szolovits</a:t>
            </a:r>
            <a:r>
              <a:rPr lang="en-US" sz="3000" dirty="0">
                <a:latin typeface="Tenorite" panose="00000500000000000000" pitchFamily="2" charset="0"/>
              </a:rPr>
              <a:t>, P., Celi, L. A., &amp; Mark, R. G. (2023).</a:t>
            </a:r>
            <a:br>
              <a:rPr lang="en-US" sz="3000" dirty="0">
                <a:latin typeface="Tenorite" panose="00000500000000000000" pitchFamily="2" charset="0"/>
              </a:rPr>
            </a:br>
            <a:r>
              <a:rPr lang="en-US" sz="3000" dirty="0">
                <a:latin typeface="Tenorite" panose="00000500000000000000" pitchFamily="2" charset="0"/>
              </a:rPr>
              <a:t>MIMIC-IV (version 2.2). PhysioNet. </a:t>
            </a:r>
            <a:r>
              <a:rPr lang="en-US" sz="3000" dirty="0">
                <a:latin typeface="Tenorite" panose="00000500000000000000" pitchFamily="2" charset="0"/>
                <a:hlinkClick r:id="rId5"/>
              </a:rPr>
              <a:t>https://physionet.org/content/mimiciv/2.2/</a:t>
            </a:r>
            <a:br>
              <a:rPr lang="en-US" sz="3000" dirty="0">
                <a:latin typeface="Tenorite" panose="00000500000000000000" pitchFamily="2" charset="0"/>
              </a:rPr>
            </a:br>
            <a:r>
              <a:rPr lang="en-US" sz="3000" dirty="0">
                <a:latin typeface="Tenorite" panose="00000500000000000000" pitchFamily="2" charset="0"/>
              </a:rPr>
              <a:t>https://doi.org/10.13026/a3wn-hq05</a:t>
            </a:r>
          </a:p>
          <a:p>
            <a:pPr marL="514350" indent="-514350">
              <a:buFont typeface="+mj-lt"/>
              <a:buAutoNum type="arabicPeriod"/>
            </a:pPr>
            <a:r>
              <a:rPr lang="en-US" sz="3000" dirty="0">
                <a:latin typeface="Tenorite" panose="00000500000000000000" pitchFamily="2" charset="0"/>
              </a:rPr>
              <a:t>Johnson, A. E. W., Pollard, T. J., &amp; Mark, R. G. (2023).</a:t>
            </a:r>
            <a:br>
              <a:rPr lang="en-US" sz="3000" dirty="0">
                <a:latin typeface="Tenorite" panose="00000500000000000000" pitchFamily="2" charset="0"/>
              </a:rPr>
            </a:br>
            <a:r>
              <a:rPr lang="en-US" sz="3000" dirty="0">
                <a:latin typeface="Tenorite" panose="00000500000000000000" pitchFamily="2" charset="0"/>
              </a:rPr>
              <a:t>MIMIC-IV-Note (version 2.2). PhysioNet. </a:t>
            </a:r>
            <a:r>
              <a:rPr lang="en-US" sz="3000" dirty="0">
                <a:latin typeface="Tenorite" panose="00000500000000000000" pitchFamily="2" charset="0"/>
                <a:hlinkClick r:id="rId6"/>
              </a:rPr>
              <a:t>https://physionet.org/content/mimic-iv-note/2.2/</a:t>
            </a:r>
            <a:br>
              <a:rPr lang="en-US" sz="3000" dirty="0">
                <a:latin typeface="Tenorite" panose="00000500000000000000" pitchFamily="2" charset="0"/>
              </a:rPr>
            </a:br>
            <a:r>
              <a:rPr lang="en-US" sz="3000" dirty="0">
                <a:latin typeface="Tenorite" panose="00000500000000000000" pitchFamily="2" charset="0"/>
              </a:rPr>
              <a:t>https://doi.org/10.13026/9e4v-qw40</a:t>
            </a:r>
          </a:p>
          <a:p>
            <a:pPr marL="514350" indent="-514350">
              <a:buFont typeface="+mj-lt"/>
              <a:buAutoNum type="arabicPeriod"/>
            </a:pPr>
            <a:r>
              <a:rPr lang="en-US" sz="3000" dirty="0">
                <a:latin typeface="Tenorite" panose="00000500000000000000" pitchFamily="2" charset="0"/>
              </a:rPr>
              <a:t>Lu, Q., Nguyen, T. H., &amp; Dou, D. (2021). Predicting patient readmission risk from medical text via knowledge graph enhanced </a:t>
            </a:r>
            <a:r>
              <a:rPr lang="en-US" sz="3000" dirty="0" err="1">
                <a:latin typeface="Tenorite" panose="00000500000000000000" pitchFamily="2" charset="0"/>
              </a:rPr>
              <a:t>multiview</a:t>
            </a:r>
            <a:r>
              <a:rPr lang="en-US" sz="3000" dirty="0">
                <a:latin typeface="Tenorite" panose="00000500000000000000" pitchFamily="2" charset="0"/>
              </a:rPr>
              <a:t> graph convolution. </a:t>
            </a:r>
            <a:r>
              <a:rPr lang="en-US" sz="3000" i="1" dirty="0">
                <a:latin typeface="Tenorite" panose="00000500000000000000" pitchFamily="2" charset="0"/>
              </a:rPr>
              <a:t>Proceedings of the 44th International ACM SIGIR Conference on Research and Development in Information Retrieval</a:t>
            </a:r>
            <a:r>
              <a:rPr lang="en-US" sz="3000" dirty="0">
                <a:latin typeface="Tenorite" panose="00000500000000000000" pitchFamily="2" charset="0"/>
              </a:rPr>
              <a:t>, 1989–1994. </a:t>
            </a:r>
            <a:r>
              <a:rPr lang="en-US" sz="3000" dirty="0">
                <a:latin typeface="Tenorite" panose="00000500000000000000" pitchFamily="2" charset="0"/>
                <a:hlinkClick r:id="rId7"/>
              </a:rPr>
              <a:t>https://doi.org/10.1145/3404835.3463062</a:t>
            </a:r>
            <a:endParaRPr lang="en-US" sz="3000" dirty="0">
              <a:latin typeface="Tenorite" panose="00000500000000000000" pitchFamily="2" charset="0"/>
            </a:endParaRPr>
          </a:p>
          <a:p>
            <a:pPr marL="514350" indent="-514350">
              <a:buFont typeface="+mj-lt"/>
              <a:buAutoNum type="arabicPeriod"/>
            </a:pPr>
            <a:r>
              <a:rPr lang="en-US" sz="3000" dirty="0">
                <a:latin typeface="Tenorite" panose="00000500000000000000" pitchFamily="2" charset="0"/>
              </a:rPr>
              <a:t>Orangi-Fard, N., </a:t>
            </a:r>
            <a:r>
              <a:rPr lang="en-US" sz="3000" dirty="0" err="1">
                <a:latin typeface="Tenorite" panose="00000500000000000000" pitchFamily="2" charset="0"/>
              </a:rPr>
              <a:t>Akhbardeh</a:t>
            </a:r>
            <a:r>
              <a:rPr lang="en-US" sz="3000" dirty="0">
                <a:latin typeface="Tenorite" panose="00000500000000000000" pitchFamily="2" charset="0"/>
              </a:rPr>
              <a:t>, A., &amp; </a:t>
            </a:r>
            <a:r>
              <a:rPr lang="en-US" sz="3000" dirty="0" err="1">
                <a:latin typeface="Tenorite" panose="00000500000000000000" pitchFamily="2" charset="0"/>
              </a:rPr>
              <a:t>Sagreiya</a:t>
            </a:r>
            <a:r>
              <a:rPr lang="en-US" sz="3000" dirty="0">
                <a:latin typeface="Tenorite" panose="00000500000000000000" pitchFamily="2" charset="0"/>
              </a:rPr>
              <a:t>, H. (2022). Predictive model for ICU readmission based on discharge summaries using machine learning and natural language processing. Informatics, 9(1), 10. https://doi.org/10.3390/informatics9010010</a:t>
            </a:r>
          </a:p>
          <a:p>
            <a:pPr marL="514350" indent="-514350">
              <a:buFont typeface="+mj-lt"/>
              <a:buAutoNum type="arabicPeriod"/>
            </a:pPr>
            <a:r>
              <a:rPr lang="en-US" sz="3000" dirty="0">
                <a:latin typeface="Tenorite" panose="00000500000000000000" pitchFamily="2" charset="0"/>
              </a:rPr>
              <a:t>Rojas, J. C., Carey, K. A., Edelson, D. P., Venable, L. R., Howell, M. D., &amp; </a:t>
            </a:r>
            <a:r>
              <a:rPr lang="en-US" sz="3000" dirty="0" err="1">
                <a:latin typeface="Tenorite" panose="00000500000000000000" pitchFamily="2" charset="0"/>
              </a:rPr>
              <a:t>Churpek</a:t>
            </a:r>
            <a:r>
              <a:rPr lang="en-US" sz="3000" dirty="0">
                <a:latin typeface="Tenorite" panose="00000500000000000000" pitchFamily="2" charset="0"/>
              </a:rPr>
              <a:t>, M. M. (2018). Predicting intensive care unit readmission with machine learning using electronic health record data. Annals of the American Thoracic Society, 15(7), 846-853. https://doi.org/10.1513/AnnalsATS.201710-787OC</a:t>
            </a:r>
          </a:p>
          <a:p>
            <a:pPr marL="514350" indent="-514350">
              <a:buFont typeface="+mj-lt"/>
              <a:buAutoNum type="arabicPeriod"/>
            </a:pPr>
            <a:r>
              <a:rPr lang="en-US" sz="3000" dirty="0" err="1">
                <a:latin typeface="Tenorite" panose="00000500000000000000" pitchFamily="2" charset="0"/>
              </a:rPr>
              <a:t>Sheetrit</a:t>
            </a:r>
            <a:r>
              <a:rPr lang="en-US" sz="3000" dirty="0">
                <a:latin typeface="Tenorite" panose="00000500000000000000" pitchFamily="2" charset="0"/>
              </a:rPr>
              <a:t>, E., Brief, M., &amp; Elisha, O. (2023). Predicting unplanned readmissions in the intensive care unit: a multimodality valuation. Scientific reports, 13(1), 15426. https://doi.org/10.1038/s41598-023-42372-y</a:t>
            </a:r>
          </a:p>
          <a:p>
            <a:endParaRPr lang="en-US" dirty="0"/>
          </a:p>
        </p:txBody>
      </p:sp>
    </p:spTree>
    <p:extLst>
      <p:ext uri="{BB962C8B-B14F-4D97-AF65-F5344CB8AC3E}">
        <p14:creationId xmlns:p14="http://schemas.microsoft.com/office/powerpoint/2010/main" val="2546136210"/>
      </p:ext>
    </p:extLst>
  </p:cSld>
  <p:clrMapOvr>
    <a:masterClrMapping/>
  </p:clrMapOvr>
  <mc:AlternateContent xmlns:mc="http://schemas.openxmlformats.org/markup-compatibility/2006" xmlns:p14="http://schemas.microsoft.com/office/powerpoint/2010/main">
    <mc:Choice Requires="p14">
      <p:transition spd="slow" p14:dur="2000" advTm="4528"/>
    </mc:Choice>
    <mc:Fallback xmlns="">
      <p:transition spd="slow" advTm="4528"/>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894</TotalTime>
  <Words>5189</Words>
  <Application>Microsoft Office PowerPoint</Application>
  <PresentationFormat>Widescreen</PresentationFormat>
  <Paragraphs>377</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Avenir Next LT Pro</vt:lpstr>
      <vt:lpstr>Calibri</vt:lpstr>
      <vt:lpstr>Helvetica Neue Medium</vt:lpstr>
      <vt:lpstr>Tenorite</vt:lpstr>
      <vt:lpstr>Tenorite Display</vt:lpstr>
      <vt:lpstr>Office Theme</vt:lpstr>
      <vt:lpstr>Improving Patient Outcomes through Predictive Analytics: Predicting ICU Readmission Using NLP and AI Models. </vt:lpstr>
      <vt:lpstr>Goal</vt:lpstr>
      <vt:lpstr>Background</vt:lpstr>
      <vt:lpstr>Literature Review</vt:lpstr>
      <vt:lpstr>Data Sets </vt:lpstr>
      <vt:lpstr>Models Used</vt:lpstr>
      <vt:lpstr>Code: Libraries Used</vt:lpstr>
      <vt:lpstr>Code: Structured Data</vt:lpstr>
      <vt:lpstr>Code: Structured Data</vt:lpstr>
      <vt:lpstr>Structured Data: Random Forest Pre-SMOTE</vt:lpstr>
      <vt:lpstr>Code: Structured Data</vt:lpstr>
      <vt:lpstr>Results: Structured Data after SMOTE</vt:lpstr>
      <vt:lpstr>PowerPoint Presentation</vt:lpstr>
      <vt:lpstr>Code: Unstructured Data</vt:lpstr>
      <vt:lpstr>Code: Unstructured Data</vt:lpstr>
      <vt:lpstr>Code: Combining Datastes</vt:lpstr>
      <vt:lpstr>Results: Combined Before SMOTE</vt:lpstr>
      <vt:lpstr>Results:  Combined  Post SMOTE</vt:lpstr>
      <vt:lpstr>Results:  Combined</vt:lpstr>
      <vt:lpstr>Conclusion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W</dc:creator>
  <cp:lastModifiedBy>Andrea W</cp:lastModifiedBy>
  <cp:revision>13</cp:revision>
  <dcterms:created xsi:type="dcterms:W3CDTF">2025-03-02T15:51:26Z</dcterms:created>
  <dcterms:modified xsi:type="dcterms:W3CDTF">2025-04-19T00:48:17Z</dcterms:modified>
</cp:coreProperties>
</file>